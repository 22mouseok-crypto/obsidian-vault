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3"/>
    <p:sldId id="256" r:id="rId4"/>
    <p:sldId id="669" r:id="rId5"/>
    <p:sldId id="670" r:id="rId6"/>
    <p:sldId id="667" r:id="rId7"/>
    <p:sldId id="671" r:id="rId8"/>
    <p:sldId id="668" r:id="rId9"/>
    <p:sldId id="659" r:id="rId10"/>
    <p:sldId id="666" r:id="rId11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81FDAA-6E66-4D54-9F26-D05E204AAA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CCE1D-5927-4F7C-BC33-A00CD663193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195264"/>
            <a:ext cx="11379200" cy="8223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6400" y="1273175"/>
            <a:ext cx="5588000" cy="5270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73175"/>
            <a:ext cx="5588000" cy="5270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1DAF6A-74BC-4618-85D8-BF674B8A87A6}" type="slidenum">
              <a:rPr lang="en-US" altLang="zh-CN"/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1D928D-D7EA-44D2-A4A0-294CBAFBB630}" type="datetime1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1917621" y="6564337"/>
            <a:ext cx="2133600" cy="365125"/>
          </a:xfrm>
        </p:spPr>
        <p:txBody>
          <a:bodyPr/>
          <a:lstStyle/>
          <a:p>
            <a:fld id="{967E7C9E-FD6D-4159-BF91-6148B57CB275}" type="slidenum">
              <a:rPr lang="en-US" altLang="zh-CN"/>
            </a:fld>
            <a:endParaRPr lang="en-US" altLang="zh-CN"/>
          </a:p>
        </p:txBody>
      </p:sp>
      <p:sp>
        <p:nvSpPr>
          <p:cNvPr id="6" name="文本框 8"/>
          <p:cNvSpPr txBox="1"/>
          <p:nvPr/>
        </p:nvSpPr>
        <p:spPr>
          <a:xfrm>
            <a:off x="1524000" y="1818228"/>
            <a:ext cx="9144000" cy="1291590"/>
          </a:xfrm>
          <a:prstGeom prst="rect">
            <a:avLst/>
          </a:prstGeom>
          <a:noFill/>
          <a:effectLst>
            <a:outerShdw blurRad="304800" dist="215900" dir="5220000" sx="191000" sy="191000" algn="tl" rotWithShape="0">
              <a:prstClr val="black">
                <a:alpha val="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密码协议</a:t>
            </a:r>
            <a:endParaRPr lang="en-US" altLang="zh-CN" sz="4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  <a:p>
            <a:pPr algn="ctr"/>
            <a:endParaRPr lang="zh-CN" altLang="zh-CN" sz="3800" b="1" spc="100" dirty="0">
              <a:solidFill>
                <a:srgbClr val="7E0C6E"/>
              </a:solidFill>
              <a:effectLst>
                <a:outerShdw blurRad="50800" dist="38100" dir="2700000" algn="tl" rotWithShape="0">
                  <a:prstClr val="black">
                    <a:alpha val="53000"/>
                  </a:prstClr>
                </a:outerShdw>
              </a:effectLst>
              <a:latin typeface="RTWS ShangGothic G0v1 常规体" charset="-122"/>
              <a:ea typeface="RTWS ShangGothic G0v1 常规体" charset="-122"/>
              <a:cs typeface="RTWS ShangGothic G0v1 常规体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562350" y="3954715"/>
            <a:ext cx="4970401" cy="954724"/>
            <a:chOff x="3066054" y="5172789"/>
            <a:chExt cx="2939877" cy="954724"/>
          </a:xfrm>
        </p:grpSpPr>
        <p:sp>
          <p:nvSpPr>
            <p:cNvPr id="9" name="文本框 24"/>
            <p:cNvSpPr txBox="1"/>
            <p:nvPr/>
          </p:nvSpPr>
          <p:spPr>
            <a:xfrm>
              <a:off x="3066054" y="5172789"/>
              <a:ext cx="2939877" cy="460375"/>
            </a:xfrm>
            <a:prstGeom prst="rect">
              <a:avLst/>
            </a:prstGeom>
            <a:noFill/>
            <a:effectLst>
              <a:outerShdw dist="25400" sx="1000" sy="1000" algn="tl" rotWithShape="0">
                <a:prstClr val="black"/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dirty="0">
                  <a:latin typeface="RTWS ShangGothic G0v1 常规体" charset="-122"/>
                  <a:ea typeface="RTWS ShangGothic G0v1 常规体" charset="-122"/>
                  <a:cs typeface="RTWS ShangGothic G0v1 常规体" charset="-122"/>
                </a:rPr>
                <a:t>第三次作业讲解</a:t>
              </a:r>
              <a:endParaRPr kumimoji="1" lang="zh-CN" altLang="en-US" sz="2400" dirty="0">
                <a:latin typeface="RTWS ShangGothic G0v1 常规体" charset="-122"/>
                <a:ea typeface="RTWS ShangGothic G0v1 常规体" charset="-122"/>
                <a:cs typeface="RTWS ShangGothic G0v1 常规体" charset="-122"/>
              </a:endParaRPr>
            </a:p>
          </p:txBody>
        </p:sp>
        <p:sp>
          <p:nvSpPr>
            <p:cNvPr id="11" name="文本框 9"/>
            <p:cNvSpPr txBox="1"/>
            <p:nvPr/>
          </p:nvSpPr>
          <p:spPr>
            <a:xfrm>
              <a:off x="3760427" y="5667138"/>
              <a:ext cx="155113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400" dirty="0">
                  <a:latin typeface="RTWS ShangGothic G0v1 常规体" charset="-122"/>
                  <a:ea typeface="RTWS ShangGothic G0v1 常规体" charset="-122"/>
                  <a:cs typeface="RTWS ShangGothic G0v1 常规体" charset="-122"/>
                </a:rPr>
                <a:t>2026</a:t>
              </a:r>
              <a:r>
                <a:rPr kumimoji="1" lang="zh-CN" altLang="en-US" sz="2400" dirty="0">
                  <a:latin typeface="RTWS ShangGothic G0v1 常规体" charset="-122"/>
                  <a:ea typeface="RTWS ShangGothic G0v1 常规体" charset="-122"/>
                  <a:cs typeface="RTWS ShangGothic G0v1 常规体" charset="-122"/>
                </a:rPr>
                <a:t>年</a:t>
              </a:r>
              <a:r>
                <a:rPr kumimoji="1" lang="en-US" altLang="zh-CN" sz="2400" dirty="0">
                  <a:latin typeface="RTWS ShangGothic G0v1 常规体" charset="-122"/>
                  <a:ea typeface="RTWS ShangGothic G0v1 常规体" charset="-122"/>
                  <a:cs typeface="RTWS ShangGothic G0v1 常规体" charset="-122"/>
                </a:rPr>
                <a:t>6</a:t>
              </a:r>
              <a:r>
                <a:rPr kumimoji="1" lang="zh-CN" altLang="en-US" sz="2400" dirty="0">
                  <a:latin typeface="RTWS ShangGothic G0v1 常规体" charset="-122"/>
                  <a:ea typeface="RTWS ShangGothic G0v1 常规体" charset="-122"/>
                  <a:cs typeface="RTWS ShangGothic G0v1 常规体" charset="-122"/>
                </a:rPr>
                <a:t>月</a:t>
              </a:r>
              <a:r>
                <a:rPr kumimoji="1" lang="en-US" altLang="zh-CN" sz="2400" dirty="0">
                  <a:latin typeface="RTWS ShangGothic G0v1 常规体" charset="-122"/>
                  <a:ea typeface="RTWS ShangGothic G0v1 常规体" charset="-122"/>
                  <a:cs typeface="RTWS ShangGothic G0v1 常规体" charset="-122"/>
                </a:rPr>
                <a:t>7</a:t>
              </a:r>
              <a:r>
                <a:rPr kumimoji="1" lang="zh-CN" altLang="en-US" sz="2400" dirty="0">
                  <a:latin typeface="RTWS ShangGothic G0v1 常规体" charset="-122"/>
                  <a:ea typeface="RTWS ShangGothic G0v1 常规体" charset="-122"/>
                  <a:cs typeface="RTWS ShangGothic G0v1 常规体" charset="-122"/>
                </a:rPr>
                <a:t>日</a:t>
              </a:r>
              <a:endParaRPr kumimoji="1" lang="zh-CN" altLang="en-US" sz="2400" dirty="0">
                <a:latin typeface="RTWS ShangGothic G0v1 常规体" charset="-122"/>
                <a:ea typeface="RTWS ShangGothic G0v1 常规体" charset="-122"/>
                <a:cs typeface="RTWS ShangGothic G0v1 常规体" charset="-122"/>
              </a:endParaRPr>
            </a:p>
          </p:txBody>
        </p:sp>
      </p:grpSp>
      <p:pic>
        <p:nvPicPr>
          <p:cNvPr id="12" name="图片 12" descr="Seal_of_Nankai_University.sv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453577" y="0"/>
            <a:ext cx="1214423" cy="1214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5565" y="165735"/>
            <a:ext cx="6960870" cy="66408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479180" y="1759406"/>
                <a:ext cx="4365381" cy="2889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marL="342900" indent="-342900">
                  <a:buFont typeface="+mj-lt"/>
                  <a:buAutoNum type="arabicPeriod"/>
                </a:pPr>
                <a:r>
                  <a:rPr lang="zh-CN" altLang="en-US" i="0" dirty="0">
                    <a:solidFill>
                      <a:srgbClr val="0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确保生成元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𝑔</m:t>
                    </m:r>
                  </m:oMath>
                </a14:m>
                <a:r>
                  <a:rPr lang="zh-CN" altLang="en-US" i="0" dirty="0">
                    <a:solidFill>
                      <a:srgbClr val="0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位于素数阶为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𝑞</m:t>
                    </m:r>
                  </m:oMath>
                </a14:m>
                <a:r>
                  <a:rPr lang="zh-CN" altLang="en-US" i="0" dirty="0">
                    <a:solidFill>
                      <a:srgbClr val="0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的子群中，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𝑔</m:t>
                        </m:r>
                      </m:e>
                      <m:sup>
                        <m:r>
                          <a:rPr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𝑞</m:t>
                        </m:r>
                      </m:sup>
                    </m:sSup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e>
                      <m:sup>
                        <m:r>
                          <a:rPr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  <m: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𝑞</m:t>
                        </m:r>
                      </m:sup>
                    </m:sSup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𝑚𝑜𝑑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。前提是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𝑔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不等于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或者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检查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𝑋</m:t>
                    </m:r>
                    <m:r>
                      <m:rPr>
                        <m:nor/>
                      </m:rPr>
                      <a:rPr lang="zh-CN" altLang="en-US"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{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2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,…,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p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−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2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},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  </m:t>
                    </m:r>
                    <m:r>
                      <a:rPr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𝑌</m:t>
                    </m:r>
                    <m:r>
                      <m:rPr>
                        <m:nor/>
                      </m:rPr>
                      <a:rPr lang="zh-CN" altLang="en-US"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{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2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,…,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p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−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2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}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；因为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是安全素数，只有一个阶为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的小子群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{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 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}</m:t>
                    </m:r>
                    <m:r>
                      <a:rPr lang="zh-CN" altLang="en-US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，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检查成本很低。</a:t>
                </a:r>
                <a:endPara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不能调换顺序，否则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𝐻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𝐻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))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可以根据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𝐻</m:t>
                    </m:r>
                    <m:r>
                      <a:rPr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  <m:r>
                      <a:rPr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i="0" dirty="0">
                    <a:solidFill>
                      <a:srgbClr val="0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哈希得到，无法确保参与方了解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</m:oMath>
                </a14:m>
                <a:r>
                  <a:rPr lang="zh-CN" altLang="en-US" i="0" dirty="0">
                    <a:solidFill>
                      <a:srgbClr val="0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zh-CN" altLang="en-US" i="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80" y="1759406"/>
                <a:ext cx="4365381" cy="2889885"/>
              </a:xfrm>
              <a:prstGeom prst="rect">
                <a:avLst/>
              </a:prstGeom>
              <a:blipFill rotWithShape="1">
                <a:blip r:embed="rId1"/>
                <a:stretch>
                  <a:fillRect l="-9" t="-16" r="-2426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53029" y="568563"/>
            <a:ext cx="6457970" cy="5720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2745740" y="5998210"/>
            <a:ext cx="640461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0">
              <a:buFont typeface="+mj-lt"/>
              <a:buNone/>
            </a:pPr>
            <a:r>
              <a:rPr lang="zh-CN" altLang="en-US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不完美的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攻击：敌手只能通过认证，但不能获得会话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密钥</a:t>
            </a:r>
            <a:endParaRPr lang="zh-CN" altLang="en-US" i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67640"/>
            <a:ext cx="7764780" cy="58305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5565" y="165735"/>
            <a:ext cx="6960870" cy="66408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7655" y="340360"/>
            <a:ext cx="10845800" cy="922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服务器把认证证明 M1提前发送给客户端，而此时客户端尚未证明自己知道口令。</a:t>
            </a:r>
            <a:endParaRPr lang="zh-CN" altLang="en-US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因此攻击者可以把服务器当成一个“口令验证预言机（password oracle）”，从而进行离线字典攻击。</a:t>
            </a:r>
            <a:endParaRPr lang="zh-CN" altLang="en-US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1945" y="1591310"/>
            <a:ext cx="62407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5565" y="165735"/>
            <a:ext cx="6960870" cy="66408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5865168" y="3309938"/>
            <a:ext cx="461665" cy="92398"/>
          </a:xfrm>
          <a:prstGeom prst="rect">
            <a:avLst/>
          </a:prstGeom>
          <a:noFill/>
          <a:ln w="9525" algn="ctr">
            <a:noFill/>
            <a:prstDash val="dash"/>
            <a:miter lim="800000"/>
          </a:ln>
        </p:spPr>
        <p:txBody>
          <a:bodyPr vert="eaVert"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412875" y="255270"/>
            <a:ext cx="8778240" cy="5930900"/>
            <a:chOff x="1570" y="583"/>
            <a:chExt cx="13824" cy="934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70" y="583"/>
              <a:ext cx="13824" cy="934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47" y="6045"/>
              <a:ext cx="276" cy="444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76" y="6689"/>
              <a:ext cx="276" cy="444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86" y="7273"/>
              <a:ext cx="276" cy="44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76" y="8232"/>
              <a:ext cx="276" cy="44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36" y="8232"/>
              <a:ext cx="276" cy="444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71" y="8232"/>
              <a:ext cx="276" cy="444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65" y="8232"/>
              <a:ext cx="276" cy="444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23" y="8232"/>
              <a:ext cx="276" cy="444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39" y="7756"/>
              <a:ext cx="302" cy="426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5865168" y="3309938"/>
            <a:ext cx="461665" cy="92398"/>
          </a:xfrm>
          <a:prstGeom prst="rect">
            <a:avLst/>
          </a:prstGeom>
          <a:noFill/>
          <a:ln w="9525" algn="ctr">
            <a:noFill/>
            <a:prstDash val="dash"/>
            <a:miter lim="800000"/>
          </a:ln>
        </p:spPr>
        <p:txBody>
          <a:bodyPr vert="eaVert"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965" y="3745230"/>
            <a:ext cx="3981450" cy="261429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15" y="3932555"/>
            <a:ext cx="3639185" cy="22809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920" y="548005"/>
            <a:ext cx="9153525" cy="2762250"/>
          </a:xfrm>
          <a:prstGeom prst="rect">
            <a:avLst/>
          </a:prstGeom>
        </p:spPr>
      </p:pic>
      <p:sp>
        <p:nvSpPr>
          <p:cNvPr id="14" name="右箭头 13"/>
          <p:cNvSpPr/>
          <p:nvPr/>
        </p:nvSpPr>
        <p:spPr>
          <a:xfrm>
            <a:off x="4478020" y="5048250"/>
            <a:ext cx="2637790" cy="27368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599305" y="4328795"/>
            <a:ext cx="22675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改进：将直接拒绝改为依然返回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随机数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ZTIxZjE4NWUxYTgwYjkwOTU3MDRkZDUzZjFmYTk3MW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</Words>
  <Application>WPS 演示</Application>
  <PresentationFormat>宽屏</PresentationFormat>
  <Paragraphs>23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宋体</vt:lpstr>
      <vt:lpstr>Wingdings</vt:lpstr>
      <vt:lpstr>黑体</vt:lpstr>
      <vt:lpstr>RTWS ShangGothic G0v1 常规体</vt:lpstr>
      <vt:lpstr>微软雅黑</vt:lpstr>
      <vt:lpstr>Cambria Math</vt:lpstr>
      <vt:lpstr>等线</vt:lpstr>
      <vt:lpstr>Arial Unicode MS</vt:lpstr>
      <vt:lpstr>等线 Light</vt:lpstr>
      <vt:lpstr>Calibri</vt:lpstr>
      <vt:lpstr>RTWS ShangGothic G0v1 常规体</vt:lpstr>
      <vt:lpstr>Segoe Print</vt:lpstr>
      <vt:lpstr>字心坊小令体常规体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密码协议</dc:title>
  <dc:creator>xu Jan</dc:creator>
  <cp:lastModifiedBy>Jan</cp:lastModifiedBy>
  <cp:revision>75</cp:revision>
  <dcterms:created xsi:type="dcterms:W3CDTF">2024-03-20T15:54:00Z</dcterms:created>
  <dcterms:modified xsi:type="dcterms:W3CDTF">2026-06-07T10:24:18Z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D6863DD7DBCF48A6976CC9765F0AE462_12</vt:lpwstr>
  </property>
  <property fmtid="{D5CDD505-2E9C-101B-9397-08002B2CF9AE}" pid="3" name="KSOProductBuildVer">
    <vt:lpwstr>2052-12.1.0.26895</vt:lpwstr>
  </property>
</Properties>
</file>