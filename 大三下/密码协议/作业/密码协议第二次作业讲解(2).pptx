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3"/>
    <p:sldId id="256" r:id="rId4"/>
    <p:sldId id="514" r:id="rId5"/>
    <p:sldId id="547" r:id="rId6"/>
    <p:sldId id="553" r:id="rId7"/>
    <p:sldId id="550" r:id="rId8"/>
    <p:sldId id="515" r:id="rId9"/>
    <p:sldId id="552" r:id="rId10"/>
    <p:sldId id="551" r:id="rId11"/>
    <p:sldId id="546" r:id="rId12"/>
    <p:sldId id="549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1FDAA-6E66-4D54-9F26-D05E204AAA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CCE1D-5927-4F7C-BC33-A00CD663193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5D05C-3EF1-4862-B480-678B77142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E725A-AEBD-429C-9492-96C4AE12FD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techbeacon.com/security/waiting-quantum-computing-why-encryption-has-nothing-worry-about" TargetMode="Externa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917621" y="6564337"/>
            <a:ext cx="2133600" cy="365125"/>
          </a:xfrm>
        </p:spPr>
        <p:txBody>
          <a:bodyPr/>
          <a:lstStyle/>
          <a:p>
            <a:fld id="{967E7C9E-FD6D-4159-BF91-6148B57CB275}" type="slidenum">
              <a:rPr lang="en-US" altLang="zh-CN"/>
            </a:fld>
            <a:endParaRPr lang="en-US" altLang="zh-CN"/>
          </a:p>
        </p:txBody>
      </p:sp>
      <p:sp>
        <p:nvSpPr>
          <p:cNvPr id="6" name="文本框 8"/>
          <p:cNvSpPr txBox="1"/>
          <p:nvPr/>
        </p:nvSpPr>
        <p:spPr>
          <a:xfrm>
            <a:off x="1524000" y="1818228"/>
            <a:ext cx="9144000" cy="1291590"/>
          </a:xfrm>
          <a:prstGeom prst="rect">
            <a:avLst/>
          </a:prstGeom>
          <a:noFill/>
          <a:effectLst>
            <a:outerShdw blurRad="304800" dist="215900" dir="5220000" sx="191000" sy="191000" algn="tl" rotWithShape="0">
              <a:prstClr val="black">
                <a:alpha val="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密码协议</a:t>
            </a:r>
            <a:endParaRPr lang="en-US" altLang="zh-CN" sz="4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algn="ctr"/>
            <a:endParaRPr lang="zh-CN" altLang="zh-CN" sz="3800" b="1" spc="100" dirty="0">
              <a:solidFill>
                <a:srgbClr val="7E0C6E"/>
              </a:solidFill>
              <a:effectLst>
                <a:outerShdw blurRad="50800" dist="38100" dir="2700000" algn="tl" rotWithShape="0">
                  <a:prstClr val="black">
                    <a:alpha val="53000"/>
                  </a:prstClr>
                </a:outerShdw>
              </a:effectLst>
              <a:latin typeface="RTWS ShangGothic G0v1 常规体" charset="-122"/>
              <a:ea typeface="RTWS ShangGothic G0v1 常规体" charset="-122"/>
              <a:cs typeface="RTWS ShangGothic G0v1 常规体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562350" y="3954715"/>
            <a:ext cx="4970401" cy="954724"/>
            <a:chOff x="3066054" y="5172789"/>
            <a:chExt cx="2939877" cy="954724"/>
          </a:xfrm>
        </p:grpSpPr>
        <p:sp>
          <p:nvSpPr>
            <p:cNvPr id="9" name="文本框 24"/>
            <p:cNvSpPr txBox="1"/>
            <p:nvPr/>
          </p:nvSpPr>
          <p:spPr>
            <a:xfrm>
              <a:off x="3066054" y="5172789"/>
              <a:ext cx="2939877" cy="460375"/>
            </a:xfrm>
            <a:prstGeom prst="rect">
              <a:avLst/>
            </a:prstGeom>
            <a:noFill/>
            <a:effectLst>
              <a:outerShdw dist="25400" sx="1000" sy="1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第二次作业讲解</a:t>
              </a:r>
              <a:endParaRPr kumimoji="1" lang="zh-CN" altLang="en-US" sz="2400" dirty="0">
                <a:latin typeface="RTWS ShangGothic G0v1 常规体" charset="-122"/>
                <a:ea typeface="RTWS ShangGothic G0v1 常规体" charset="-122"/>
                <a:cs typeface="RTWS ShangGothic G0v1 常规体" charset="-122"/>
              </a:endParaRPr>
            </a:p>
          </p:txBody>
        </p:sp>
        <p:sp>
          <p:nvSpPr>
            <p:cNvPr id="11" name="文本框 9"/>
            <p:cNvSpPr txBox="1"/>
            <p:nvPr/>
          </p:nvSpPr>
          <p:spPr>
            <a:xfrm>
              <a:off x="3760427" y="5667138"/>
              <a:ext cx="155113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2026</a:t>
              </a:r>
              <a:r>
                <a:rPr kumimoji="1" lang="zh-CN" altLang="en-US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年</a:t>
              </a:r>
              <a:r>
                <a:rPr kumimoji="1" lang="en-US" altLang="zh-CN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5</a:t>
              </a:r>
              <a:r>
                <a:rPr kumimoji="1" lang="zh-CN" altLang="en-US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月</a:t>
              </a:r>
              <a:r>
                <a:rPr kumimoji="1" lang="en-US" altLang="zh-CN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7</a:t>
              </a:r>
              <a:r>
                <a:rPr kumimoji="1" lang="zh-CN" altLang="en-US" sz="2400" dirty="0">
                  <a:latin typeface="RTWS ShangGothic G0v1 常规体" charset="-122"/>
                  <a:ea typeface="RTWS ShangGothic G0v1 常规体" charset="-122"/>
                  <a:cs typeface="RTWS ShangGothic G0v1 常规体" charset="-122"/>
                </a:rPr>
                <a:t>日</a:t>
              </a:r>
              <a:endParaRPr kumimoji="1" lang="zh-CN" altLang="en-US" sz="2400" dirty="0">
                <a:latin typeface="RTWS ShangGothic G0v1 常规体" charset="-122"/>
                <a:ea typeface="RTWS ShangGothic G0v1 常规体" charset="-122"/>
                <a:cs typeface="RTWS ShangGothic G0v1 常规体" charset="-122"/>
              </a:endParaRPr>
            </a:p>
          </p:txBody>
        </p:sp>
      </p:grpSp>
      <p:pic>
        <p:nvPicPr>
          <p:cNvPr id="12" name="图片 12" descr="Seal_of_Nankai_University.sv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453577" y="0"/>
            <a:ext cx="1214423" cy="121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950" y="57150"/>
            <a:ext cx="6896100" cy="6743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636C9E-AD15-4FC1-BDD3-C91D46920184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88887" y="1010983"/>
            <a:ext cx="100496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优点：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可以提供机密性和认证性，只有知道消息明文才能够签名；更加常用的一种做法。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缺点：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无法保证消息公开验证性，只有拥有接收方私钥的人才能验证消息真实性和完整性；增加加密的工作量，影响效率。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717953" y="2858128"/>
            <a:ext cx="790575" cy="12255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M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3481666" y="3505828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Oval 8"/>
          <p:cNvSpPr>
            <a:spLocks noChangeArrowheads="1"/>
          </p:cNvSpPr>
          <p:nvPr/>
        </p:nvSpPr>
        <p:spPr bwMode="auto">
          <a:xfrm>
            <a:off x="3049866" y="3289928"/>
            <a:ext cx="433387" cy="431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D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H="1" flipV="1">
            <a:off x="5894666" y="3721728"/>
            <a:ext cx="1587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642253" y="4226553"/>
            <a:ext cx="7207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a</a:t>
            </a:r>
            <a:endParaRPr kumimoji="1" lang="en-US" altLang="zh-CN" sz="2400" b="1" baseline="-25000">
              <a:latin typeface="Times New Roman" panose="02020603050405020304" pitchFamily="18" charset="0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6182003" y="357885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6902728" y="2929566"/>
            <a:ext cx="790575" cy="122555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6434416" y="4153528"/>
            <a:ext cx="20161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E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Ka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(D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k’b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(M))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7693303" y="3578853"/>
            <a:ext cx="973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Oval 15"/>
          <p:cNvSpPr>
            <a:spLocks noChangeArrowheads="1"/>
          </p:cNvSpPr>
          <p:nvPr/>
        </p:nvSpPr>
        <p:spPr bwMode="auto">
          <a:xfrm>
            <a:off x="8521978" y="5090153"/>
            <a:ext cx="433388" cy="431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D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 flipH="1" flipV="1">
            <a:off x="8737878" y="5594978"/>
            <a:ext cx="1588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8521978" y="6171241"/>
            <a:ext cx="7921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K’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a</a:t>
            </a:r>
            <a:endParaRPr kumimoji="1" lang="en-US" altLang="zh-CN" sz="2400" b="1" baseline="-25000">
              <a:latin typeface="Times New Roman" panose="02020603050405020304" pitchFamily="18" charset="0"/>
            </a:endParaRPr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2510116" y="3505828"/>
            <a:ext cx="539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Oval 20"/>
          <p:cNvSpPr>
            <a:spLocks noChangeArrowheads="1"/>
          </p:cNvSpPr>
          <p:nvPr/>
        </p:nvSpPr>
        <p:spPr bwMode="auto">
          <a:xfrm>
            <a:off x="5677178" y="3288341"/>
            <a:ext cx="433388" cy="431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E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 flipH="1" flipV="1">
            <a:off x="3265766" y="3721728"/>
            <a:ext cx="1587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2976841" y="4226553"/>
            <a:ext cx="7207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K’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b</a:t>
            </a:r>
            <a:endParaRPr kumimoji="1" lang="en-US" altLang="zh-CN" sz="2400" b="1" baseline="-25000">
              <a:latin typeface="Times New Roman" panose="02020603050405020304" pitchFamily="18" charset="0"/>
            </a:endParaRPr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4273828" y="2858128"/>
            <a:ext cx="790575" cy="12255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5065991" y="3505828"/>
            <a:ext cx="64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84903" y="4153528"/>
            <a:ext cx="1512888" cy="455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k’b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(M)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>
            <a:off x="8631516" y="3578853"/>
            <a:ext cx="36512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ectangle 27"/>
          <p:cNvSpPr>
            <a:spLocks noChangeArrowheads="1"/>
          </p:cNvSpPr>
          <p:nvPr/>
        </p:nvSpPr>
        <p:spPr bwMode="auto">
          <a:xfrm>
            <a:off x="7009091" y="4802816"/>
            <a:ext cx="790575" cy="12255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6866216" y="6098216"/>
            <a:ext cx="1512887" cy="455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k’b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(M)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 flipH="1">
            <a:off x="7801253" y="5306053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Oval 30"/>
          <p:cNvSpPr>
            <a:spLocks noChangeArrowheads="1"/>
          </p:cNvSpPr>
          <p:nvPr/>
        </p:nvSpPr>
        <p:spPr bwMode="auto">
          <a:xfrm>
            <a:off x="5713691" y="5018716"/>
            <a:ext cx="433387" cy="431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E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 flipH="1" flipV="1">
            <a:off x="5929591" y="5450516"/>
            <a:ext cx="1587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5713691" y="5953753"/>
            <a:ext cx="7207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b</a:t>
            </a:r>
            <a:endParaRPr kumimoji="1" lang="en-US" altLang="zh-CN" sz="2400" b="1" baseline="-25000">
              <a:latin typeface="Times New Roman" panose="02020603050405020304" pitchFamily="18" charset="0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H="1">
            <a:off x="6145491" y="5306053"/>
            <a:ext cx="865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4129366" y="4802816"/>
            <a:ext cx="790575" cy="12255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M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7" name="Line 35"/>
          <p:cNvSpPr>
            <a:spLocks noChangeShapeType="1"/>
          </p:cNvSpPr>
          <p:nvPr/>
        </p:nvSpPr>
        <p:spPr bwMode="auto">
          <a:xfrm flipH="1">
            <a:off x="4921528" y="5306053"/>
            <a:ext cx="7921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8" name="Group 36"/>
          <p:cNvGrpSpPr/>
          <p:nvPr/>
        </p:nvGrpSpPr>
        <p:grpSpPr bwMode="auto">
          <a:xfrm>
            <a:off x="1646516" y="4082091"/>
            <a:ext cx="1296987" cy="1393825"/>
            <a:chOff x="158" y="1389"/>
            <a:chExt cx="817" cy="878"/>
          </a:xfrm>
        </p:grpSpPr>
        <p:pic>
          <p:nvPicPr>
            <p:cNvPr id="39" name="Picture 37" descr="J0292020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158" y="1389"/>
              <a:ext cx="748" cy="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158" y="1979"/>
              <a:ext cx="81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Bob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" name="Group 39"/>
          <p:cNvGrpSpPr/>
          <p:nvPr/>
        </p:nvGrpSpPr>
        <p:grpSpPr bwMode="auto">
          <a:xfrm>
            <a:off x="8736291" y="4267177"/>
            <a:ext cx="1223962" cy="1304925"/>
            <a:chOff x="5012" y="1434"/>
            <a:chExt cx="748" cy="839"/>
          </a:xfrm>
        </p:grpSpPr>
        <p:pic>
          <p:nvPicPr>
            <p:cNvPr id="42" name="Picture 40" descr="J019538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012" y="1434"/>
              <a:ext cx="577" cy="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" name="Text Box 41"/>
            <p:cNvSpPr txBox="1">
              <a:spLocks noChangeArrowheads="1"/>
            </p:cNvSpPr>
            <p:nvPr/>
          </p:nvSpPr>
          <p:spPr bwMode="auto">
            <a:xfrm>
              <a:off x="5170" y="1979"/>
              <a:ext cx="590" cy="2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Alice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444108" y="246373"/>
            <a:ext cx="3380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先签名后加密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/>
      <p:bldP spid="28" grpId="0" animBg="1"/>
      <p:bldP spid="29" grpId="0" animBg="1"/>
      <p:bldP spid="30" grpId="0"/>
      <p:bldP spid="31" grpId="0" animBg="1"/>
      <p:bldP spid="32" grpId="0" animBg="1"/>
      <p:bldP spid="33" grpId="0" animBg="1"/>
      <p:bldP spid="34" grpId="0"/>
      <p:bldP spid="35" grpId="0" animBg="1"/>
      <p:bldP spid="36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636C9E-AD15-4FC1-BDD3-C91D46920184}" type="slidenum">
              <a:rPr lang="en-US" altLang="zh-CN"/>
            </a:fld>
            <a:endParaRPr lang="en-US" altLang="zh-CN"/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1720029" y="2928692"/>
            <a:ext cx="790575" cy="12255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M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3520254" y="3576392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Oval 8"/>
          <p:cNvSpPr>
            <a:spLocks noChangeArrowheads="1"/>
          </p:cNvSpPr>
          <p:nvPr/>
        </p:nvSpPr>
        <p:spPr bwMode="auto">
          <a:xfrm>
            <a:off x="3088454" y="3360492"/>
            <a:ext cx="433387" cy="431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E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47" name="Line 9"/>
          <p:cNvSpPr>
            <a:spLocks noChangeShapeType="1"/>
          </p:cNvSpPr>
          <p:nvPr/>
        </p:nvSpPr>
        <p:spPr bwMode="auto">
          <a:xfrm flipH="1" flipV="1">
            <a:off x="5933254" y="3792292"/>
            <a:ext cx="1587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Box 10"/>
          <p:cNvSpPr txBox="1">
            <a:spLocks noChangeArrowheads="1"/>
          </p:cNvSpPr>
          <p:nvPr/>
        </p:nvSpPr>
        <p:spPr bwMode="auto">
          <a:xfrm>
            <a:off x="5752279" y="4297117"/>
            <a:ext cx="720725" cy="823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K’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b</a:t>
            </a:r>
            <a:endParaRPr kumimoji="1" lang="en-US" altLang="zh-CN" sz="2400" b="1" baseline="-250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kumimoji="1" lang="zh-CN" altLang="en-US" sz="2400" b="1" baseline="-25000">
              <a:latin typeface="Times New Roman" panose="02020603050405020304" pitchFamily="18" charset="0"/>
            </a:endParaRPr>
          </a:p>
        </p:txBody>
      </p:sp>
      <p:sp>
        <p:nvSpPr>
          <p:cNvPr id="49" name="Line 11"/>
          <p:cNvSpPr>
            <a:spLocks noChangeShapeType="1"/>
          </p:cNvSpPr>
          <p:nvPr/>
        </p:nvSpPr>
        <p:spPr bwMode="auto">
          <a:xfrm>
            <a:off x="6220591" y="3649417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Rectangle 12"/>
          <p:cNvSpPr>
            <a:spLocks noChangeArrowheads="1"/>
          </p:cNvSpPr>
          <p:nvPr/>
        </p:nvSpPr>
        <p:spPr bwMode="auto">
          <a:xfrm>
            <a:off x="6941316" y="3000130"/>
            <a:ext cx="790575" cy="12255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6473004" y="4152655"/>
            <a:ext cx="20161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E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K’b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(E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ka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(M))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2" name="Line 14"/>
          <p:cNvSpPr>
            <a:spLocks noChangeShapeType="1"/>
          </p:cNvSpPr>
          <p:nvPr/>
        </p:nvSpPr>
        <p:spPr bwMode="auto">
          <a:xfrm>
            <a:off x="7731891" y="3649417"/>
            <a:ext cx="973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Oval 15"/>
          <p:cNvSpPr>
            <a:spLocks noChangeArrowheads="1"/>
          </p:cNvSpPr>
          <p:nvPr/>
        </p:nvSpPr>
        <p:spPr bwMode="auto">
          <a:xfrm>
            <a:off x="8560566" y="5160717"/>
            <a:ext cx="433388" cy="431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E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4" name="Line 16"/>
          <p:cNvSpPr>
            <a:spLocks noChangeShapeType="1"/>
          </p:cNvSpPr>
          <p:nvPr/>
        </p:nvSpPr>
        <p:spPr bwMode="auto">
          <a:xfrm flipH="1" flipV="1">
            <a:off x="8776466" y="5665542"/>
            <a:ext cx="1588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Box 17"/>
          <p:cNvSpPr txBox="1">
            <a:spLocks noChangeArrowheads="1"/>
          </p:cNvSpPr>
          <p:nvPr/>
        </p:nvSpPr>
        <p:spPr bwMode="auto">
          <a:xfrm>
            <a:off x="8560566" y="6168780"/>
            <a:ext cx="7921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err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b</a:t>
            </a:r>
            <a:endParaRPr kumimoji="1" lang="en-US" altLang="zh-CN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56" name="Line 19"/>
          <p:cNvSpPr>
            <a:spLocks noChangeShapeType="1"/>
          </p:cNvSpPr>
          <p:nvPr/>
        </p:nvSpPr>
        <p:spPr bwMode="auto">
          <a:xfrm>
            <a:off x="2512191" y="3576392"/>
            <a:ext cx="5762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Oval 20"/>
          <p:cNvSpPr>
            <a:spLocks noChangeArrowheads="1"/>
          </p:cNvSpPr>
          <p:nvPr/>
        </p:nvSpPr>
        <p:spPr bwMode="auto">
          <a:xfrm>
            <a:off x="5715766" y="3358905"/>
            <a:ext cx="433388" cy="431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D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8" name="Line 21"/>
          <p:cNvSpPr>
            <a:spLocks noChangeShapeType="1"/>
          </p:cNvSpPr>
          <p:nvPr/>
        </p:nvSpPr>
        <p:spPr bwMode="auto">
          <a:xfrm flipH="1" flipV="1">
            <a:off x="3304354" y="3792292"/>
            <a:ext cx="1587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Box 22"/>
          <p:cNvSpPr txBox="1">
            <a:spLocks noChangeArrowheads="1"/>
          </p:cNvSpPr>
          <p:nvPr/>
        </p:nvSpPr>
        <p:spPr bwMode="auto">
          <a:xfrm>
            <a:off x="3088454" y="4297117"/>
            <a:ext cx="7207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a</a:t>
            </a:r>
            <a:endParaRPr kumimoji="1" lang="en-US" altLang="zh-CN" sz="2400" b="1" baseline="-25000">
              <a:latin typeface="Times New Roman" panose="02020603050405020304" pitchFamily="18" charset="0"/>
            </a:endParaRPr>
          </a:p>
        </p:txBody>
      </p:sp>
      <p:sp>
        <p:nvSpPr>
          <p:cNvPr id="60" name="Rectangle 23"/>
          <p:cNvSpPr>
            <a:spLocks noChangeArrowheads="1"/>
          </p:cNvSpPr>
          <p:nvPr/>
        </p:nvSpPr>
        <p:spPr bwMode="auto">
          <a:xfrm>
            <a:off x="4312416" y="2928692"/>
            <a:ext cx="790575" cy="12255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61" name="Line 24"/>
          <p:cNvSpPr>
            <a:spLocks noChangeShapeType="1"/>
          </p:cNvSpPr>
          <p:nvPr/>
        </p:nvSpPr>
        <p:spPr bwMode="auto">
          <a:xfrm>
            <a:off x="5104579" y="3576392"/>
            <a:ext cx="64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Box 25"/>
          <p:cNvSpPr txBox="1">
            <a:spLocks noChangeArrowheads="1"/>
          </p:cNvSpPr>
          <p:nvPr/>
        </p:nvSpPr>
        <p:spPr bwMode="auto">
          <a:xfrm>
            <a:off x="4167954" y="4224092"/>
            <a:ext cx="1512887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E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(M)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63" name="Line 26"/>
          <p:cNvSpPr>
            <a:spLocks noChangeShapeType="1"/>
          </p:cNvSpPr>
          <p:nvPr/>
        </p:nvSpPr>
        <p:spPr bwMode="auto">
          <a:xfrm>
            <a:off x="8705029" y="3649417"/>
            <a:ext cx="36512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 27"/>
          <p:cNvSpPr>
            <a:spLocks noChangeArrowheads="1"/>
          </p:cNvSpPr>
          <p:nvPr/>
        </p:nvSpPr>
        <p:spPr bwMode="auto">
          <a:xfrm>
            <a:off x="7047679" y="4873380"/>
            <a:ext cx="790575" cy="12255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65" name="Text Box 28"/>
          <p:cNvSpPr txBox="1">
            <a:spLocks noChangeArrowheads="1"/>
          </p:cNvSpPr>
          <p:nvPr/>
        </p:nvSpPr>
        <p:spPr bwMode="auto">
          <a:xfrm>
            <a:off x="6760341" y="6097342"/>
            <a:ext cx="151288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E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ka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(M)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66" name="Line 29"/>
          <p:cNvSpPr>
            <a:spLocks noChangeShapeType="1"/>
          </p:cNvSpPr>
          <p:nvPr/>
        </p:nvSpPr>
        <p:spPr bwMode="auto">
          <a:xfrm flipH="1">
            <a:off x="7839841" y="5376617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Oval 30"/>
          <p:cNvSpPr>
            <a:spLocks noChangeArrowheads="1"/>
          </p:cNvSpPr>
          <p:nvPr/>
        </p:nvSpPr>
        <p:spPr bwMode="auto">
          <a:xfrm>
            <a:off x="5752279" y="5089280"/>
            <a:ext cx="433387" cy="431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D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68" name="Line 31"/>
          <p:cNvSpPr>
            <a:spLocks noChangeShapeType="1"/>
          </p:cNvSpPr>
          <p:nvPr/>
        </p:nvSpPr>
        <p:spPr bwMode="auto">
          <a:xfrm flipH="1" flipV="1">
            <a:off x="5968179" y="5521080"/>
            <a:ext cx="1587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Box 32"/>
          <p:cNvSpPr txBox="1">
            <a:spLocks noChangeArrowheads="1"/>
          </p:cNvSpPr>
          <p:nvPr/>
        </p:nvSpPr>
        <p:spPr bwMode="auto">
          <a:xfrm>
            <a:off x="5680841" y="6024317"/>
            <a:ext cx="7207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K’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a</a:t>
            </a:r>
            <a:endParaRPr kumimoji="1" lang="en-US" altLang="zh-CN" sz="2400" b="1" baseline="-25000">
              <a:latin typeface="Times New Roman" panose="02020603050405020304" pitchFamily="18" charset="0"/>
            </a:endParaRPr>
          </a:p>
        </p:txBody>
      </p:sp>
      <p:sp>
        <p:nvSpPr>
          <p:cNvPr id="70" name="Line 33"/>
          <p:cNvSpPr>
            <a:spLocks noChangeShapeType="1"/>
          </p:cNvSpPr>
          <p:nvPr/>
        </p:nvSpPr>
        <p:spPr bwMode="auto">
          <a:xfrm flipH="1">
            <a:off x="6184079" y="5376617"/>
            <a:ext cx="865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Rectangle 34"/>
          <p:cNvSpPr>
            <a:spLocks noChangeArrowheads="1"/>
          </p:cNvSpPr>
          <p:nvPr/>
        </p:nvSpPr>
        <p:spPr bwMode="auto">
          <a:xfrm>
            <a:off x="4167954" y="4873380"/>
            <a:ext cx="790575" cy="12255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latin typeface="Times New Roman" panose="02020603050405020304" pitchFamily="18" charset="0"/>
              </a:rPr>
              <a:t>M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72" name="Line 35"/>
          <p:cNvSpPr>
            <a:spLocks noChangeShapeType="1"/>
          </p:cNvSpPr>
          <p:nvPr/>
        </p:nvSpPr>
        <p:spPr bwMode="auto">
          <a:xfrm flipH="1">
            <a:off x="4888679" y="5376617"/>
            <a:ext cx="863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3" name="Group 36"/>
          <p:cNvGrpSpPr/>
          <p:nvPr/>
        </p:nvGrpSpPr>
        <p:grpSpPr bwMode="auto">
          <a:xfrm>
            <a:off x="1647004" y="4152655"/>
            <a:ext cx="1296987" cy="1393825"/>
            <a:chOff x="158" y="1389"/>
            <a:chExt cx="817" cy="878"/>
          </a:xfrm>
        </p:grpSpPr>
        <p:pic>
          <p:nvPicPr>
            <p:cNvPr id="74" name="Picture 37" descr="J0292020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158" y="1389"/>
              <a:ext cx="748" cy="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" name="Text Box 38"/>
            <p:cNvSpPr txBox="1">
              <a:spLocks noChangeArrowheads="1"/>
            </p:cNvSpPr>
            <p:nvPr/>
          </p:nvSpPr>
          <p:spPr bwMode="auto">
            <a:xfrm>
              <a:off x="158" y="1979"/>
              <a:ext cx="81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Bob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6" name="Group 39"/>
          <p:cNvGrpSpPr/>
          <p:nvPr/>
        </p:nvGrpSpPr>
        <p:grpSpPr bwMode="auto">
          <a:xfrm>
            <a:off x="8832029" y="4249398"/>
            <a:ext cx="1187450" cy="1322388"/>
            <a:chOff x="5012" y="1434"/>
            <a:chExt cx="748" cy="833"/>
          </a:xfrm>
        </p:grpSpPr>
        <p:pic>
          <p:nvPicPr>
            <p:cNvPr id="77" name="Picture 40" descr="J019538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012" y="1434"/>
              <a:ext cx="577" cy="5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8" name="Text Box 41"/>
            <p:cNvSpPr txBox="1">
              <a:spLocks noChangeArrowheads="1"/>
            </p:cNvSpPr>
            <p:nvPr/>
          </p:nvSpPr>
          <p:spPr bwMode="auto">
            <a:xfrm>
              <a:off x="5170" y="1979"/>
              <a:ext cx="590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Alice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79" name="文本框 78"/>
          <p:cNvSpPr txBox="1"/>
          <p:nvPr/>
        </p:nvSpPr>
        <p:spPr>
          <a:xfrm>
            <a:off x="688887" y="1010983"/>
            <a:ext cx="10049607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优点：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保证消息公开验证性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；只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加密明文，效率更高。</a:t>
            </a:r>
            <a:endParaRPr lang="en-US" altLang="zh-CN" sz="18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缺点：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提供机密性，不提供认证性；第三方攻击者可以篡改签名，接收方无法确认签名是否来自消息创建者。（攻击成功前提是接收方仅使用中间人的公钥验证签名，先加密后签名并非一定不安全，例如可以在消息明文中指示发送方的身份） 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44108" y="246373"/>
            <a:ext cx="3380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先加密后签名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3720" y="347345"/>
            <a:ext cx="8543925" cy="6162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950" y="57150"/>
            <a:ext cx="6896100" cy="6743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636C9E-AD15-4FC1-BDD3-C91D46920184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77976" y="573114"/>
                <a:ext cx="11298209" cy="1800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对称密码算法：</a:t>
                </a:r>
                <a:r>
                  <a:rPr lang="en-US" altLang="zh-CN" dirty="0"/>
                  <a:t> Grover</a:t>
                </a:r>
                <a:r>
                  <a:rPr lang="zh-CN" altLang="en-US" dirty="0"/>
                  <a:t>量子搜索算法会降低高级加密标准</a:t>
                </a:r>
                <a:r>
                  <a:rPr lang="en-US" altLang="zh-CN" dirty="0"/>
                  <a:t>(AES)</a:t>
                </a:r>
                <a:r>
                  <a:rPr lang="zh-CN" altLang="en-US" dirty="0"/>
                  <a:t>等对称加密系统的安全性，</a:t>
                </a:r>
                <a:r>
                  <a:rPr lang="zh-CN" altLang="en-US" b="0" i="0" dirty="0">
                    <a:solidFill>
                      <a:srgbClr val="191B1F"/>
                    </a:solidFill>
                    <a:effectLst/>
                    <a:latin typeface="-apple-system"/>
                  </a:rPr>
                  <a:t>时间复杂度为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191B1F"/>
                        </a:solidFill>
                        <a:effectLst/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b="0" i="0" smtClean="0">
                        <a:solidFill>
                          <a:srgbClr val="191B1F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zh-CN" altLang="en-US" b="0" i="1" smtClean="0">
                            <a:solidFill>
                              <a:srgbClr val="191B1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191B1F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rad>
                    <m:r>
                      <a:rPr lang="en-US" altLang="zh-CN" b="0" i="1" smtClean="0">
                        <a:solidFill>
                          <a:srgbClr val="191B1F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dirty="0"/>
                  <a:t>50%</a:t>
                </a:r>
                <a:r>
                  <a:rPr lang="zh-CN" altLang="en-US" dirty="0"/>
                  <a:t>削弱对称密码算法的强度。</a:t>
                </a:r>
                <a:endParaRPr lang="en-US" altLang="zh-CN" dirty="0"/>
              </a:p>
              <a:p>
                <a:r>
                  <a:rPr lang="zh-CN" altLang="en-US" b="1" dirty="0"/>
                  <a:t>非对称密码算法：</a:t>
                </a:r>
                <a:r>
                  <a:rPr lang="zh-CN" altLang="en-US" dirty="0"/>
                  <a:t>安全性建立在离散对数、整数分解等传统困难问题上，</a:t>
                </a:r>
                <a:r>
                  <a:rPr lang="en-US" altLang="zh-CN" dirty="0"/>
                  <a:t> Shor</a:t>
                </a:r>
                <a:r>
                  <a:rPr lang="zh-CN" altLang="en-US" dirty="0"/>
                  <a:t>算法可以在多项式时间内解决</a:t>
                </a:r>
                <a:r>
                  <a:rPr lang="zh-CN" altLang="en-US" b="0" i="0" dirty="0">
                    <a:solidFill>
                      <a:srgbClr val="191B1F"/>
                    </a:solidFill>
                    <a:effectLst/>
                    <a:latin typeface="-apple-system"/>
                  </a:rPr>
                  <a:t>任意合数的质因数分解，</a:t>
                </a:r>
                <a:r>
                  <a:rPr lang="zh-CN" altLang="en-US" dirty="0"/>
                  <a:t>破解</a:t>
                </a:r>
                <a:r>
                  <a:rPr lang="en-US" altLang="zh-CN" dirty="0"/>
                  <a:t>RSA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Diffie-Hellman</a:t>
                </a:r>
                <a:r>
                  <a:rPr lang="zh-CN" altLang="en-US" dirty="0"/>
                  <a:t>等公钥密码系统。量子计算机会颠覆非对称密码算法的安全性。</a:t>
                </a:r>
                <a:endParaRPr lang="en-US" altLang="zh-CN" b="1" dirty="0"/>
              </a:p>
              <a:p>
                <a:r>
                  <a:rPr lang="zh-CN" altLang="en-US" b="1" dirty="0"/>
                  <a:t>口令：</a:t>
                </a:r>
                <a:r>
                  <a:rPr lang="zh-CN" altLang="en-US" dirty="0"/>
                  <a:t>量子计算机对密码算法有影响，对密钥无影响；口令是低熵密钥，攻击口令依然需要猜测攻击。</a:t>
                </a:r>
                <a:endParaRPr lang="zh-CN" altLang="en-US" dirty="0"/>
              </a:p>
              <a:p>
                <a:r>
                  <a:rPr lang="zh-CN" altLang="en-US" b="1" dirty="0"/>
                  <a:t>口令密码协议：</a:t>
                </a:r>
                <a:r>
                  <a:rPr lang="zh-CN" altLang="en-US" dirty="0">
                    <a:sym typeface="+mn-ea"/>
                  </a:rPr>
                  <a:t>基于</a:t>
                </a:r>
                <a:r>
                  <a:rPr lang="zh-CN" altLang="en-US" dirty="0"/>
                  <a:t>非对称密码算法的协议不再安全？</a:t>
                </a:r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76" y="573114"/>
                <a:ext cx="11298209" cy="1800225"/>
              </a:xfrm>
              <a:prstGeom prst="rect">
                <a:avLst/>
              </a:prstGeom>
              <a:blipFill rotWithShape="1">
                <a:blip r:embed="rId1"/>
                <a:stretch>
                  <a:fillRect l="-1" t="-19" r="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5439" y="2958955"/>
            <a:ext cx="8501122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1666844" y="5673599"/>
            <a:ext cx="885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--https://techbeacon.com/security/waiting-quantum-computing-why-encryption-has-nothing-worry-about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7545" y="414655"/>
            <a:ext cx="4738370" cy="27609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" y="278765"/>
            <a:ext cx="6740525" cy="59620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" y="4134485"/>
            <a:ext cx="7257415" cy="2386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43825" y="4464685"/>
            <a:ext cx="4061460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/>
            <a:r>
              <a:rPr lang="zh-CN" altLang="en-US" sz="1800" b="0" i="0" dirty="0"/>
              <a:t>在NIST P-256椭圆曲线上解一个离散对数，中等规模的量子计算机可能需要几分钟到一天。因此，在一个“</a:t>
            </a:r>
            <a:r>
              <a:rPr lang="en-US" altLang="zh-CN" sz="1800" b="0" i="0" dirty="0"/>
              <a:t>anqutum annoying</a:t>
            </a:r>
            <a:r>
              <a:rPr lang="zh-CN" altLang="en-US" sz="1800" b="0" i="0" dirty="0"/>
              <a:t>”的协议中，暴力破解口令对于大多数攻击者是不可行的。</a:t>
            </a:r>
            <a:endParaRPr lang="zh-CN" altLang="en-US" sz="1800" b="0" i="0" dirty="0"/>
          </a:p>
        </p:txBody>
      </p:sp>
      <p:sp>
        <p:nvSpPr>
          <p:cNvPr id="6" name="左箭头 5"/>
          <p:cNvSpPr/>
          <p:nvPr/>
        </p:nvSpPr>
        <p:spPr>
          <a:xfrm>
            <a:off x="6931025" y="5019675"/>
            <a:ext cx="659130" cy="366395"/>
          </a:xfrm>
          <a:prstGeom prst="lef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950" y="57150"/>
            <a:ext cx="6896100" cy="6743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636C9E-AD15-4FC1-BDD3-C91D46920184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47253" y="650631"/>
                <a:ext cx="10049607" cy="1040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两次运行</a:t>
                </a:r>
                <a:r>
                  <a:rPr lang="en-US" altLang="zh-CN" dirty="0" err="1"/>
                  <a:t>Schnorr</a:t>
                </a:r>
                <a:r>
                  <a:rPr lang="zh-CN" altLang="en-US" dirty="0"/>
                  <a:t>协议重用相同的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 smtClean="0">
                    <a:latin typeface="Cambria Math" panose="02040503050406030204" pitchFamily="18" charset="0"/>
                  </a:rPr>
                  <a:t>，</a:t>
                </a:r>
                <a:r>
                  <a:rPr lang="zh-CN" altLang="en-US" b="1" dirty="0" smtClean="0">
                    <a:latin typeface="Cambria Math" panose="02040503050406030204" pitchFamily="18" charset="0"/>
                  </a:rPr>
                  <a:t>证明者一旦出现</a:t>
                </a:r>
                <a:r>
                  <a:rPr lang="en-US" altLang="zh-CN" b="1" dirty="0" smtClean="0">
                    <a:latin typeface="Cambria Math" panose="02040503050406030204" pitchFamily="18" charset="0"/>
                  </a:rPr>
                  <a:t>“</a:t>
                </a:r>
                <a:r>
                  <a:rPr lang="zh-CN" altLang="en-US" b="1" dirty="0" smtClean="0">
                    <a:latin typeface="Cambria Math" panose="02040503050406030204" pitchFamily="18" charset="0"/>
                  </a:rPr>
                  <a:t>技术失误</a:t>
                </a:r>
                <a:r>
                  <a:rPr lang="en-US" altLang="zh-CN" b="1" dirty="0" smtClean="0">
                    <a:latin typeface="Cambria Math" panose="02040503050406030204" pitchFamily="18" charset="0"/>
                  </a:rPr>
                  <a:t>”</a:t>
                </a:r>
                <a:r>
                  <a:rPr lang="zh-CN" altLang="en-US" b="1" dirty="0" smtClean="0">
                    <a:latin typeface="Cambria Math" panose="02040503050406030204" pitchFamily="18" charset="0"/>
                  </a:rPr>
                  <a:t>（多次使用相同承诺）会泄露</a:t>
                </a:r>
                <a:r>
                  <a:rPr lang="en-US" altLang="zh-CN" b="1" dirty="0" smtClean="0">
                    <a:latin typeface="Cambria Math" panose="02040503050406030204" pitchFamily="18" charset="0"/>
                  </a:rPr>
                  <a:t>sk</a:t>
                </a:r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𝑠𝑘</m:t>
                      </m:r>
                    </m:oMath>
                  </m:oMathPara>
                </a14:m>
                <a:endParaRPr lang="en-US" altLang="zh-CN" b="0" i="1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𝑠𝑘</m:t>
                    </m:r>
                  </m:oMath>
                </a14:m>
                <a:r>
                  <a:rPr lang="zh-CN" altLang="en-US" dirty="0"/>
                  <a:t>，可以重建出密钥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sk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53" y="650631"/>
                <a:ext cx="10049607" cy="1040765"/>
              </a:xfrm>
              <a:prstGeom prst="rect">
                <a:avLst/>
              </a:prstGeom>
              <a:blipFill rotWithShape="1">
                <a:blip r:embed="rId1"/>
                <a:stretch>
                  <a:fillRect l="-5" t="-38" r="6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8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5897" y="1756046"/>
            <a:ext cx="8333855" cy="4600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636C9E-AD15-4FC1-BDD3-C91D46920184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47253" y="650631"/>
                <a:ext cx="10049607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Fiat-Shamir</a:t>
                </a:r>
                <a:r>
                  <a:rPr lang="zh-CN" altLang="en-US" b="1" dirty="0"/>
                  <a:t>变换原理：</a:t>
                </a:r>
                <a:r>
                  <a:rPr lang="zh-CN" altLang="en-US" dirty="0"/>
                  <a:t>通过随机数挑战是交互式零知识证明的信任根基。</a:t>
                </a:r>
                <a:r>
                  <a:rPr lang="zh-CN" altLang="en-US" sz="1800" dirty="0"/>
                  <a:t>在非交互式</a:t>
                </a:r>
                <a:r>
                  <a:rPr lang="en-US" altLang="zh-CN" sz="1800" dirty="0" err="1"/>
                  <a:t>Schnorr</a:t>
                </a:r>
                <a:r>
                  <a:rPr lang="zh-CN" altLang="en-US" sz="1800" dirty="0"/>
                  <a:t>认证方案中，</a:t>
                </a:r>
                <a:r>
                  <a:rPr lang="en-US" altLang="zh-CN" sz="1800" dirty="0"/>
                  <a:t>Hash</a:t>
                </a:r>
                <a:r>
                  <a:rPr lang="zh-CN" altLang="en-US" sz="1800" dirty="0"/>
                  <a:t>函数担负起了挑战者的角色，被建模</a:t>
                </a:r>
                <a:r>
                  <a:rPr lang="zh-CN" altLang="en-US" sz="1800" dirty="0"/>
                  <a:t>成随机预言机</a:t>
                </a:r>
                <a:r>
                  <a:rPr lang="en-US" altLang="zh-CN" sz="1800" dirty="0"/>
                  <a:t>(ROM)</a:t>
                </a:r>
                <a:r>
                  <a:rPr lang="zh-CN" altLang="en-US" sz="1800" dirty="0"/>
                  <a:t>。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Hash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，只要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是随机的，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也是随机的（</a:t>
                </a:r>
                <a:r>
                  <a:rPr lang="en-US" altLang="zh-CN" dirty="0"/>
                  <a:t>ROM</a:t>
                </a:r>
                <a:r>
                  <a:rPr lang="zh-CN" altLang="en-US" dirty="0"/>
                  <a:t>面对一个新的查询，会返回一个随机输出）。</a:t>
                </a:r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53" y="650631"/>
                <a:ext cx="10049607" cy="922020"/>
              </a:xfrm>
              <a:prstGeom prst="rect">
                <a:avLst/>
              </a:prstGeom>
              <a:blipFill rotWithShape="1">
                <a:blip r:embed="rId1"/>
                <a:stretch>
                  <a:fillRect l="-5" t="-42" r="6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783" y="1923033"/>
            <a:ext cx="8525609" cy="443331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IxZjE4NWUxYTgwYjkwOTU3MDRkZDUzZjFmYTk3M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</Words>
  <Application>WPS 演示</Application>
  <PresentationFormat>宽屏</PresentationFormat>
  <Paragraphs>107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黑体</vt:lpstr>
      <vt:lpstr>RTWS ShangGothic G0v1 常规体</vt:lpstr>
      <vt:lpstr>Times New Roman</vt:lpstr>
      <vt:lpstr>-apple-system</vt:lpstr>
      <vt:lpstr>Segoe Print</vt:lpstr>
      <vt:lpstr>Cambria Math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密码协议</dc:title>
  <dc:creator>xu Jan</dc:creator>
  <cp:lastModifiedBy>Jan</cp:lastModifiedBy>
  <cp:revision>68</cp:revision>
  <dcterms:created xsi:type="dcterms:W3CDTF">2024-03-20T15:54:00Z</dcterms:created>
  <dcterms:modified xsi:type="dcterms:W3CDTF">2026-05-06T23:01:05Z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22BFFBB1A65E4422B4EE621832118EDE_12</vt:lpwstr>
  </property>
  <property fmtid="{D5CDD505-2E9C-101B-9397-08002B2CF9AE}" pid="3" name="KSOProductBuildVer">
    <vt:lpwstr>2052-12.1.0.25865</vt:lpwstr>
  </property>
</Properties>
</file>