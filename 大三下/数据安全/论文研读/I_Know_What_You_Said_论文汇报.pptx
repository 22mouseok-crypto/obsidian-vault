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373fc074bd4e11" /><Relationship Type="http://schemas.openxmlformats.org/officeDocument/2006/relationships/extended-properties" Target="/docProps/app.xml" Id="R0bd15572b9b84da4" /><Relationship Type="http://schemas.openxmlformats.org/officeDocument/2006/relationships/officeDocument" Target="/ppt/presentation.xml" Id="Ra52327bfee7740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d25258d8b244a6"/>
  </p:sldMasterIdLst>
  <p:notesMasterIdLst>
    <p:notesMasterId xmlns:r="http://schemas.openxmlformats.org/officeDocument/2006/relationships" r:id="R053a35e62d734980"/>
  </p:notesMasterIdLst>
  <p:sldIdLst>
    <p:sldId xmlns:r="http://schemas.openxmlformats.org/officeDocument/2006/relationships" id="256" r:id="R6a07aec402cc48b9"/>
    <p:sldId xmlns:r="http://schemas.openxmlformats.org/officeDocument/2006/relationships" id="257" r:id="Rec1f22dc31ad482f"/>
    <p:sldId xmlns:r="http://schemas.openxmlformats.org/officeDocument/2006/relationships" id="258" r:id="Rbfe3be9ddb154af1"/>
    <p:sldId xmlns:r="http://schemas.openxmlformats.org/officeDocument/2006/relationships" id="259" r:id="R50d48920ced248cb"/>
    <p:sldId xmlns:r="http://schemas.openxmlformats.org/officeDocument/2006/relationships" id="260" r:id="R1ef943e983894a65"/>
    <p:sldId xmlns:r="http://schemas.openxmlformats.org/officeDocument/2006/relationships" id="261" r:id="R98fafeeef53d438c"/>
    <p:sldId xmlns:r="http://schemas.openxmlformats.org/officeDocument/2006/relationships" id="262" r:id="R8e01cf5d56254a58"/>
    <p:sldId xmlns:r="http://schemas.openxmlformats.org/officeDocument/2006/relationships" id="263" r:id="Rde8ad51f53954a0b"/>
    <p:sldId xmlns:r="http://schemas.openxmlformats.org/officeDocument/2006/relationships" id="264" r:id="R676ad0ba2b1d47a7"/>
    <p:sldId xmlns:r="http://schemas.openxmlformats.org/officeDocument/2006/relationships" id="265" r:id="Rd48d6a71bf3b4644"/>
    <p:sldId xmlns:r="http://schemas.openxmlformats.org/officeDocument/2006/relationships" id="266" r:id="R11500f5737f64464"/>
    <p:sldId xmlns:r="http://schemas.openxmlformats.org/officeDocument/2006/relationships" id="267" r:id="R5cb4fd5b7861420d"/>
    <p:sldId xmlns:r="http://schemas.openxmlformats.org/officeDocument/2006/relationships" id="268" r:id="R1faa1f31d2ee440d"/>
    <p:sldId xmlns:r="http://schemas.openxmlformats.org/officeDocument/2006/relationships" id="269" r:id="R20f8393dea5740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415d391d0941f9" /><Relationship Type="http://schemas.openxmlformats.org/officeDocument/2006/relationships/slideMaster" Target="/ppt/slideMasters/slideMaster1.xml" Id="Rcad25258d8b244a6" /><Relationship Type="http://schemas.openxmlformats.org/officeDocument/2006/relationships/notesMaster" Target="/ppt/notesMasters/notesMaster1.xml" Id="R053a35e62d734980" /><Relationship Type="http://schemas.openxmlformats.org/officeDocument/2006/relationships/presProps" Target="/ppt/presProps.xml" Id="Rfdd753a0c9984fb6" /><Relationship Type="http://schemas.openxmlformats.org/officeDocument/2006/relationships/tableStyles" Target="/ppt/tableStyles.xml" Id="R7ed8466d6f7c4d71" /><Relationship Type="http://schemas.openxmlformats.org/officeDocument/2006/relationships/slide" Target="/ppt/slides/slide1.xml" Id="R6a07aec402cc48b9" /><Relationship Type="http://schemas.openxmlformats.org/officeDocument/2006/relationships/slide" Target="/ppt/slides/slide2.xml" Id="Rec1f22dc31ad482f" /><Relationship Type="http://schemas.openxmlformats.org/officeDocument/2006/relationships/slide" Target="/ppt/slides/slide3.xml" Id="Rbfe3be9ddb154af1" /><Relationship Type="http://schemas.openxmlformats.org/officeDocument/2006/relationships/slide" Target="/ppt/slides/slide4.xml" Id="R50d48920ced248cb" /><Relationship Type="http://schemas.openxmlformats.org/officeDocument/2006/relationships/slide" Target="/ppt/slides/slide5.xml" Id="R1ef943e983894a65" /><Relationship Type="http://schemas.openxmlformats.org/officeDocument/2006/relationships/slide" Target="/ppt/slides/slide6.xml" Id="R98fafeeef53d438c" /><Relationship Type="http://schemas.openxmlformats.org/officeDocument/2006/relationships/slide" Target="/ppt/slides/slide7.xml" Id="R8e01cf5d56254a58" /><Relationship Type="http://schemas.openxmlformats.org/officeDocument/2006/relationships/slide" Target="/ppt/slides/slide8.xml" Id="Rde8ad51f53954a0b" /><Relationship Type="http://schemas.openxmlformats.org/officeDocument/2006/relationships/slide" Target="/ppt/slides/slide9.xml" Id="R676ad0ba2b1d47a7" /><Relationship Type="http://schemas.openxmlformats.org/officeDocument/2006/relationships/slide" Target="/ppt/slides/slide10.xml" Id="Rd48d6a71bf3b4644" /><Relationship Type="http://schemas.openxmlformats.org/officeDocument/2006/relationships/slide" Target="/ppt/slides/slide11.xml" Id="R11500f5737f64464" /><Relationship Type="http://schemas.openxmlformats.org/officeDocument/2006/relationships/slide" Target="/ppt/slides/slide12.xml" Id="R5cb4fd5b7861420d" /><Relationship Type="http://schemas.openxmlformats.org/officeDocument/2006/relationships/slide" Target="/ppt/slides/slide13.xml" Id="R1faa1f31d2ee440d" /><Relationship Type="http://schemas.openxmlformats.org/officeDocument/2006/relationships/slide" Target="/ppt/slides/slide14.xml" Id="R20f8393dea57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ab288d38734f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f4e7a683a84673" /><Relationship Type="http://schemas.openxmlformats.org/officeDocument/2006/relationships/notesMaster" Target="/ppt/notesMasters/notesMaster1.xml" Id="R57f05ea0250247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0a4fb32784de3" /><Relationship Type="http://schemas.openxmlformats.org/officeDocument/2006/relationships/notesMaster" Target="/ppt/notesMasters/notesMaster1.xml" Id="Rce8b3e3d6b79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634c8f2a5a4d14" /><Relationship Type="http://schemas.openxmlformats.org/officeDocument/2006/relationships/notesMaster" Target="/ppt/notesMasters/notesMaster1.xml" Id="R444c766f87ff49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abb1f12c2d42ca" /><Relationship Type="http://schemas.openxmlformats.org/officeDocument/2006/relationships/notesMaster" Target="/ppt/notesMasters/notesMaster1.xml" Id="R9ded74b849524d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e6d33065dc4740" /><Relationship Type="http://schemas.openxmlformats.org/officeDocument/2006/relationships/notesMaster" Target="/ppt/notesMasters/notesMaster1.xml" Id="Rc3094b8736f649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392e3eaf534151" /><Relationship Type="http://schemas.openxmlformats.org/officeDocument/2006/relationships/notesMaster" Target="/ppt/notesMasters/notesMaster1.xml" Id="R08d3c05683af4d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8170940b1948ff" /><Relationship Type="http://schemas.openxmlformats.org/officeDocument/2006/relationships/notesMaster" Target="/ppt/notesMasters/notesMaster1.xml" Id="Rcaa43220e1c94c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897bdc2cc64ce9" /><Relationship Type="http://schemas.openxmlformats.org/officeDocument/2006/relationships/notesMaster" Target="/ppt/notesMasters/notesMaster1.xml" Id="Re990fb44ea7643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3667cc5f0841e1" /><Relationship Type="http://schemas.openxmlformats.org/officeDocument/2006/relationships/notesMaster" Target="/ppt/notesMasters/notesMaster1.xml" Id="Rb8ea7615ee3647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c5db6ef21744b3" /><Relationship Type="http://schemas.openxmlformats.org/officeDocument/2006/relationships/notesMaster" Target="/ppt/notesMasters/notesMaster1.xml" Id="Rc453466ee03f4c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b47d64ae2b4420" /><Relationship Type="http://schemas.openxmlformats.org/officeDocument/2006/relationships/notesMaster" Target="/ppt/notesMasters/notesMaster1.xml" Id="R2b0280dfe99143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7ed190792d4804" /><Relationship Type="http://schemas.openxmlformats.org/officeDocument/2006/relationships/notesMaster" Target="/ppt/notesMasters/notesMaster1.xml" Id="R1ffc662cf63641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f8369ca9194c30" /><Relationship Type="http://schemas.openxmlformats.org/officeDocument/2006/relationships/notesMaster" Target="/ppt/notesMasters/notesMaster1.xml" Id="Rfcee572b51134d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07e5f66d2941b7" /><Relationship Type="http://schemas.openxmlformats.org/officeDocument/2006/relationships/notesMaster" Target="/ppt/notesMasters/notesMaster1.xml" Id="R45686476a18946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开场强调: 这篇论文挑战了“本地部署就一定隐私安全”的直觉。</a:t>
            </a:r>
          </a:p>
          <a:p xmlns:a="http://schemas.openxmlformats.org/drawingml/2006/main">
            <a:r>
              <a:t>攻击者不需要调用受害者模型，而是旁路观察共享缓存行为。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先讲本地 LLM 的动机，再引出论文的新威胁面。</a:t>
            </a:r>
          </a:p>
          <a:p xmlns:a="http://schemas.openxmlformats.org/drawingml/2006/main">
            <a:r>
              <a:t>这里不讨论网络窃听，而是硬件 cache 侧信道。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用两个泄露维度组织后续讲解。</a:t>
            </a:r>
          </a:p>
          <a:p xmlns:a="http://schemas.openxmlformats.org/drawingml/2006/main">
            <a:r>
              <a:t>Value 是“有哪些 token”，Position 是“输出 token 的顺序”。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这页要讲清楚攻击能力边界: 不是远程调用模型，也不是读取进程内存。</a:t>
            </a:r>
          </a:p>
          <a:p xmlns:a="http://schemas.openxmlformats.org/drawingml/2006/main">
            <a:r>
              <a:t>关键词: passive, co-located, shared hardware cache, without privilege。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这里把论文的两类根因视觉化: embedding 行访问和 decode 时序。</a:t>
            </a:r>
          </a:p>
          <a:p xmlns:a="http://schemas.openxmlformats.org/drawingml/2006/main">
            <a:r>
              <a:t>输入的 token 顺序会在 prefill 中被打乱，因此输入重构更难。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这一页是后续技术细节的地图。</a:t>
            </a:r>
          </a:p>
          <a:p xmlns:a="http://schemas.openxmlformats.org/drawingml/2006/main">
            <a:r>
              <a:t>KD 表示 decode token list，KP 表示 prefill 中无序的 input token list，TD 表示 timing signal。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cache trace 不是直接文本，而是带噪声的 timing 和 hit 矩阵。</a:t>
            </a:r>
          </a:p>
          <a:p xmlns:a="http://schemas.openxmlformats.org/drawingml/2006/main">
            <a:r>
              <a:t>Prefill 与 decode 的密度差异，是把输入/输出线索分开的关键。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LLMA 是论文中用于恢复输出的模型。</a:t>
            </a:r>
          </a:p>
          <a:p xmlns:a="http://schemas.openxmlformats.org/drawingml/2006/main">
            <a:r>
              <a:t>输出重构比输入重构简单，因为 decode 是串行过程。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输入重构的困难在于 prefill 并行，token 顺序缺失。</a:t>
            </a:r>
          </a:p>
          <a:p xmlns:a="http://schemas.openxmlformats.org/drawingml/2006/main">
            <a:r>
              <a:t>LLMB 融合无序 token 与恢复出的输出，重建输入语义。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强调论文不是只在玩具模型上验证。</a:t>
            </a:r>
          </a:p>
          <a:p xmlns:a="http://schemas.openxmlformats.org/drawingml/2006/main">
            <a:r>
              <a:t>评价既看字符/词级准确度，也看语义泄露。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这里的四个数字来自论文 abstract。</a:t>
            </a:r>
          </a:p>
          <a:p xmlns:a="http://schemas.openxmlformats.org/drawingml/2006/main">
            <a:r>
              <a:t>解释 edit distance 与 cosine similarity 的差别: 前者看字面，后者看语义。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Table 2 的数值讲清楚: 只看输出上下文不够，SCA 数据对输入恢复很重要。</a:t>
            </a:r>
          </a:p>
          <a:p xmlns:a="http://schemas.openxmlformats.org/drawingml/2006/main">
            <a:r>
              <a:t>参数页不要陷入细节，给出稳定性结论即可。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防御部分要强调系统层隔离和运行时实现，而不是只换模型。</a:t>
            </a:r>
          </a:p>
          <a:p xmlns:a="http://schemas.openxmlformats.org/drawingml/2006/main">
            <a:r>
              <a:t>最后补充论文的伦理披露。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收束到三个 takeaway。</a:t>
            </a:r>
          </a:p>
          <a:p xmlns:a="http://schemas.openxmlformats.org/drawingml/2006/main">
            <a:r>
              <a:t>把最后的问题抛给课堂讨论: model, runtime, OS, hardware 哪一层最有效。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6c11c472c47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92c8b84a8d4f5f" /><Relationship Type="http://schemas.openxmlformats.org/officeDocument/2006/relationships/slideLayout" Target="/ppt/slideLayouts/slideLayout1.xml" Id="R239920c9149943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9920c9149943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dedb445544813" /><Relationship Type="http://schemas.openxmlformats.org/officeDocument/2006/relationships/notesSlide" Target="/ppt/notesSlides/notesSlide1.xml" Id="R09b85d19e2ad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f4b82b3664e0e" /><Relationship Type="http://schemas.openxmlformats.org/officeDocument/2006/relationships/notesSlide" Target="/ppt/notesSlides/notesSlide2.xml" Id="R31c2a906491a4e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4488c96de4a13" /><Relationship Type="http://schemas.openxmlformats.org/officeDocument/2006/relationships/notesSlide" Target="/ppt/notesSlides/notesSlide3.xml" Id="R9d76ca7f2db640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01d8327804a2c" /><Relationship Type="http://schemas.openxmlformats.org/officeDocument/2006/relationships/notesSlide" Target="/ppt/notesSlides/notesSlide4.xml" Id="R1e580c0ea68b4d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f394791f2478e" /><Relationship Type="http://schemas.openxmlformats.org/officeDocument/2006/relationships/notesSlide" Target="/ppt/notesSlides/notesSlide5.xml" Id="R120bfbac07044f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dbc2a87cf49eb" /><Relationship Type="http://schemas.openxmlformats.org/officeDocument/2006/relationships/notesSlide" Target="/ppt/notesSlides/notesSlide6.xml" Id="Rc2e62198eb2d4a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4ae0ef17542c6" /><Relationship Type="http://schemas.openxmlformats.org/officeDocument/2006/relationships/notesSlide" Target="/ppt/notesSlides/notesSlide7.xml" Id="Racb9d172cee449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2963d17da41d7" /><Relationship Type="http://schemas.openxmlformats.org/officeDocument/2006/relationships/notesSlide" Target="/ppt/notesSlides/notesSlide8.xml" Id="Rde33a894244c4b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22b1d18ef4045" /><Relationship Type="http://schemas.openxmlformats.org/officeDocument/2006/relationships/notesSlide" Target="/ppt/notesSlides/notesSlide9.xml" Id="Rd5a7deb8db6f4f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dad09dfdc4cb1" /><Relationship Type="http://schemas.openxmlformats.org/officeDocument/2006/relationships/notesSlide" Target="/ppt/notesSlides/notesSlide10.xml" Id="Rccdd2fa56ded4e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6c1f7f4804f60" /><Relationship Type="http://schemas.openxmlformats.org/officeDocument/2006/relationships/chart" Target="/ppt/slides/charts/chart1.xml" Id="R718a405b010a44b3" /><Relationship Type="http://schemas.openxmlformats.org/officeDocument/2006/relationships/chart" Target="/ppt/slides/charts/chart2.xml" Id="Ra8b1ab5277534aea" /><Relationship Type="http://schemas.openxmlformats.org/officeDocument/2006/relationships/notesSlide" Target="/ppt/notesSlides/notesSlide11.xml" Id="Re1e4de39a71c46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6dc999407433d" /><Relationship Type="http://schemas.openxmlformats.org/officeDocument/2006/relationships/chart" Target="/ppt/slides/charts/chart3.xml" Id="Ra912bff657b34965" /><Relationship Type="http://schemas.openxmlformats.org/officeDocument/2006/relationships/notesSlide" Target="/ppt/notesSlides/notesSlide12.xml" Id="R06af2c8ec23945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ddfe5c9f24c92" /><Relationship Type="http://schemas.openxmlformats.org/officeDocument/2006/relationships/notesSlide" Target="/ppt/notesSlides/notesSlide13.xml" Id="Rf47062cd7cda4c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13c44a54145f5" /><Relationship Type="http://schemas.openxmlformats.org/officeDocument/2006/relationships/notesSlide" Target="/ppt/notesSlides/notesSlide14.xml" Id="Rba09c296504d4d6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Edit distance</c:v>
          </c:tx>
          <c:spPr>
            <a:solidFill xmlns:a="http://schemas.openxmlformats.org/drawingml/2006/main">
              <a:srgbClr val="C4453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Output</c:v>
              </c:pt>
              <c:pt idx="1">
                <c:v>Input</c:v>
              </c:pt>
            </c:strLit>
          </c:cat>
          <c:val>
            <c:numLit>
              <c:formatCode>0"%"</c:formatCode>
              <c:ptCount val="2"/>
              <c:pt idx="0">
                <c:v>5.2</c:v>
              </c:pt>
              <c:pt idx="1">
                <c:v>17.3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321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7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Cosine similarity</c:v>
          </c:tx>
          <c:spPr>
            <a:solidFill xmlns:a="http://schemas.openxmlformats.org/drawingml/2006/main">
              <a:srgbClr val="0E7C7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Input</c:v>
              </c:pt>
              <c:pt idx="1">
                <c:v>Output</c:v>
              </c:pt>
            </c:strLit>
          </c:cat>
          <c:val>
            <c:numLit>
              <c:formatCode>0"%"</c:formatCode>
              <c:ptCount val="2"/>
              <c:pt idx="0">
                <c:v>98.7</c:v>
              </c:pt>
              <c:pt idx="1">
                <c:v>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321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7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LLMB (SCA + Output)</c:v>
          </c:tx>
          <c:spPr>
            <a:solidFill xmlns:a="http://schemas.openxmlformats.org/drawingml/2006/main">
              <a:srgbClr val="0E7C7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R1</c:v>
              </c:pt>
              <c:pt idx="1">
                <c:v>LS</c:v>
              </c:pt>
              <c:pt idx="2">
                <c:v>Cos</c:v>
              </c:pt>
              <c:pt idx="3">
                <c:v>ASR</c:v>
              </c:pt>
            </c:strLit>
          </c:cat>
          <c:val>
            <c:numLit>
              <c:formatCode>0"%"</c:formatCode>
              <c:ptCount val="4"/>
              <c:pt idx="0">
                <c:v>82.8</c:v>
              </c:pt>
              <c:pt idx="1">
                <c:v>76.2</c:v>
              </c:pt>
              <c:pt idx="2">
                <c:v>96.9</c:v>
              </c:pt>
              <c:pt idx="3">
                <c:v>99.7</c:v>
              </c:pt>
            </c:numLit>
          </c:val>
        </c:ser>
        <c:ser>
          <c:idx val="1"/>
          <c:order val="1"/>
          <c:tx>
            <c:v>LLMB (Output only)</c:v>
          </c:tx>
          <c:spPr>
            <a:solidFill xmlns:a="http://schemas.openxmlformats.org/drawingml/2006/main">
              <a:srgbClr val="F2A54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R1</c:v>
              </c:pt>
              <c:pt idx="1">
                <c:v>LS</c:v>
              </c:pt>
              <c:pt idx="2">
                <c:v>Cos</c:v>
              </c:pt>
              <c:pt idx="3">
                <c:v>ASR</c:v>
              </c:pt>
            </c:strLit>
          </c:cat>
          <c:val>
            <c:numLit>
              <c:formatCode>0"%"</c:formatCode>
              <c:ptCount val="4"/>
              <c:pt idx="0">
                <c:v>54.8</c:v>
              </c:pt>
              <c:pt idx="1">
                <c:v>55.2</c:v>
              </c:pt>
              <c:pt idx="2">
                <c:v>91.5</c:v>
              </c:pt>
              <c:pt idx="3">
                <c:v>95.8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7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36D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15452-A1EC-446C-91E5-BF4D50B4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47D8B-3DE5-4E47-8508-C4C9E85A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47AC3-B601-4440-A7F5-7286EE3E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A3B5C-A32B-4B91-BDFD-CFF85A43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057BE-838E-424F-A29F-397348AB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EDE79-B3DB-4C51-B144-AD606815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BA653-C952-4F71-B164-F68293D7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9F435-A60D-4CDA-9D9D-74EB1FE1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AD09A-4294-4D32-B4AE-3355483D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8B532-414B-474D-93E5-4EFA5DB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827B7-989E-4A99-A48B-C4907840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CA74B-9D10-4795-8D61-694815B6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28D9B-E988-4A57-9B93-E0F0C4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513CD-FB30-4D99-8316-E207CF4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2F698-E2C3-44A4-AA4A-BC9A3603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6DC72-C607-4C48-A63B-E24F11CE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EA3F1-3A60-4C13-87C6-BF72047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B0879-C72D-4402-B701-24DD910C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38502-0486-4851-90D4-CF4FA583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759D5-450E-40CC-8393-9FEC3DBF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B3538-265F-4BFA-81A0-9DC9A1AD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CD462-385B-4C90-9EE8-B7EA27D7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A1E73-AF93-47E8-BCB0-FF551B3C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609C8-6503-402D-8D13-0FBBFDEE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USENIX Security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AB00F-2DF5-4494-A531-25E2B21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rPr>
              <a:t>论文汇报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AA30F-7BB8-42A1-9A4F-EE95276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 i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I Know What You Said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D4823-7BCE-43CF-B070-F43A1C80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9E1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9E1DA"/>
                </a:solidFill>
                <a:latin typeface="Microsoft YaHei"/>
                <a:ea typeface="Microsoft YaHei"/>
                <a:cs typeface="Microsoft YaHei"/>
              </a:rPr>
              <a:t>Unveiling Hardware Cache Side-Channels</a:t>
            </a:r>
          </a:p>
          <a:p xmlns:a="http://schemas.openxmlformats.org/drawingml/2006/main">
            <a:pPr algn="l">
              <a:defRPr sz="1875" b="1" i="0">
                <a:solidFill>
                  <a:srgbClr val="C9E1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9E1DA"/>
                </a:solidFill>
                <a:latin typeface="Microsoft YaHei"/>
                <a:ea typeface="Microsoft YaHei"/>
                <a:cs typeface="Microsoft YaHei"/>
              </a:rPr>
              <a:t>in Local Large Language Model Inference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6382A8-2601-4035-879A-91EC99F5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AF5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EAF5F1"/>
                </a:solidFill>
                <a:latin typeface="Microsoft YaHei"/>
                <a:ea typeface="Microsoft YaHei"/>
                <a:cs typeface="Microsoft YaHei"/>
              </a:rPr>
              <a:t>主题: 本地大模型推理中的硬件缓存侧信道泄露</a:t>
            </a:r>
          </a:p>
          <a:p xmlns:a="http://schemas.openxmlformats.org/drawingml/2006/main">
            <a:pPr algn="l">
              <a:defRPr sz="1350" b="0" i="0">
                <a:solidFill>
                  <a:srgbClr val="EAF5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EAF5F1"/>
                </a:solidFill>
                <a:latin typeface="Microsoft YaHei"/>
                <a:ea typeface="Microsoft YaHei"/>
                <a:cs typeface="Microsoft YaHei"/>
              </a:rPr>
              <a:t>作者: Zibo Gao 等</a:t>
            </a:r>
          </a:p>
          <a:p xmlns:a="http://schemas.openxmlformats.org/drawingml/2006/main">
            <a:pPr algn="l">
              <a:defRPr sz="1350" b="0" i="0">
                <a:solidFill>
                  <a:srgbClr val="EAF5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EAF5F1"/>
                </a:solidFill>
                <a:latin typeface="Microsoft YaHei"/>
                <a:ea typeface="Microsoft YaHei"/>
                <a:cs typeface="Microsoft YaHei"/>
              </a:rPr>
              <a:t>单位: 中国科学院信息工程研究所 / 中国科学院大学网络空间安全学院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5E8469-6945-4188-8B89-45A368F5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66850"/>
            <a:ext cx="1485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3A35"/>
          </a:solidFill>
          <a:ln xmlns:a="http://schemas.openxmlformats.org/drawingml/2006/main" w="15240">
            <a:solidFill>
              <a:srgbClr val="BF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77ED3-C502-492C-8BBB-25C58D77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81150"/>
            <a:ext cx="121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 LLM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Inference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08088C-8813-4179-BC26-AA70F03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03A35"/>
          </a:solidFill>
          <a:ln xmlns:a="http://schemas.openxmlformats.org/drawingml/2006/main" w="15240">
            <a:solidFill>
              <a:srgbClr val="F2A5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7BCB30-6386-40EB-ACCB-9952F156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2890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Cache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92451F-4A55-4846-84C3-2020B3FE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3380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3A35"/>
          </a:solidFill>
          <a:ln xmlns:a="http://schemas.openxmlformats.org/drawingml/2006/main" w="15240">
            <a:solidFill>
              <a:srgbClr val="FF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1A96D8-83C2-4487-A96B-719FA87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48100"/>
            <a:ext cx="116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Leakage</a:t>
            </a:r>
          </a:p>
        </p:txBody>
      </p:sp>
      <p:cxnSp>
        <p:nvCxnSpPr>
          <p:cNvPr id="75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029700" y="1924050"/>
            <a:ext cx="32385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2A541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31" idx="2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9086850" y="3295650"/>
            <a:ext cx="89535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FD7D2"/>
            </a:solidFill>
            <a:prstDash val="solid"/>
            <a:tailEnd type="arrow" w="med" len="med"/>
          </a:ln>
        </p:spPr>
      </p:cxnSp>
      <p:cxnSp>
        <p:nvCxnSpPr>
          <p:cNvPr id="77" name=""/>
          <p:cNvCxnSpPr>
            <a:stCxn xmlns:a="http://schemas.openxmlformats.org/drawingml/2006/main" id="33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H="1" flipV="1">
            <a:off x="8286750" y="2381250"/>
            <a:ext cx="857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FE8E1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A8CEC5-AFF3-4D94-9D82-11CCF2E4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rPr>
              <a:t>从“私有本地运行”到“共享硬件可观测”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D42931-9019-4DEF-9C0A-43DF39E2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FD1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BFD1CB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BA07EE-36AC-4626-A1A5-B401C41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7862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E41558-8D80-4C3F-8B0F-EE8B72EB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1D582-7BF4-4E0A-A9EA-67DE5FA5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问题背景: Local LLM 隐私假设被重新打开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83E26-B0CE-467D-B5DF-E597AF34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AF064-96D1-442D-86A1-4E0E0C6E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CAB79-263D-48E1-B842-2D9E59FF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D74BF-7FB9-4868-8E2A-EAB3583F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4953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06981-2B5C-425B-B67F-D25D1449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为什么用户转向本地 LLM?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3BBAE-8492-403A-8710-4F828544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52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A276D-3DFA-4FB4-8710-F5C03D78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云端 LLM 会带来敏感文本上传风险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22B21-1289-44F7-A928-793F7B76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B95EA-F8D6-4B88-9C4E-740AA415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本地推理常用于邮件、财务、私人咨询等场景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8E7A9-6FB5-4062-B068-C75E5AB0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812E8-28E7-406F-A885-A82273C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论文关注的不是模型 API，而是推理过程的硬件痕迹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8FB38-C151-432D-97C1-1EB4661A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809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0EAC4-7353-410E-A859-D2FF0466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 i="0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rPr>
              <a:t>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0B42D-A3BD-432F-9E5A-3F6DAFB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隐私承诺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37E57-896C-44D2-B116-995AA292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14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数据不离开设备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4F4A4-CCCC-476D-A5AD-468A0BFE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52850"/>
            <a:ext cx="1809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FF76E-C0B9-4149-8305-74177C8D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2A54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 i="0">
                <a:solidFill>
                  <a:srgbClr val="F2A541"/>
                </a:solidFill>
                <a:latin typeface="Microsoft YaHei UI"/>
                <a:ea typeface="Microsoft YaHei UI"/>
                <a:cs typeface="Microsoft YaHei UI"/>
              </a:rPr>
              <a:t>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05972-8B84-489B-AA4D-716EE9BE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386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攻击视角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F1CC8-A204-49E1-A37D-62DE6411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14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共享硬件留下侧信道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1989D-11B5-4D48-822A-EA55659C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04900"/>
            <a:ext cx="462915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9525">
            <a:solidFill>
              <a:srgbClr val="CA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8AB6E-C809-4C7C-AE00-CDC85C8B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267A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9B2E6-A336-4D61-9552-8138007E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111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Cloud LLM</a:t>
            </a:r>
          </a:p>
          <a:p xmlns:a="http://schemas.openxmlformats.org/drawingml/2006/main">
            <a:pPr algn="ctr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第三方服务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4FE58-4AC6-4371-BAC1-C2769161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5E007-5CD2-459D-BB39-3739D72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33550"/>
            <a:ext cx="111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Local LLM</a:t>
            </a:r>
          </a:p>
          <a:p xmlns:a="http://schemas.openxmlformats.org/drawingml/2006/main">
            <a:pPr algn="ctr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本地设备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3C8D7-3319-44D1-8D23-E071EDD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45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F5EBD-4350-49EB-8EBB-1BA9187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111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Sensitive</a:t>
            </a:r>
          </a:p>
          <a:p xmlns:a="http://schemas.openxmlformats.org/drawingml/2006/main">
            <a:pPr algn="ctr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cxnSp>
        <p:nvCxnSpPr>
          <p:cNvPr id="60" name=""/>
          <p:cNvCxnSpPr>
            <a:stCxn xmlns:a="http://schemas.openxmlformats.org/drawingml/2006/main" id="27" idx="1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H="1" flipV="1">
            <a:off x="7396163" y="2400300"/>
            <a:ext cx="414338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267A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7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9191625" y="2400300"/>
            <a:ext cx="414338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7B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610F65-6DFD-44A9-B050-09E38994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论文问题: 当模型和攻击者共享 CPU cache 时，本地推理的输入/输出还能否保持私密?</a:t>
            </a:r>
          </a:p>
        </p:txBody>
      </p:sp>
    </p:spTree>
    <p:extLst>
      <p:ext uri="{BB962C8B-B14F-4D97-AF65-F5344CB8AC3E}">
        <p14:creationId xmlns:p14="http://schemas.microsoft.com/office/powerpoint/2010/main" val="581739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6256E-407A-4C94-872B-39D55D66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67F3F-243A-4F69-AD6A-6E8741F1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核心发现: token value + token position 足以泄露文本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E35A3-94AE-4D08-9FB4-D062C045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Main 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28015-A9AB-4FE9-AEA2-852D2A5A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C616B-A1C0-4278-BD75-F0517563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CBCCF-3FBA-40BF-9AF4-D91C78D6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76A1D-D1BF-4A33-AC42-936ED3B9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28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B40AA-27D7-4E94-8AAF-DEE11C22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859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Leakage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62ADC-CE83-42D0-BDCF-38FA9D33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4453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 i="0">
                <a:solidFill>
                  <a:srgbClr val="C44536"/>
                </a:solidFill>
                <a:latin typeface="Microsoft YaHei UI"/>
                <a:ea typeface="Microsoft YaHei UI"/>
                <a:cs typeface="Microsoft YaHei UI"/>
              </a:rPr>
              <a:t>Token Value Leakage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5E6B7-90D3-4FFA-94BE-1A6ED3FC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4536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07DBF-032E-42B0-982A-F3326643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embedding matrix 的行访问取决于 token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A8011-93FC-4354-9700-9EF2A1E8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453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C70BB-45D5-4FB0-AEE9-58A7D88E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攻击者从 cache access pattern 推断出现过哪些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B0B17-8B8D-42B8-A46E-47465FA3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453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61B69-7644-4539-B1E3-07FE65FD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输入 token 与生成 token 都会经过 embedding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48769-B11D-4838-B82D-73E8B570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61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D2FA4-CE53-4221-9BC0-A265FFBE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361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141F4-FFF3-4DBA-B087-22BD4096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00500"/>
            <a:ext cx="361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8655F-85F8-4F46-AF2F-1E6BD15C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361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C445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A3D64-E055-4068-8AE5-6A01E0A8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361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65789-BEC9-4CFC-94C2-5D10F87C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361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95B8A-8DF6-425E-A0B4-9E7EA135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361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C445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DC14A-26AE-44BD-AF41-7AC6ABA2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61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98FB5-23AA-4A2A-8781-1139CE4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239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74801C-F235-4B29-B2B7-414A605A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C08D9-C492-4D48-A586-DEBA591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859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05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805200"/>
                </a:solidFill>
                <a:latin typeface="Microsoft YaHei"/>
                <a:ea typeface="Microsoft YaHei"/>
                <a:cs typeface="Microsoft YaHei"/>
              </a:rPr>
              <a:t>Leakage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C369C-35AF-40F4-9A76-29D310D7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9A65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 i="0">
                <a:solidFill>
                  <a:srgbClr val="9A6500"/>
                </a:solidFill>
                <a:latin typeface="Microsoft YaHei UI"/>
                <a:ea typeface="Microsoft YaHei UI"/>
                <a:cs typeface="Microsoft YaHei UI"/>
              </a:rPr>
              <a:t>Token Position Leakage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6EC32D-BA9C-496D-975F-56B3EEC6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9A8F5-9DF5-4E7A-B382-AE54F34B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autoregressive decode 是逐 token 顺序生成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31FD52-9482-478D-A369-F9F477CB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43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496011-EE13-4F3B-8750-83B78093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embedding 操作的时间间隔暴露输出位置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396BA2-E10F-4D1D-9F86-961136DA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74CB2B-C449-4C2D-A8E8-EAD34FBB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位置 + token 值让输出文本可被重构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502592-3B33-4B88-9E5A-B653A841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7210"/>
            <a:ext cx="342900" cy="-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4DF80D-CA72-463E-8145-D6CF9EC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07586"/>
            <a:ext cx="342900" cy="7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B6DF76-236C-4454-9848-BE8813AB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6834"/>
            <a:ext cx="342900" cy="-198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B4215D-F508-4FB8-8A97-70DED55A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88714"/>
            <a:ext cx="342900" cy="44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EC01A0-58AD-4FAC-8968-025FCB24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33291"/>
            <a:ext cx="342900" cy="-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C05616-E81F-4620-B01F-E8E4216D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09466"/>
            <a:ext cx="342900" cy="17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93E811-F83D-4314-80B9-E5197DB5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82821"/>
            <a:ext cx="342900" cy="-133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C9A9AC-EE6C-41F8-8DE2-C7502024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49090"/>
            <a:ext cx="342900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41B6FD-6C28-49AA-9505-880F55A7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08526"/>
            <a:ext cx="342900" cy="-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F8B190-9180-4B81-9049-CF625A7F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89654"/>
            <a:ext cx="342900" cy="7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1C4D7E-4921-433D-8A6D-B8FE4B95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6515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11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1CF815-85A5-4DB8-B9CF-0172EE5B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598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Value + Position -&gt; Text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490544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F3CAB-B4AA-461D-BBB1-0C763027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3D8FE-5594-45AB-A923-4F8D378D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威胁模型: 被动共驻、共享 cache、无需模型交互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03209-E5E9-4CD2-A8C0-344B0FFF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Threat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85CD8-9F4D-486C-8027-4E5B42F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7B3CE-C2CE-40C3-B20D-F45272F0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0D19C-2FBB-4F2C-AF39-12474117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7F4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91D93-FBCC-45A7-9768-75897442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144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Victim</a:t>
            </a:r>
          </a:p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Local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CF1FB-E610-4BB8-8D6B-90882C7D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190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3211F"/>
          </a:solidFill>
          <a:ln xmlns:a="http://schemas.openxmlformats.org/drawingml/2006/main" w="15240">
            <a:solidFill>
              <a:srgbClr val="BF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A5C6C-D848-43F3-B0EA-CE80E234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4785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Shared</a:t>
            </a:r>
          </a:p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Hardware 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CE4E7-2D01-43C0-9AE5-F5B6B121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5240">
            <a:solidFill>
              <a:srgbClr val="F2A5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60E58-55FE-46AC-A300-E4A976EB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4550"/>
            <a:ext cx="144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Spy App</a:t>
            </a:r>
          </a:p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Cache Probe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762250" y="2514600"/>
            <a:ext cx="2190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7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7143750" y="2514600"/>
            <a:ext cx="2095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2A541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D252F-A04E-4ECF-8739-75FA32BB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被动观察 cache timing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124A7-E869-42EB-ADE9-F07A2646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模型推理触发 embedding 访问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92F19-2825-4736-A4B4-4E09BDE2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2476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38E15-9E1F-4027-98CB-3D4D41E6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No direct interaction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AF009-8C9B-41D7-87CB-B221B40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攻击不需要向受害者 LLM 发送请求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613F1-24B5-4F80-A1EB-D0A5B96E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43350"/>
            <a:ext cx="2476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2917E-E20A-418D-8B06-0DFA33C6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No privilege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9DBA0-3452-41AA-86C6-FD02BA9D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86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论文强调攻击可在无特权条件下执行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EA5D2-AE30-439D-8FAB-D2224AE4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43350"/>
            <a:ext cx="2476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DA8CD-FE8E-4F80-8645-70E4218A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Co-located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5608E-24DA-467D-A203-49662422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攻击程序与推理进程共享机器和缓存</a:t>
            </a:r>
          </a:p>
        </p:txBody>
      </p:sp>
    </p:spTree>
    <p:extLst>
      <p:ext uri="{BB962C8B-B14F-4D97-AF65-F5344CB8AC3E}">
        <p14:creationId xmlns:p14="http://schemas.microsoft.com/office/powerpoint/2010/main" val="409187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E90EE9-EB24-4A32-A087-1A0706B1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2BF0C-5CA5-4BF6-B583-CFB57378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漏洞根因: embedding 行访问与自回归时序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23459-A61B-415C-AF03-9D587B2B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Root Cause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F53F8-2275-47A8-95AA-64D1FB99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9D0EB-A692-458B-BAC8-47DF45DE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61010-B438-459D-B2F9-1B715618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47625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ABC15-0009-433E-8C69-7A1018CF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2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1. Embedding matrix 暴露 token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28A16-FB6D-4B7A-8B14-08D56AAB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BB355-FF0F-491C-8B5D-DEFD4164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81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row 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AA7A3-CA09-49F5-AD72-B296878B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57425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C44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03AF-6715-43C5-BC98-AE92AB93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38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row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8BC19-110A-494A-B81C-C219D8B6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67546-8CF9-4A11-B9F6-747DA90A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95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row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C6E0E-71C4-4EA5-AA75-19959C7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71775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55E0A-0D6B-4760-86E9-97ABC0E9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52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row 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80ACB-030E-46FD-8234-31A5C90A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C44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E9233-ADE3-45BF-A58E-60A36722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09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row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F5506-9D93-4190-ACCB-71DA5390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86125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AC2D9-EB77-42A1-9915-6333BB5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670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row 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8A249-5F79-4019-85FA-B1AF2F23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6FFC2-8ADB-4BBC-867B-7E435FC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242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row 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599FA-D00B-4D97-A97B-A010D76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C445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7DF8A-7F34-4362-A9E8-113B8EC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814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row 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CBA14-EEA9-4EE6-92D3-A7689884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3D146-2B6F-48C9-8E8C-BB114354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386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row 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5F0F4-D645-40CE-957F-785D2FE6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token → row access → cache hit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E3A9C-42F9-4EEF-973A-4DD5E7AA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123950"/>
            <a:ext cx="47625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576B2-F1F4-445A-88A0-E5DD89B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2. Autoregressive decode 暴露位置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E9C24-5E61-42B8-A3FA-E74D3F4B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7048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CF7F4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86188-44A0-4D27-BBAC-290F9038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38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14CF0-B823-47DD-97D8-BDCC3768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7048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CF7F4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E81FA6-88A5-483B-B9E5-3A3E0239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66A94-E78D-42E6-AD92-53D68C7E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24100"/>
            <a:ext cx="7048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CF7F4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3FA0B2-BD8E-4190-A33B-E6EC53B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38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cxnSp>
        <p:nvCxnSpPr>
          <p:cNvPr id="82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943850" y="25717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7B"/>
            </a:solidFill>
            <a:prstDash val="solid"/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105900" y="25717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7B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6B8A3F-9765-411E-97B0-A766ADAF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99535"/>
            <a:ext cx="304800" cy="-47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DAC7A7-A836-4442-A6F7-066728AF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52291"/>
            <a:ext cx="304800" cy="94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51936C-DAEC-4ABB-889D-AA56CC18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6779"/>
            <a:ext cx="304800" cy="-2362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1767EA-640D-4113-A040-0E2C7809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0559"/>
            <a:ext cx="304800" cy="53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4F28F1-D429-406D-9457-86ADA545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63709"/>
            <a:ext cx="304800" cy="-147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DECA7A-32A6-4527-870F-BC3881B8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16071"/>
            <a:ext cx="304800" cy="206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24E49D-B20D-4B9D-9B5F-FCB77635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2763"/>
            <a:ext cx="304800" cy="-159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8A6BD7-F122-4047-9DE1-40F9A9D6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63315"/>
            <a:ext cx="304800" cy="70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4F526F-22E2-4718-8284-D5D975B4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34181"/>
            <a:ext cx="304800" cy="-1417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3106E2-98F3-4E1F-8A5A-67636C0C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92449"/>
            <a:ext cx="304800" cy="94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7C7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75BE9B-0027-4207-A2CE-99F49AC5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decode phase 的周期性时间点对应 token 位置</a:t>
            </a:r>
          </a:p>
        </p:txBody>
      </p:sp>
    </p:spTree>
    <p:extLst>
      <p:ext uri="{BB962C8B-B14F-4D97-AF65-F5344CB8AC3E}">
        <p14:creationId xmlns:p14="http://schemas.microsoft.com/office/powerpoint/2010/main" val="1826714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0291F-C602-4616-9BA4-AEFF4A43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5AE0C-A116-4E14-B86C-5D7D0F8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攻击流程总览: cache trace 到文本重构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53056-99AE-4338-B609-25F7F73E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Attack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05728-0D0F-4B51-9713-C890C43E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22F3A-FF76-4A3C-B376-92FBC15B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F831E-5B0E-434C-94A6-688A0F1E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60C43-1BBF-4681-A5A2-4D96B9EE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764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60902-74D4-45A5-85D0-6749A52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543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7F4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4BD11-6C93-4320-B56B-9AEFFB83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276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Probe</a:t>
            </a:r>
          </a:p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model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6BF10-EE2F-41CF-BF37-1DF4274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定位 embedding 行地址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DE9D2-5EBD-42FE-A913-DE6677B7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6700F-412F-40B7-BBBE-23831FD9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EEA6F-AA47-46FE-B916-D18A303A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1543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7F4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45318-9CD5-4722-B8CD-B09A9DCF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09800"/>
            <a:ext cx="1276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Collect</a:t>
            </a:r>
          </a:p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cache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09D40-8F60-4BD4-AF18-65D8BF87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记录 timing 与 hit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FCAE5-9F0D-4039-BF3E-3B6ED826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1925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446F2-759A-4891-8990-3E24A8F8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B1E8F-D13F-477D-8CA5-A3248B59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543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5240">
            <a:solidFill>
              <a:srgbClr val="F2A5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CB213-8916-4546-B858-6E476F7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1276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Split</a:t>
            </a:r>
          </a:p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phases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D0351-8EA4-47B0-80F9-A72CE396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识别 prefill / decode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CEFC8-EAAA-4FA3-8615-4846A0BC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1925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04ECB-E2DF-40AD-BD0F-F3E09459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764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A36BF-DC84-4062-B86E-3192C1EC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1543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5240">
            <a:solidFill>
              <a:srgbClr val="F2A5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19D33-3CC5-4201-96DB-DC621C3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1276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346DDB-4DD5-423E-B882-CCD78B7F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得到 KD、KP、TD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FD0B6-59F0-4FA5-BE1F-3AD72E93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1925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76F35-AB51-4A2F-AC7F-28E94E82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764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316D6-5C80-45ED-B4F9-0F0F2782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543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5240">
            <a:solidFill>
              <a:srgbClr val="C445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2F6702-C8F3-4EEB-831E-6B7C5E8F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9800"/>
            <a:ext cx="1276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Recover</a:t>
            </a:r>
          </a:p>
          <a:p xmlns:a="http://schemas.openxmlformats.org/drawingml/2006/main">
            <a:pPr algn="ctr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E288CC-071F-4270-A1CD-38A291E1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71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LLMA 输出 / LLMB 输入</a:t>
            </a:r>
          </a:p>
        </p:txBody>
      </p:sp>
      <p:cxnSp>
        <p:nvCxnSpPr>
          <p:cNvPr id="67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62200" y="26289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7B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419600" y="26289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7B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77000" y="26289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2A541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534400" y="26289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44536"/>
            </a:solidFill>
            <a:prstDash val="soli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97C9A-A575-47F3-BCBE-D1478DC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57700"/>
            <a:ext cx="9105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11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B4782F-58F2-4575-BFD7-4A77ABCD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67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关键思想: 侧信道只给出噪声很大的 token/timing 线索，再用重构模型补全语义</a:t>
            </a:r>
          </a:p>
        </p:txBody>
      </p:sp>
    </p:spTree>
    <p:extLst>
      <p:ext uri="{BB962C8B-B14F-4D97-AF65-F5344CB8AC3E}">
        <p14:creationId xmlns:p14="http://schemas.microsoft.com/office/powerpoint/2010/main" val="1629399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414A2-231C-4354-9161-90380A95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B3446-3A00-4C83-A718-96F8827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关键技术 1: 缓存时序测量与 phase 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5DE91-168F-4CDD-8BDE-8D2A1430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Cache Timing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D8ACC-DC13-4354-8B8A-0119DF5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CFAF5-B191-4497-A151-143E19E7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5BDE1-BAB2-431F-9C6C-60A6D757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7143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6A7E1-5C11-4D5D-ADB1-51C4927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Cache trace 示意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C45F5-24AE-4FE9-ADC4-F1F43E9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20EAD-9056-4C5B-AC99-DD74EF8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C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B9FB2-2B0E-423F-B499-94399FA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F6528-7C09-438D-B385-F36B872C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C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92184-8509-447C-A4D4-369D2B9D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C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1BA7-A426-4A1A-9885-88011756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0C6ED-AE38-4716-991F-BF9F1CC9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95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50C88-891E-4F50-AB86-F38F6979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95250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3FA4D-197E-4A42-B203-FB227878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95250" cy="7429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DA5E8-EBBB-456D-82DA-CC10E6A8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95250" cy="9715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A46C3-E560-4804-9277-3B233081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33700"/>
            <a:ext cx="95250" cy="12001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817FC-E0E5-4AB2-91E8-E9C6BC23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48100"/>
            <a:ext cx="95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0F155-7F88-4799-82D2-426C2E1C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19500"/>
            <a:ext cx="95250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FAE7D-133B-4AF7-BE86-95755E1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90900"/>
            <a:ext cx="95250" cy="7429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EF724-F2B3-41A1-82D7-18B956C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95250" cy="9715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4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09E3D-2D70-4F79-A5CF-E9C75BE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48100"/>
            <a:ext cx="95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18257-8239-425F-88B9-6B993065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76650"/>
            <a:ext cx="9525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0EB6E-77B2-4A82-91D8-E59D947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05200"/>
            <a:ext cx="95250" cy="6286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4049A-2E8C-431C-A6EC-E3B53079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95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DF7EDB-9AFA-46DC-A54E-7AB8DFD4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9525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0E76E-46EB-4706-BF3A-CC03729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05200"/>
            <a:ext cx="95250" cy="6286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32B43-D042-40B5-99F1-76238770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48100"/>
            <a:ext cx="95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F46C60-A518-4444-A27E-427B2D98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95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9D1477-C64C-4071-8AC0-A84DEBA6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95250" cy="6286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5C775A-9549-47F9-B09F-270A595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95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7AE2C3-F5C7-46AE-AF1C-7DB154AF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76650"/>
            <a:ext cx="9525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765298-1B59-455A-87F2-E8F0685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90850"/>
            <a:ext cx="95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2BD5C7-8F64-4BBB-9BB0-DAC43AE8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48100"/>
            <a:ext cx="95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D6464C-5B9A-45E2-9DB1-6FFAE88F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9525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902C6F-ADE6-4660-B2D7-9F791BD5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95250" cy="6286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98792-8DEF-4BE5-BE7A-11A398E7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95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ADCF9-FC70-49BB-9460-C779106F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9525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7DD236-73C4-49D0-9005-797A9EB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05200"/>
            <a:ext cx="95250" cy="6286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450F21-DBF1-480D-B07D-1420D47E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48100"/>
            <a:ext cx="95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310062-08D1-4438-8CB7-A0EDAD81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B588EC-7264-4140-982D-8C59AAE9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196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Prefill: dense burst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AD4125-D46F-4CCC-B428-7937BE63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8F2061-EFFA-4E60-BB20-0ECB3737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196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Decode: sparse periodic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3557EE-3B5A-4041-BE4E-78BB86BE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57300"/>
            <a:ext cx="285750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9525">
            <a:solidFill>
              <a:srgbClr val="CFE2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E3EA48-1894-4FF3-9684-D5A07F1D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识别目标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03BC6F-C546-4651-B814-89068DE4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9E617A-D16D-4109-874E-DDCAD046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prefill: 输入 token 批量进入 embedding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6F9872-221D-4A7D-BE9E-DEF8C6E5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D5BF0F-3700-4B51-8670-4221D3B4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05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decode: 输出 token 顺序进入 embedding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4910DD-D28C-4337-AC5F-C4634201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DC542E-42CD-4C85-8D14-A3C03D3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PSD/周期线索帮助分离阶段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668FBC-84BB-4C57-BB67-B0354B28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输出位置主要来自 decode 的时间规律</a:t>
            </a:r>
          </a:p>
        </p:txBody>
      </p:sp>
    </p:spTree>
    <p:extLst>
      <p:ext uri="{BB962C8B-B14F-4D97-AF65-F5344CB8AC3E}">
        <p14:creationId xmlns:p14="http://schemas.microsoft.com/office/powerpoint/2010/main" val="1905893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5422F-1364-4F69-8985-D8A4027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EAAB6-68DE-4E13-9048-40E62F44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关键技术 2: 输出重构把 token 线索变成句子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C26B7-8348-44E0-8D6A-098F708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Output Reconstruction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9F7DC-601D-401E-94B7-6515858D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2CA7D-751A-4EA5-A8DF-D971111F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96324-B8F6-4211-AFCE-DC4BE740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95400"/>
            <a:ext cx="2667000" cy="3238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C0563-F05F-4027-A362-6C53C172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81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Cache hits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96ABB-23F4-4EFB-9C4D-A1204C49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F1AE8-EB14-4751-BBDE-1FD34F02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B9DD3-ED96-4974-A3A9-FB06B4B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955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3C64A-A042-4975-8862-58B839E4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955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72562-55F3-42BB-94C3-02E0687E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955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5875D-2A82-4C65-A71F-A62AC9EB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955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4FE68-9AD1-4B69-9D39-AFE86EE9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F48C2-8D4E-4637-9AE8-8D4F9D1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374C1-A179-4DBB-9ADC-E386E88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622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4EDEF-1F50-4692-84E4-F05F6DC3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622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87B38-2A4E-4EF6-B7E4-B7693709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622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DE1EF-C673-4DE4-83F7-F3007970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622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F01FE-41FD-461C-B1A7-3E0F8853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24B18-B5DF-46D9-B6A3-F3993D2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F51FD-A8E9-4E9D-A3DB-2CEDFCB5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289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541BD-D085-4BCC-807F-33FA2F01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289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16FE9-D0A3-4593-A9FF-BEA202F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289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DF74C-543C-4607-A3F6-457E9893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AF96C-9661-4647-9C16-CF0987CE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78A7D7-AC5D-45C2-9CB0-75EC797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331F3B-9D37-47AF-A36D-F0E934D8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956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263623-5818-4C3C-A178-09F5F58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956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35FA3-715C-493A-82C6-D11852AC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956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CAA0D-2F94-49BF-A7AB-D55756EA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FAC168-BACF-406C-8C5B-62E59E54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9862DF-40D9-402A-9EDB-F6D05673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623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51A6EF-3604-49E6-BC2E-5FF8A2F4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623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06FAE6-DBB3-4C89-8B06-014052AA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623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4AA619-5CE7-48C7-8300-DEF07A1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623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6B5DF9-551F-4B34-B3EB-EEF53D21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623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0D2F14-8151-4803-AE8C-038A3CA2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269FF5-2596-470A-A65F-732D1A05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F3867F-CC13-48DF-9673-9C71BCAF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290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DF9048-9DB4-458D-95C5-9503C92D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3295E6-3E89-4C72-A2FD-137E8820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290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CF3166-8E44-4C9B-9FAE-F70B77C8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290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6F7CBB-99F1-4F32-B0E9-AE6A740C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0086DD-481F-4A01-ACCA-9705839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2FA3B1-FFA6-4BAC-9D11-0B028476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957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EAC6BC-5265-4387-AC53-0CCBD4AF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957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21DD95-E7FE-4A54-B524-24E8CBCF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957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841192-2F53-4BEA-BE7F-187E0D31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2095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7A69CF-0A81-4BF8-AA33-50629090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95400"/>
            <a:ext cx="2667000" cy="3238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F4D8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B541B5-C305-40C1-B119-89DD1973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81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KD + TD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A0B301-01E8-436A-9E4C-44DC88BE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912A29-D16C-4B1F-8DCE-8CEE9949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token list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3E2ECE-4CCA-40F2-A263-2013E306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02E712-8D06-4C7C-BF78-505F2FB0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timing signal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FC21F6-7A62-47E0-B480-B7E4C178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7E9B87-9434-4086-AF22-741C43F2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147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noise filtering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A4A70C-A37A-4931-8994-002925D8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95400"/>
            <a:ext cx="2667000" cy="3238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47976A-9FA3-43DB-833F-C1C61CD8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81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LLMA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67BBFF-CF78-4FC6-A1BB-4B46763E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190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根据 token 列表和时间信号，预测缺失 token、移除噪声并恢复输出文本。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05F68C-1B8E-4C71-BAA9-7DC05974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766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Output = LLMA(TD, KD)</a:t>
            </a:r>
          </a:p>
        </p:txBody>
      </p:sp>
      <p:cxnSp>
        <p:nvCxnSpPr>
          <p:cNvPr id="127" name=""/>
          <p:cNvCxnSpPr>
            <a:stCxn xmlns:a="http://schemas.openxmlformats.org/drawingml/2006/main" id="6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543300" y="2914650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7B"/>
            </a:solidFill>
            <a:prstDash val="solid"/>
            <a:tailEnd type="arrow" w="med" len="med"/>
          </a:ln>
        </p:spPr>
      </p:cxnSp>
      <p:cxnSp>
        <p:nvCxnSpPr>
          <p:cNvPr id="128" name=""/>
          <p:cNvCxnSpPr>
            <a:stCxn xmlns:a="http://schemas.openxmlformats.org/drawingml/2006/main" id="50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7429500" y="2914650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2A541"/>
            </a:solidFill>
            <a:prstDash val="solid"/>
            <a:tailEnd type="arrow" w="med" len="me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298492-7165-463D-B0EF-C660A9BE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8343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3211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EF067F-AF67-435E-A38E-728BE9A6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19700"/>
            <a:ext cx="777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输出更容易恢复: decode 顺序天然提供 token position</a:t>
            </a:r>
          </a:p>
        </p:txBody>
      </p:sp>
    </p:spTree>
    <p:extLst>
      <p:ext uri="{BB962C8B-B14F-4D97-AF65-F5344CB8AC3E}">
        <p14:creationId xmlns:p14="http://schemas.microsoft.com/office/powerpoint/2010/main" val="13106298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B9155E-CC4D-4FEF-B391-6C3C489A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D9CBD-0B9A-4DD8-82AD-44DC20F2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关键技术 3: 输入重构需要处理无序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E01F6-669E-4635-8A48-E951ABFC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Input Reconstruction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B986-8FC2-425E-B06A-A82872AE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B82E9-3889-43D0-9F30-76370FB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6ADC9-B3D1-4049-B651-E50D6A59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19200"/>
            <a:ext cx="4095750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F4AF6-1A3D-46AA-B92C-7D1E8BD2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24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Prefill token bag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2AC0A-5828-48BE-B1E7-1E9841A0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745CA-71B6-4C22-A756-FBCFEB87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9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freddy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3B639-F19A-4D00-BA32-36699F3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7338B-13FC-4FB9-8D5C-0EF9C0B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E770A-6EF6-40B0-A466-76865B5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3D5C0-BDA7-40DE-B5D7-BA7C4679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70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D9094-8E59-44E9-A9F5-F04924C2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D0464-F9D7-437C-A816-22A6A09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5A048-5354-4C6A-B8BB-D7D4B3C2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C46D2-1B19-4166-9361-82FFF2F4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2010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07695-4F7F-4F6F-86D4-491075DD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B805E-968D-44F2-885E-A96615C6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242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where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5540E-FBB6-418B-BA5E-493E8105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940FA-DD03-4E01-96BA-8B3FC463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president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C726A-1D8E-4938-AC49-AB101152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61917-B846-4624-91FA-B6366AE0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814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e5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C5B12-2066-447D-A67A-053555E5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29FCC-753A-46EE-91D4-C29F930F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nightmare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5AC3A-11B4-496A-94DA-A926C9E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814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3A06D-F9EF-4917-904A-0348D4D8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ffa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9A5DC-F143-40F8-91BF-D2065837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顺序被打乱，单靠 KP 只能得到语义碎片。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65B67-442A-4BD3-986A-BD227EC3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90700"/>
            <a:ext cx="171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7F4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E3F9A-7E8C-4C2A-B049-AAAAE13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0500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Recovered</a:t>
            </a:r>
          </a:p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5F9FFA-1E88-49D0-87A8-6EECA58A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81350"/>
            <a:ext cx="171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5240">
            <a:solidFill>
              <a:srgbClr val="F2A5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7C4EE8-D9D4-47D8-B91A-DFD4A11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956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Unordered input</a:t>
            </a:r>
          </a:p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KP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136D51-341E-4C3A-A424-64E4EB77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3211F"/>
          </a:solidFill>
          <a:ln xmlns:a="http://schemas.openxmlformats.org/drawingml/2006/main" w="15240">
            <a:solidFill>
              <a:srgbClr val="BF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92D2ED-4196-4158-9086-9F81FB69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LLMB</a:t>
            </a:r>
          </a:p>
        </p:txBody>
      </p:sp>
      <p:cxnSp>
        <p:nvCxnSpPr>
          <p:cNvPr id="76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410450" y="2209800"/>
            <a:ext cx="10096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7B"/>
            </a:solidFill>
            <a:prstDash val="solid"/>
            <a:tailEnd type="arrow" w="med" len="med"/>
          </a:ln>
        </p:spPr>
      </p:cxnSp>
      <p:cxnSp>
        <p:nvCxnSpPr>
          <p:cNvPr id="77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7410450" y="2952750"/>
            <a:ext cx="10096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2A541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BB4DF9-468C-4066-8955-1B0DC3A1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52700"/>
            <a:ext cx="1219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5240">
            <a:solidFill>
              <a:srgbClr val="C445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F23CF8-563F-4941-8DCD-93C71C19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670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输入语义</a:t>
            </a:r>
          </a:p>
        </p:txBody>
      </p:sp>
      <p:cxnSp>
        <p:nvCxnSpPr>
          <p:cNvPr id="80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848850" y="2952750"/>
            <a:ext cx="1905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44536"/>
            </a:solidFill>
            <a:prstDash val="solid"/>
            <a:tailEnd type="arrow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618A78-94DE-4861-98B4-52AB223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76750"/>
            <a:ext cx="533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892FC2-3A74-4650-B471-0D20E9F3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论文用恢复出的输出上下文辅助输入恢复，改善只看 bag-of-words 的语义缺失。</a:t>
            </a:r>
          </a:p>
        </p:txBody>
      </p:sp>
    </p:spTree>
    <p:extLst>
      <p:ext uri="{BB962C8B-B14F-4D97-AF65-F5344CB8AC3E}">
        <p14:creationId xmlns:p14="http://schemas.microsoft.com/office/powerpoint/2010/main" val="1488246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6F552-309A-46D5-94C5-BAC11D3E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DBA9F-C58E-460B-BEC7-16BA03B7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实验设置: 多模型、多框架、多指标验证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9096E-EF69-4F0D-A7B1-A45A6A22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Experiment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D3F21-14A1-49F1-8890-BEE7FEE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B523A-3BEA-47C6-AD6F-ED51B44E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CB602-F8ED-444A-BCB4-48FC7108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57300"/>
            <a:ext cx="4838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2149E-C422-47AA-B333-689978CC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CD29D-989C-4F69-9C62-1BDBFDC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811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Victim LLMs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0AE66-B6C7-4633-A7FD-A09EF091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Llama / Falcon / Gemma / Phi</a:t>
            </a:r>
          </a:p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覆盖开源与实际部署模型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0CD17-B072-4E08-8552-4FEE0A8C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57300"/>
            <a:ext cx="4838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91140-DCFD-4A99-BC4A-67210A29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240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ABF80-91CC-45CB-A787-A1242EC6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811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Frameworks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24ED9-733C-4613-B703-05EB0DCF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HuggingFace / IPEX-LLM</a:t>
            </a:r>
          </a:p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llama.cpp / Ollama / GPT4All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1ECD6-988B-48EE-851B-66EDDCD5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4838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1BF0D-852A-4F33-8357-B1F7F07A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8C8D8-E619-49C5-8F3C-CEABBB9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Datasets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3DD30-AF85-461C-B7FB-260C0902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NQ-Open / SIQA / SQuAD2</a:t>
            </a:r>
          </a:p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ChatGPT-Roles 等公开数据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82A3D-5EFE-46C5-945A-77944958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4838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435B4-F004-4A58-8C5E-C6D2DC4D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3FF"/>
          </a:solidFill>
          <a:ln xmlns:a="http://schemas.openxmlformats.org/drawingml/2006/main" w="9525">
            <a:solidFill>
              <a:srgbClr val="E7E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DD079-C0A9-4F23-9899-8F3072D8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457A6"/>
                </a:solidFill>
                <a:latin typeface="Microsoft YaHei"/>
                <a:ea typeface="Microsoft YaHei"/>
                <a:cs typeface="Microsoft YaHei"/>
              </a:rPr>
              <a:t>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91D1F-78CD-4607-B0A3-428E9B39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ROUGE / Levenshtein</a:t>
            </a:r>
          </a:p>
          <a:p xmlns:a="http://schemas.openxmlformats.org/drawingml/2006/main">
            <a:pPr algn="l">
              <a:def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Cosine Similarity / ASR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19957-D848-4113-BFE9-6B403F1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00700"/>
            <a:ext cx="6743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11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43035-72D4-4553-BEC3-F9D8E2C0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05475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核心评估问题: 攻击能否在实际本地推理系统中恢复文本内容和语义?</a:t>
            </a:r>
          </a:p>
        </p:txBody>
      </p:sp>
    </p:spTree>
    <p:extLst>
      <p:ext uri="{BB962C8B-B14F-4D97-AF65-F5344CB8AC3E}">
        <p14:creationId xmlns:p14="http://schemas.microsoft.com/office/powerpoint/2010/main" val="1278803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44F8C-133E-4729-BE92-99ACF595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BBAFB-0423-4A89-924E-91A26D10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主要结果: 输出几乎可读，输入语义高度泄露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892E3-DCB0-41FF-A3DF-4450C7A7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Key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81011-B46C-4B12-BF45-DAC2CB49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37D1-9C99-4A56-802B-AF4445CC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2A7C4-B5FB-4FF0-A906-3C223C04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C20C5-07EE-46A2-AC14-C3D2C1D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287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C4453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 i="0">
                <a:solidFill>
                  <a:srgbClr val="C44536"/>
                </a:solidFill>
                <a:latin typeface="Microsoft YaHei UI"/>
                <a:ea typeface="Microsoft YaHei UI"/>
                <a:cs typeface="Microsoft YaHei UI"/>
              </a:rPr>
              <a:t>5.2%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2432E-149C-4617-BDA7-5E7D23F5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输出平均 edit 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C2EF8-DC19-405C-A08D-47F69FD4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193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越低越接近原文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9F940-5263-4F2D-9053-E081EEA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5730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823DD-2688-4847-9808-1CE30BC8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4287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C4453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 i="0">
                <a:solidFill>
                  <a:srgbClr val="C44536"/>
                </a:solidFill>
                <a:latin typeface="Microsoft YaHei UI"/>
                <a:ea typeface="Microsoft YaHei UI"/>
                <a:cs typeface="Microsoft YaHei UI"/>
              </a:rPr>
              <a:t>17.3%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F95B9-237D-4F52-91E2-CBB62748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输入平均 edit 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56115-23F9-49EC-A701-864D2207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193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输入更难但仍可恢复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DCB70-8931-4D33-96EE-957D550A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5730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44897-0D4A-4A67-8135-433069C8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 i="0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rPr>
              <a:t>98.7%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3BDE0-F795-4714-B615-09BE58CE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输入 cosine similarity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F5037-76F5-4A47-867C-38336D61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193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语义层面高度相似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2E367-E516-4CC2-9886-096A5411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25730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B0C55-A744-4721-ADFB-243D7283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 i="0">
                <a:solidFill>
                  <a:srgbClr val="0E7C7B"/>
                </a:solidFill>
                <a:latin typeface="Microsoft YaHei UI"/>
                <a:ea typeface="Microsoft YaHei UI"/>
                <a:cs typeface="Microsoft YaHei UI"/>
              </a:rPr>
              <a:t>98.0%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7BBF8-F839-4033-8667-BA73167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431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输出 cosine similarity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D5884-D524-42EF-9D71-94E0E50F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193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语义泄露明显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7C61E-3FF8-4347-98E3-D7572D11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4667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1333500" y="3429000"/>
          <a:ext xmlns:a="http://schemas.openxmlformats.org/drawingml/2006/main" cx="4095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8a405b010a44b3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1C6FB6-3B35-4652-BD09-7DC3D411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Edit distance to ground truth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C6736-9AFE-4279-A1A6-E89846F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667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6762750" y="3429000"/>
          <a:ext xmlns:a="http://schemas.openxmlformats.org/drawingml/2006/main" cx="40957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b1ab5277534aea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D1207-B34A-4CC9-8CA3-44E112DC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95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Semantic similarity</a:t>
            </a:r>
          </a:p>
        </p:txBody>
      </p:sp>
    </p:spTree>
    <p:extLst>
      <p:ext uri="{BB962C8B-B14F-4D97-AF65-F5344CB8AC3E}">
        <p14:creationId xmlns:p14="http://schemas.microsoft.com/office/powerpoint/2010/main" val="15475826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59842-4B1F-4344-A304-D4431C25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2D2FB-3312-40CC-8083-09BF439C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消融与参数分析: SCA 线索是输入恢复关键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19375-29CC-482C-BBA4-8C9D23C4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Ablation / Parameters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47FB6-70A3-48B6-A11C-F4D34A1D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54ED1-0DC2-4E12-BF37-6E7BC806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6A80D-3B39-42E6-B6B1-EBE5DC6C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00150"/>
            <a:ext cx="5810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9D665-2B51-4541-8A40-5F8DFF81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04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输入恢复消融: 加入 SCA 数据显著改善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181100" y="2076450"/>
          <a:ext xmlns:a="http://schemas.openxmlformats.org/drawingml/2006/main" cx="4953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12bff657b3496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B7E67-8912-40FC-B179-76A966F8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14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来源: Table 2, ablation study on SCA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87853-C95A-4310-B0E2-1F762CDB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200150"/>
            <a:ext cx="42481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9525">
            <a:solidFill>
              <a:srgbClr val="CFE2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37C80-F5D4-47A0-BF1E-1F2D061D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04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论文给出的稳定性结论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929FE-B320-4252-959B-6C7ABA7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6DC36-ACCC-47FD-B3A9-3BB8CCE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噪声参数 p 在 10%-40% 范围内仍保持较高性能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F2553-A64B-4C93-8EC7-8C742DA7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694F3-B3BB-4A98-89FE-608CC5E8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prefill batch size 增大后指标趋于稳定，整体波动约 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13375-A7B3-4A91-A0E7-224B718E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49589-D59E-4DBB-8EE6-47BF20C1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051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Ollama、llama.cpp、GPT4All、LocalAI 等框架均受影响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6C10D-5059-4F1D-830E-AC8AA50D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201EA-67F7-49EE-A8D0-848C94EF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004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硬件与量化设置会改变难度，但不消除根因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D8FE5-8A9F-4251-B73C-0AC19E82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624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11F"/>
          </a:solidFill>
          <a:ln xmlns:a="http://schemas.openxmlformats.org/drawingml/2006/main" w="9525">
            <a:solidFill>
              <a:srgbClr val="132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F2725-DA28-47E7-B4A9-4B73CE85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96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2CC5E-C4A1-48C8-9BDF-EFBD1717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侧信道观测提供了恢复输入语义的额外证据。</a:t>
            </a:r>
          </a:p>
        </p:txBody>
      </p:sp>
    </p:spTree>
    <p:extLst>
      <p:ext uri="{BB962C8B-B14F-4D97-AF65-F5344CB8AC3E}">
        <p14:creationId xmlns:p14="http://schemas.microsoft.com/office/powerpoint/2010/main" val="14982191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AA749-8A87-44F9-9861-DC49B2DE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89805-478B-4064-9634-F81D4D4A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 i="0">
                <a:solidFill>
                  <a:srgbClr val="13211F"/>
                </a:solidFill>
                <a:latin typeface="Microsoft YaHei UI"/>
                <a:ea typeface="Microsoft YaHei UI"/>
                <a:cs typeface="Microsoft YaHei UI"/>
              </a:rPr>
              <a:t>讨论与防御: 工程隔离比模型层补丁更直接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C4FB4-FE63-49F9-A594-C8B471ED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D115A-2348-4122-9392-0B4FC84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CB55F-18FB-4802-936D-26FE162A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3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47D0-4D66-4534-9E99-AA1C3D6F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762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C25F3-1AAB-47E7-AAD6-53FDEF52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049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8E1"/>
          </a:solidFill>
          <a:ln xmlns:a="http://schemas.openxmlformats.org/drawingml/2006/main" w="9525">
            <a:solidFill>
              <a:srgbClr val="BFE8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1DAD4-3BDD-46F7-9774-B4331124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Hardware 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042DB-0A58-441D-B8EA-D4DC0D24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使用 Intel CAT 等 cache partitioning，减少共享 cache 干扰。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14040-2D01-4615-B29D-0F02904B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57300"/>
            <a:ext cx="4762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A056C-42DA-42EB-BCAA-4D0496A9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049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A8"/>
          </a:solidFill>
          <a:ln xmlns:a="http://schemas.openxmlformats.org/drawingml/2006/main" w="9525">
            <a:solidFill>
              <a:srgbClr val="FFE3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27045-12A5-442F-BE75-7C35D04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62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Runtime hardening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47437-BB29-461C-BB6A-0A3A1BE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避免或改造 zero-copy/mmap 加载路径，降低 embedding 行访问可观测性。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50AE4-1CC0-47AA-A604-D9CB4D47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4762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7103A-D994-4459-869B-F91CC4E2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2"/>
          </a:solidFill>
          <a:ln xmlns:a="http://schemas.openxmlformats.org/drawingml/2006/main" w="9525">
            <a:solidFill>
              <a:srgbClr val="FFD7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7D445-57CA-43A2-93BA-6C6E5FD6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44536"/>
                </a:solidFill>
                <a:latin typeface="Microsoft YaHei"/>
                <a:ea typeface="Microsoft YaHei"/>
                <a:cs typeface="Microsoft YaHei"/>
              </a:rPr>
              <a:t>Noise / scheduling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65829-537B-47D2-8CB5-DF2770AF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引入调度隔离、访问随机化或节流，提升测量难度。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75F42-204F-4853-8A68-4F508D0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4762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DC11E-6A72-49AB-9E35-10DC7AFE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3FF"/>
          </a:solidFill>
          <a:ln xmlns:a="http://schemas.openxmlformats.org/drawingml/2006/main" w="9525">
            <a:solidFill>
              <a:srgbClr val="E7E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631CA-790E-44C0-BE83-74C001FC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457A6"/>
                </a:solidFill>
                <a:latin typeface="Microsoft YaHei"/>
                <a:ea typeface="Microsoft YaHei"/>
                <a:cs typeface="Microsoft YaHei"/>
              </a:rPr>
              <a:t>Limitations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97FC7-2DAD-47EC-BCEA-271448EA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GPU-side embedding、输入并行 prefill、地址映射学习仍是开放问题。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69B4D-E072-4EAD-9449-A9FF7264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2600"/>
            <a:ext cx="769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11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12E18-6CB6-4A0F-99AC-AF1DD4FD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6737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伦理边界: 作者使用公开数据集，并报告相关问题给软件开发者</a:t>
            </a:r>
          </a:p>
        </p:txBody>
      </p:sp>
    </p:spTree>
    <p:extLst>
      <p:ext uri="{BB962C8B-B14F-4D97-AF65-F5344CB8AC3E}">
        <p14:creationId xmlns:p14="http://schemas.microsoft.com/office/powerpoint/2010/main" val="19346639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5CE589-AD8B-44BE-B4DB-2CA4BA74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81954-7860-49B8-8D9C-371A3D6C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FADFC-0F7C-4789-BB41-F0E8C933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06125-F1B2-4D49-8A01-B64D9E06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9EF99-7AD3-4AB7-B7D7-4D4C7BB0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DC716-9444-48D5-8023-034414C7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169A4-8733-4724-A4BE-B0D9D33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0AEB4-D636-432D-8B8D-92753701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6C102-F953-4F4A-A1CB-65380178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2EE31-2585-45F1-A193-3A38C42D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73762-0787-402A-B0D9-2047D62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4799E-1FE1-455F-9DE3-47A49EFE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ADAED-0610-4FE2-A53D-FD3BECF8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47365-0B33-4C42-AAC3-376D650E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949B7-055A-4AAE-8B14-0F849C74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1915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99294-4039-45CF-B782-596BE625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4FA43-E2E3-4D23-A499-FD3C836B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AF0AD-9521-489C-BCA9-129F672B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31A92-CB2F-4FC6-BD95-01C39571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8140B-D113-49EE-8B20-38FDADD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FF0A3-078C-4855-BC3B-F551A5F4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F41E5-1AFC-44DC-AE68-2C99DB34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2446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B2C30-7894-449F-B7B5-7D44B18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 i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总结: Local LLM 不等于自动隐私安全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2E90B-7E81-45C3-848C-5F1CCE8B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28575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203A35"/>
          </a:solidFill>
          <a:ln xmlns:a="http://schemas.openxmlformats.org/drawingml/2006/main" w="15240">
            <a:solidFill>
              <a:srgbClr val="FF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077D4-4D8D-4442-A707-DA71F092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D7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 i="0">
                <a:solidFill>
                  <a:srgbClr val="FFD7D2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B268AA-FCA5-40D0-AC61-A5409E9D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新的泄露面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9E3B9-5174-4FEC-A5D1-22C6369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147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rPr>
              <a:t>token embedding 的 cache 访问暴露 token value。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B81C7-B50A-407D-8CC7-10101CAC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28575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203A35"/>
          </a:solidFill>
          <a:ln xmlns:a="http://schemas.openxmlformats.org/drawingml/2006/main" w="15240">
            <a:solidFill>
              <a:srgbClr val="FFE3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6AFFAE-EFE2-4176-9D1A-7C58B66B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526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E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 i="0">
                <a:solidFill>
                  <a:srgbClr val="FFE3A8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3C43EB-D3F4-4B5F-8D39-69D51E3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新的重构链路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31D86F-A18E-455D-BB61-F8CF7989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rPr>
              <a:t>decode 时序补充 token position，模型帮助去噪和补全。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0A6E6B-9056-4121-A5B2-8AA7AC89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8575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203A35"/>
          </a:solidFill>
          <a:ln xmlns:a="http://schemas.openxmlformats.org/drawingml/2006/main" w="15240">
            <a:solidFill>
              <a:srgbClr val="BF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1DFE2B-450D-4A0E-92DB-2E75E7CE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BFE8E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 i="0">
                <a:solidFill>
                  <a:srgbClr val="BFE8E1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C535B8-CC20-487F-A36A-F1815E56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新的防御重点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36103F-D6ED-41AF-899A-065E6A76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rPr>
              <a:t>本地 AI 需要硬件隔离、运行时加固和侧信道意识。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B989E3-04F9-4FE6-988C-F593768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742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258D2D-DE18-4C42-ACFF-30AF3E25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67300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3211F"/>
                </a:solidFill>
                <a:latin typeface="Microsoft YaHei"/>
                <a:ea typeface="Microsoft YaHei"/>
                <a:cs typeface="Microsoft YaHei"/>
              </a:rPr>
              <a:t>课堂提问方向: 如果你要部署本地大模型，应该在哪一层做隔离?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C31BBA-9598-44E2-996B-9883521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FD1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BFD1CB"/>
                </a:solidFill>
                <a:latin typeface="Microsoft YaHei"/>
                <a:ea typeface="Microsoft YaHei"/>
                <a:cs typeface="Microsoft YaHei"/>
              </a:rPr>
              <a:t>Source: Gao et al., USENIX Security 2025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7434A9-DD39-4887-9BD8-48F31B7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8EDE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6562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2026-06-16T14:35:58.5080000Z</dcterms:created>
  <dcterms:modified xsi:type="dcterms:W3CDTF">2026-06-16T14:35:58.5080000Z</dcterms:modified>
</coreProperties>
</file>