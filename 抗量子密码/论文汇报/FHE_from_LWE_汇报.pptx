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  <p:sldId id="275" r:id="rId26"/>
    <p:sldId id="276" r:id="rId2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  <a:srgbClr val="F4B183"/>
    <a:srgbClr val="F7E1ED"/>
    <a:srgbClr val="A4A0B7"/>
    <a:srgbClr val="856699"/>
    <a:srgbClr val="EFF4FC"/>
    <a:srgbClr val="D9E8FC"/>
    <a:srgbClr val="AFE3E6"/>
    <a:srgbClr val="A8D18C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E62296-9383-4CE2-B089-9B1D81D14FA7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FEBF4B-D0C4-48FE-9E7C-4D60AB4D0B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03882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5947FD-F5D5-C7EC-9E4A-DAA14F71BA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55FE92A-2724-118A-5B6E-C29B19E6F3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862A92-ACCF-1D3D-8485-50AD3C76B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501DB5E-5B48-0E8B-F307-DC9B249F2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05CBDD-B5A2-5598-23BD-2393154ED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5318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022A9B-E633-03AC-18AA-6BADC975E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305E11-651D-A9B2-79D4-7241E7A2F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CC2773-5310-4B91-CFC7-681ADCBF5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86B453-015C-A37D-32F3-A470B531F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B4E8AA-D9E8-3C50-C0B0-664472D0F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6157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19A0E6-03DE-A7C8-36D2-BF82CB019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EBD5CDC-2DEA-8EFC-9CAF-353F443352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16E76A7-2057-C391-92A8-477CC2DB8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0948630-873B-3FC8-5625-02EE6EAC2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3433FD-0785-1B49-B444-F0E7F9BAA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8125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37AB8D-5FB8-5708-2F12-5FB388999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DFE0D82-1FAC-09DF-9C32-E5C6327BD3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7AF59A-BC31-86E2-4661-4338F3A5B8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1EA9611-78BB-1DD6-3E97-ABBE2C05C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900D176-9EBE-0D8A-0577-DF838CB68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6C59194-597D-246A-68EC-B5815F4B2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0936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41F9F6-5EEF-058E-C000-D614671F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68CA2FC-AF04-1B71-AEFF-4F62DA4CAB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E8FA7E-C192-4398-4776-80CF5D15AD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77D9C4E-4FEF-3C1C-193B-37E1F1F421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8EC3300-58A6-EC80-D18B-0972C39AF8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24FCA1F-CA7A-A8DB-F897-39055ADF0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9483C87-61E7-5139-70F8-96B970617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1F5EB3F-6BCE-43E9-B93F-C36F92EB2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43461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50121E-DC8B-E646-0B15-F815032D1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0BDCE0D-D8A6-D412-1C51-07EE32237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0B191B5-F41B-767E-FAA9-8582AD476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6C69216-8B08-D69B-0576-ED9FD5E14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34034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9C56CE3-9DBC-780B-4D61-48F0F6C41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289AF25-2395-A35B-121A-C1441007F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EA4F959-964F-982C-80FE-6CC0BB29B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5987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FB4442-C7A7-887F-5CE5-080874F3D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CD1E77-5EE0-719B-A507-E3119D304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74E068-3BFE-FA02-A2FA-1378363A74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F2DC7B8-24F3-B9A4-7CF2-361B7B2F8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2986256-2492-D598-024B-51BD64D8F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BDCDEAF-CA6F-0BE6-E26A-EEF2BE2D0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6941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DC698D-4C50-C221-4739-DDA1E45F8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3193976-F69E-9A83-F405-338014EB7D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2248DE5-E712-F5F1-476B-180A8019D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40D8D7-210D-8103-6CA6-9552B233A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F914829-B618-3BF2-BA91-DFA417C4C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0060273-73E6-E034-07FE-5F8C9C613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84070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7374E2-9C5E-35D5-C8DA-DB9732E97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29ACD6-C635-637C-2F43-74DE0F0F1F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B67DB-9D00-35C6-222C-BBBF56A03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17E320-3063-4A6E-6D94-019D88190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5EC1A0-D965-8FF0-7317-6B68761C1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2035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9F93C66-CE1F-C411-021E-0B18D4923D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49AFB9-28DA-9B9A-1F94-2B14EB4198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6E14FC-8E6F-790B-48C0-9331355CA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6B459-FDB4-01A9-75C9-1A4D4D98D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03E370-3EA6-4DA3-C26A-6CD8ACE8B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65254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F4A75A-A297-2E66-C246-F6521D21B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469017-6CE4-1C87-C85C-8B197FCF39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60CB54-67AF-D77D-A7F3-0847616AB5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3FDE0E-32F9-4681-B932-59D96D5EEB4E}" type="datetimeFigureOut">
              <a:rPr lang="zh-CN" altLang="en-US" smtClean="0"/>
              <a:t>2025/12/3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E02529-00B6-44C0-6DAB-7A500FBE81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94E703-E3A2-3C29-07B5-615775F46D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9603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sz="3600" b="1" i="0">
                <a:solidFill>
                  <a:srgbClr val="1B3A5C"/>
                </a:solidFill>
                <a:latin typeface="Calibri"/>
              </a:rPr>
              <a:t>Efficient Fully Homomorphic Encryption
from (Standard) LWE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286000" y="475488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</a:pPr>
            <a:r>
              <a:rPr sz="1600" b="0" i="0">
                <a:solidFill>
                  <a:srgbClr val="333333"/>
                </a:solidFill>
                <a:latin typeface="Calibri"/>
              </a:rPr>
              <a:t>Zvika Brakerski (Weizmann)  -  Vinod Vaikuntanathan (U. Toronto)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52120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</a:pPr>
            <a:r>
              <a:rPr sz="1300" b="0" i="0">
                <a:solidFill>
                  <a:srgbClr val="666666"/>
                </a:solidFill>
                <a:latin typeface="Calibri"/>
              </a:rPr>
              <a:t>FOCS 2011 - IEEE Symposium on Foundations of Computer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576072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0" i="0">
                <a:solidFill>
                  <a:srgbClr val="2C5F8A"/>
                </a:solidFill>
                <a:latin typeface="Microsoft YaHei"/>
              </a:rPr>
              <a:t>组会汇报 - 抗量子密码方向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 i="0">
                <a:solidFill>
                  <a:srgbClr val="1B3A5C"/>
                </a:solidFill>
                <a:latin typeface="Microsoft YaHei"/>
              </a:rPr>
              <a:t>汇报大纲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ts val="2400"/>
              </a:lnSpc>
            </a:pPr>
            <a:r>
              <a:rPr sz="1800" b="1" i="0">
                <a:solidFill>
                  <a:srgbClr val="1B3A5C"/>
                </a:solidFill>
                <a:latin typeface="Microsoft YaHei"/>
              </a:rPr>
              <a:t>1. 研究背景与动机 -- 全同态加密与Gentry蓝图</a:t>
            </a:r>
          </a:p>
          <a:p>
            <a:pPr>
              <a:lnSpc>
                <a:spcPts val="240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>
              <a:lnSpc>
                <a:spcPts val="2400"/>
              </a:lnSpc>
            </a:pPr>
            <a:r>
              <a:rPr sz="1800" b="1" i="0">
                <a:solidFill>
                  <a:srgbClr val="1B3A5C"/>
                </a:solidFill>
                <a:latin typeface="Microsoft YaHei"/>
              </a:rPr>
              <a:t>2. 前人工作的局限 -- 理想格假设与Squashing范式</a:t>
            </a:r>
          </a:p>
          <a:p>
            <a:pPr>
              <a:lnSpc>
                <a:spcPts val="240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>
              <a:lnSpc>
                <a:spcPts val="2400"/>
              </a:lnSpc>
            </a:pPr>
            <a:r>
              <a:rPr sz="1800" b="1" i="0">
                <a:solidFill>
                  <a:srgbClr val="2C5F8A"/>
                </a:solidFill>
                <a:latin typeface="Microsoft YaHei"/>
              </a:rPr>
              <a:t>3. 核心创新 I: Re-linearization (重线性化)</a:t>
            </a:r>
          </a:p>
          <a:p>
            <a:pPr>
              <a:lnSpc>
                <a:spcPts val="2400"/>
              </a:lnSpc>
            </a:pPr>
            <a:r>
              <a:rPr sz="1400" b="0" i="0">
                <a:solidFill>
                  <a:srgbClr val="666666"/>
                </a:solidFill>
                <a:latin typeface="Microsoft YaHei"/>
              </a:rPr>
              <a:t>    -&gt; 从标准LWE构造Somewhat HE, 摆脱理想格依赖</a:t>
            </a:r>
          </a:p>
          <a:p>
            <a:pPr>
              <a:lnSpc>
                <a:spcPts val="240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>
              <a:lnSpc>
                <a:spcPts val="2400"/>
              </a:lnSpc>
            </a:pPr>
            <a:r>
              <a:rPr sz="1800" b="1" i="0">
                <a:solidFill>
                  <a:srgbClr val="2C5F8A"/>
                </a:solidFill>
                <a:latin typeface="Microsoft YaHei"/>
              </a:rPr>
              <a:t>4. 核心创新 II: Dimension-Modulus Reduction (维度-模缩减)</a:t>
            </a:r>
          </a:p>
          <a:p>
            <a:pPr>
              <a:lnSpc>
                <a:spcPts val="2400"/>
              </a:lnSpc>
            </a:pPr>
            <a:r>
              <a:rPr sz="1400" b="0" i="0">
                <a:solidFill>
                  <a:srgbClr val="666666"/>
                </a:solidFill>
                <a:latin typeface="Microsoft YaHei"/>
              </a:rPr>
              <a:t>    -&gt; 替代Squashing, 实现Bootstrapping, 达到全同态</a:t>
            </a:r>
          </a:p>
          <a:p>
            <a:pPr>
              <a:lnSpc>
                <a:spcPts val="240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>
              <a:lnSpc>
                <a:spcPts val="2400"/>
              </a:lnSpc>
            </a:pPr>
            <a:r>
              <a:rPr sz="1800" b="1" i="0">
                <a:solidFill>
                  <a:srgbClr val="1B3A5C"/>
                </a:solidFill>
                <a:latin typeface="Microsoft YaHei"/>
              </a:rPr>
              <a:t>5. BTS方案完整构造与安全性分析</a:t>
            </a:r>
          </a:p>
          <a:p>
            <a:pPr>
              <a:lnSpc>
                <a:spcPts val="2400"/>
              </a:lnSpc>
            </a:pPr>
            <a:r>
              <a:rPr sz="1800" b="1" i="0">
                <a:solidFill>
                  <a:srgbClr val="1B3A5C"/>
                </a:solidFill>
                <a:latin typeface="Microsoft YaHei"/>
              </a:rPr>
              <a:t>6. 应用: 近最优私有信息检索 (PIR)</a:t>
            </a:r>
          </a:p>
          <a:p>
            <a:pPr>
              <a:lnSpc>
                <a:spcPts val="2400"/>
              </a:lnSpc>
            </a:pPr>
            <a:r>
              <a:rPr sz="1800" b="1" i="0">
                <a:solidFill>
                  <a:srgbClr val="1B3A5C"/>
                </a:solidFill>
                <a:latin typeface="Microsoft YaHei"/>
              </a:rPr>
              <a:t>7. 总结与讨论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0" i="0">
                <a:solidFill>
                  <a:srgbClr val="2C5F8A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>
                <a:solidFill>
                  <a:srgbClr val="1B3A5C"/>
                </a:solidFill>
                <a:latin typeface="Calibri"/>
              </a:rPr>
              <a:t>Background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</a:pPr>
            <a:r>
              <a:rPr sz="2200" b="0" i="0">
                <a:solidFill>
                  <a:srgbClr val="666666"/>
                </a:solidFill>
                <a:latin typeface="Microsoft YaHei"/>
              </a:rPr>
              <a:t>研究背景与动机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3657600" cy="27432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>
                <a:solidFill>
                  <a:srgbClr val="1B3A5C"/>
                </a:solidFill>
                <a:latin typeface="Microsoft YaHei"/>
              </a:rPr>
              <a:t>什么是全同态加密 (FHE) 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2743200" cy="36576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80160"/>
            <a:ext cx="10515600" cy="640080"/>
          </a:xfrm>
          <a:prstGeom prst="roundRect">
            <a:avLst/>
          </a:prstGeom>
          <a:solidFill>
            <a:srgbClr val="E8EC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000000"/>
                </a:solidFill>
                <a:latin typeface="Consolas"/>
              </a:rPr>
              <a:t>Enc(m1), Enc(m2)  ----[ Eval(f) ]----&gt;&gt;  Enc(f(m1, m2))    (对密文执行任意计算)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>
                <a:solidFill>
                  <a:srgbClr val="1B3A5C"/>
                </a:solidFill>
                <a:latin typeface="Microsoft YaHei"/>
              </a:rPr>
              <a:t>核心能力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500" b="0" i="0">
                <a:solidFill>
                  <a:srgbClr val="333333"/>
                </a:solidFill>
                <a:latin typeface="Microsoft YaHei"/>
              </a:rPr>
              <a:t>- 在加密数据上执行任意复杂度的计算</a:t>
            </a:r>
          </a:p>
          <a:p>
            <a:pPr algn="l">
              <a:lnSpc>
                <a:spcPts val="1800"/>
              </a:lnSpc>
            </a:pPr>
            <a:r>
              <a:rPr sz="1500" b="0" i="0">
                <a:solidFill>
                  <a:srgbClr val="333333"/>
                </a:solidFill>
                <a:latin typeface="Microsoft YaHei"/>
              </a:rPr>
              <a:t>- 计算结果仍为加密形式, 只有私钥持有者能解密</a:t>
            </a:r>
          </a:p>
          <a:p>
            <a:pPr algn="l">
              <a:lnSpc>
                <a:spcPts val="1800"/>
              </a:lnSpc>
            </a:pPr>
            <a:r>
              <a:rPr sz="1500" b="0" i="0">
                <a:solidFill>
                  <a:srgbClr val="333333"/>
                </a:solidFill>
                <a:latin typeface="Microsoft YaHei"/>
              </a:rPr>
              <a:t>- 实现: 数据加密 -&gt; 云端处理 -&gt; 返回加密结果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2400"/>
              </a:lnSpc>
            </a:pPr>
            <a:r>
              <a:rPr sz="2000" b="1" i="0">
                <a:solidFill>
                  <a:srgbClr val="1B3A5C"/>
                </a:solidFill>
                <a:latin typeface="Microsoft YaHei"/>
              </a:rPr>
              <a:t>应用场景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500" b="0" i="0">
                <a:solidFill>
                  <a:srgbClr val="333333"/>
                </a:solidFill>
                <a:latin typeface="Microsoft YaHei"/>
              </a:rPr>
              <a:t>- 云计算隐私保护 / 加密数据库查询</a:t>
            </a:r>
          </a:p>
          <a:p>
            <a:pPr algn="l">
              <a:lnSpc>
                <a:spcPts val="1800"/>
              </a:lnSpc>
            </a:pPr>
            <a:r>
              <a:rPr sz="1500" b="0" i="0">
                <a:solidFill>
                  <a:srgbClr val="333333"/>
                </a:solidFill>
                <a:latin typeface="Microsoft YaHei"/>
              </a:rPr>
              <a:t>- 私有信息检索 (PIR) / 安全多方计算</a:t>
            </a:r>
          </a:p>
          <a:p>
            <a:pPr algn="l">
              <a:lnSpc>
                <a:spcPts val="1800"/>
              </a:lnSpc>
            </a:pPr>
            <a:r>
              <a:rPr sz="1500" b="0" i="0">
                <a:solidFill>
                  <a:srgbClr val="333333"/>
                </a:solidFill>
                <a:latin typeface="Microsoft YaHei"/>
              </a:rPr>
              <a:t>- 机器学习推理隐私保护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1945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>
                <a:solidFill>
                  <a:srgbClr val="1B3A5C"/>
                </a:solidFill>
                <a:latin typeface="Microsoft YaHei"/>
              </a:rPr>
              <a:t>发展历程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Calibri"/>
              </a:rPr>
              <a:t>1978  Rivest, Adleman, Dertouzos 提出FHE概念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Microsoft YaHei"/>
              </a:rPr>
              <a:t>       密码学圣杯, 30年无解</a:t>
            </a:r>
          </a:p>
          <a:p>
            <a:pPr algn="l">
              <a:lnSpc>
                <a:spcPts val="1560"/>
              </a:lnSpc>
            </a:pPr>
            <a:r>
              <a:rPr sz="1300" b="1" i="0">
                <a:solidFill>
                  <a:srgbClr val="C0392B"/>
                </a:solidFill>
                <a:latin typeface="Calibri"/>
              </a:rPr>
              <a:t>2009  Gentry 首个候选方案 [STOC'09]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Microsoft YaHei"/>
              </a:rPr>
              <a:t>       基于理想格 (Ideal Lattices)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Calibri"/>
              </a:rPr>
              <a:t>2010  van Dijk et al. 整数上的FHE [Eurocrypt'10]</a:t>
            </a:r>
          </a:p>
          <a:p>
            <a:pPr algn="l">
              <a:lnSpc>
                <a:spcPts val="1560"/>
              </a:lnSpc>
            </a:pPr>
            <a:r>
              <a:rPr sz="1300" b="1" i="0">
                <a:solidFill>
                  <a:srgbClr val="2C5F8A"/>
                </a:solidFill>
                <a:latin typeface="Calibri"/>
              </a:rPr>
              <a:t>2011  Brakerski &amp; Vaikuntanathan [本文]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Microsoft YaHei"/>
              </a:rPr>
              <a:t>       --&gt; 仅基于标准LWE假设的FHE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Calibri"/>
              </a:rPr>
              <a:t>2011  Brakerski &amp; V. Ring-LWE FHE [Crypto'11]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>
                <a:solidFill>
                  <a:srgbClr val="1B3A5C"/>
                </a:solidFill>
                <a:latin typeface="Microsoft YaHei"/>
              </a:rPr>
              <a:t>Gentry 的 Bootstrapping 蓝图 (2009)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2743200" cy="36576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3200400" cy="7315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Step 1: Somewhat 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构造可执行有限次加法和乘法的部分同态方案</a:t>
            </a:r>
          </a:p>
          <a:p>
            <a:pPr algn="l">
              <a:lnSpc>
                <a:spcPts val="1439"/>
              </a:lnSpc>
            </a:pPr>
            <a:r>
              <a:rPr sz="1200" b="1" i="0">
                <a:solidFill>
                  <a:srgbClr val="1B3A5C"/>
                </a:solidFill>
                <a:latin typeface="Consolas"/>
              </a:rPr>
              <a:t>可评估深度 &lt;= D 的电路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06240" y="1920240"/>
            <a:ext cx="548640" cy="274320"/>
          </a:xfrm>
          <a:prstGeom prst="rightArrow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37760" y="1645920"/>
            <a:ext cx="3200400" cy="7315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Step 2: Bootstrappable?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246888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关键条件: 解密电路 + 1次乘法的深度 &lt;= D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方案必须能自举地评估自身的解密过程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321040" y="1920240"/>
            <a:ext cx="548640" cy="274320"/>
          </a:xfrm>
          <a:prstGeom prst="rightArrow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052560" y="1645920"/>
            <a:ext cx="2743200" cy="7315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Step 3: FHE!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24688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Bootstrapping定理:</a:t>
            </a:r>
          </a:p>
          <a:p>
            <a:pPr algn="l">
              <a:lnSpc>
                <a:spcPts val="1439"/>
              </a:lnSpc>
            </a:pPr>
            <a:r>
              <a:rPr sz="1200" b="1" i="0">
                <a:solidFill>
                  <a:srgbClr val="27AE60"/>
                </a:solidFill>
                <a:latin typeface="Microsoft YaHei"/>
              </a:rPr>
              <a:t>部分同态 + 自举 = 全同态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931920"/>
            <a:ext cx="10515600" cy="2286000"/>
          </a:xfrm>
          <a:prstGeom prst="roundRect">
            <a:avLst/>
          </a:prstGeom>
          <a:solidFill>
            <a:srgbClr val="E8EC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000000"/>
                </a:solidFill>
                <a:latin typeface="Consolas"/>
              </a:rPr>
              <a:t>Bootstrapping 核心思想 (简化版):                                           
  给定: 密文 c = Enc(pk, m), 希望刷新噪声使之可以继续参与同态运算            
  Step A: 将 c 用新公钥 pk2 加密: c* = Enc(pk2, c)   &lt;-- 双重加密           
  Step B: 同态评估解密电路: Enc(pk2, m) = Eval(Dec, c*, Enc(pk2, sk1))      
          |-- 方案用自己的同态能力解开内层加密, 得到新公钥下的密文            
  结果: 得到同一明文在新密钥下的新鲜密文 -&gt; 可继续参与同态运算!               
  &gt;&gt; 关键: 解密电路的复杂度必须 &lt;= 方案的同态能力                           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>
                <a:solidFill>
                  <a:srgbClr val="1B3A5C"/>
                </a:solidFill>
                <a:latin typeface="Microsoft YaHei"/>
              </a:rPr>
              <a:t>前人工作的两大局限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2743200" cy="36576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5029200" cy="5943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局限 1: 依赖理想格 (Ideal Lattices) 假设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- Gentry方案的SWHE基于理想格上的困难问题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- 理想格 (Ideal Lattices) 自然地同时支持+和x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  原因: 理想是环的子结构, 对+和x封闭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  相比之下, 一般格只对加法封闭</a:t>
            </a:r>
          </a:p>
          <a:p>
            <a:pPr algn="l">
              <a:lnSpc>
                <a:spcPts val="1560"/>
              </a:lnSpc>
            </a:pPr>
            <a:r>
              <a:rPr sz="1300" b="1" i="0">
                <a:solidFill>
                  <a:srgbClr val="C0392B"/>
                </a:solidFill>
                <a:latin typeface="Microsoft YaHei"/>
              </a:rPr>
              <a:t>- 问题: 理想格是特殊品种, 我们对其了解甚少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Microsoft YaHei"/>
              </a:rPr>
              <a:t>  一般格的研究更深入 (LLL, Ajtai, Micciancio...)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2C5F8A"/>
                </a:solidFill>
                <a:latin typeface="Microsoft YaHei"/>
              </a:rPr>
              <a:t>本文目标 1: 去掉理想格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1B3A5C"/>
                </a:solidFill>
                <a:latin typeface="Microsoft YaHei"/>
              </a:rPr>
              <a:t>在标准 LWE 假设上构造 Somewhat HE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- LWE 问题等价于一般格上最坏情况困难问题</a:t>
            </a:r>
          </a:p>
          <a:p>
            <a:pPr algn="l">
              <a:lnSpc>
                <a:spcPts val="1320"/>
              </a:lnSpc>
            </a:pPr>
            <a:r>
              <a:rPr sz="1100" b="0" i="0">
                <a:solidFill>
                  <a:srgbClr val="666666"/>
                </a:solidFill>
                <a:latin typeface="Calibri"/>
              </a:rPr>
              <a:t>  (Regev'05, Peikert'09: worst-case -&gt; average-case)</a:t>
            </a:r>
          </a:p>
          <a:p>
            <a:pPr algn="l">
              <a:lnSpc>
                <a:spcPts val="1560"/>
              </a:lnSpc>
            </a:pPr>
            <a:r>
              <a:rPr sz="1300" b="1" i="0">
                <a:solidFill>
                  <a:srgbClr val="2C5F8A"/>
                </a:solidFill>
                <a:latin typeface="Microsoft YaHei"/>
              </a:rPr>
              <a:t>- 新工具: Re-linearization (重线性化)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297680"/>
            <a:ext cx="5029200" cy="5943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局限 2: Squashing 范式 + 稀疏子集和假设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- 部分同态 -&gt; 全同态需要 Bootstrapping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- 但解密电路复杂度 (degree = max(n, log q)) 超过同态能力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- Gentry 的 Squashing: 人为降低解密复杂度</a:t>
            </a:r>
          </a:p>
          <a:p>
            <a:pPr algn="l">
              <a:lnSpc>
                <a:spcPts val="1439"/>
              </a:lnSpc>
            </a:pPr>
            <a:r>
              <a:rPr sz="1200" b="1" i="0">
                <a:solidFill>
                  <a:srgbClr val="C0392B"/>
                </a:solidFill>
                <a:latin typeface="Microsoft YaHei"/>
              </a:rPr>
              <a:t>  代价: 引入稀疏子集和 (Sparse Subset-Sum) 假设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C0392B"/>
                </a:solidFill>
                <a:latin typeface="Microsoft YaHei"/>
              </a:rPr>
              <a:t>- 这个额外假设是所有先前方案的主要缺陷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297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2C5F8A"/>
                </a:solidFill>
                <a:latin typeface="Microsoft YaHei"/>
              </a:rPr>
              <a:t>本文目标 2: 去掉 Squashing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1B3A5C"/>
                </a:solidFill>
                <a:latin typeface="Microsoft YaHei"/>
              </a:rPr>
              <a:t>不引入额外假设, 直接实现 Bootstrapping</a:t>
            </a:r>
          </a:p>
          <a:p>
            <a:pPr algn="l">
              <a:lnSpc>
                <a:spcPts val="1560"/>
              </a:lnSpc>
            </a:pPr>
            <a:r>
              <a:rPr sz="1300" b="1" i="0">
                <a:solidFill>
                  <a:srgbClr val="2C5F8A"/>
                </a:solidFill>
                <a:latin typeface="Microsoft YaHei"/>
              </a:rPr>
              <a:t>- 新工具: Dimension-Modulus Reduction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Microsoft YaHei"/>
              </a:rPr>
              <a:t>  (维度-模缩减)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- 额外收获: 密文非常短 -&gt; 高效的 PIR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0" i="0">
                <a:solidFill>
                  <a:srgbClr val="2C5F8A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>
                <a:solidFill>
                  <a:srgbClr val="1B3A5C"/>
                </a:solidFill>
                <a:latin typeface="Calibri"/>
              </a:rPr>
              <a:t>Re-linearization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</a:pPr>
            <a:r>
              <a:rPr sz="2200" b="0" i="0">
                <a:solidFill>
                  <a:srgbClr val="666666"/>
                </a:solidFill>
                <a:latin typeface="Microsoft YaHei"/>
              </a:rPr>
              <a:t>核心创新 I: 重线性化 -- 从 LWE 构造 Somewhat HE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3657600" cy="27432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>
                <a:solidFill>
                  <a:srgbClr val="1B3A5C"/>
                </a:solidFill>
                <a:latin typeface="Microsoft YaHei"/>
              </a:rPr>
              <a:t>起点: Regev 的 LWE 加密方案 [STOC'05]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2743200" cy="36576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>
                <a:solidFill>
                  <a:srgbClr val="1B3A5C"/>
                </a:solidFill>
                <a:latin typeface="Microsoft YaHei"/>
              </a:rPr>
              <a:t>LWE (Learning With Errors) 假设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Consolas"/>
              </a:rPr>
              <a:t>给定 (ai, &lt;ai,s&gt; + ei), 区分其与均匀随机分布是困难的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Consolas"/>
              </a:rPr>
              <a:t>  ai in Z_q^n (均匀随机),  s in Z_q^n (秘密),  ei &lt;- chi (小噪声)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- LWE 的困难性 = 一般格上最坏情况的 Short Vector Problem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Consolas"/>
              </a:rPr>
              <a:t>  --&gt; 已知最优算法运行时间: exp(~O(n))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2801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>
                <a:solidFill>
                  <a:srgbClr val="1B3A5C"/>
                </a:solidFill>
                <a:latin typeface="Microsoft YaHei"/>
              </a:rPr>
              <a:t>Regev 加密方案 (单比特)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Consolas"/>
              </a:rPr>
              <a:t>Secret Key:  s in Z_q^n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Consolas"/>
              </a:rPr>
              <a:t>Enc(mu in {0,1}):  选择 a &lt;- Z_q^n, e &lt;- chi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000000"/>
                </a:solidFill>
                <a:latin typeface="Consolas"/>
              </a:rPr>
              <a:t>    c = (a,  b = &lt;a,s&gt; + 2e + mu)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Consolas"/>
              </a:rPr>
              <a:t>Dec(c):  b - &lt;a,s&gt; mod q = 2e + mu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Consolas"/>
              </a:rPr>
              <a:t>    再 mod 2 -&gt; mu  (e &lt;&lt; q, 2e 不干扰)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840480"/>
            <a:ext cx="10515600" cy="640080"/>
          </a:xfrm>
          <a:prstGeom prst="roundRect">
            <a:avLst/>
          </a:prstGeom>
          <a:solidFill>
            <a:srgbClr val="E8EC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000000"/>
                </a:solidFill>
                <a:latin typeface="Consolas"/>
              </a:rPr>
              <a:t>核心观察: 两个掩码互不干扰 -- 秘密掩码 &lt;a,s&gt; 和 偶数掩码 2e 可以依次消除!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1B3A5C"/>
                </a:solidFill>
                <a:latin typeface="Microsoft YaHei"/>
              </a:rPr>
              <a:t>解密视角的转换 -- 将密文看作关于密钥的线性函数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Consolas"/>
              </a:rPr>
              <a:t>定义: 对密文 c = (a,b), 考虑函数  f_{a,b}(x) = b - &lt;a,x&gt;  (mod q)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Consolas"/>
              </a:rPr>
              <a:t>那么解密就是: 在 x = s 处求值 f, 然后 mod 2 -&gt; mu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000000"/>
                </a:solidFill>
                <a:latin typeface="Consolas"/>
              </a:rPr>
              <a:t>即:  Dec(s, c) = f_{a,b}(s) mod 2 = (b - &lt;a,s&gt; mod q) mod 2 = mu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>
                <a:solidFill>
                  <a:srgbClr val="1B3A5C"/>
                </a:solidFill>
                <a:latin typeface="Microsoft YaHei"/>
              </a:rPr>
              <a:t>同态乘法难题: 从线性到二次的爆炸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2743200" cy="36576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029200" cy="5029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同态加法: 自然成立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>
                <a:solidFill>
                  <a:srgbClr val="000000"/>
                </a:solidFill>
                <a:latin typeface="Consolas"/>
              </a:rPr>
              <a:t>f_{a,b}(x) + f_{a',b'}(x)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Consolas"/>
              </a:rPr>
              <a:t>  = (b - &lt;a,x&gt;) + (b' - &lt;a',x&gt;)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Consolas"/>
              </a:rPr>
              <a:t>  = (b+b') - &lt;a+a', x&gt;</a:t>
            </a:r>
          </a:p>
          <a:p>
            <a:pPr algn="l">
              <a:lnSpc>
                <a:spcPts val="1800"/>
              </a:lnSpc>
            </a:pPr>
            <a:r>
              <a:rPr sz="1500" b="1" i="0">
                <a:solidFill>
                  <a:srgbClr val="27AE60"/>
                </a:solidFill>
                <a:latin typeface="Consolas"/>
              </a:rPr>
              <a:t>  = f_{a+a', b+b'}(x)    &lt;-- 仍是线性函数!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-&gt; 密文 (a+a', b+b') 解密得到 mu1+mu2  OK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371600"/>
            <a:ext cx="50292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同态乘法: 从线性到二次 -- 密文膨胀!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f1(x) * f2(x) = (b - &lt;a,x&gt;)(b' - &lt;a',x&gt;)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展开后得到: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C0392B"/>
                </a:solidFill>
                <a:latin typeface="Consolas"/>
              </a:rPr>
              <a:t>  phi(x) = h0 + Sum_i hi*x[i] + Sum_{ij} hij*x[i]x[j]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C0392B"/>
                </a:solidFill>
                <a:latin typeface="Microsoft YaHei"/>
              </a:rPr>
              <a:t>  ^^^^ 二次项! 不再是线性函数!</a:t>
            </a:r>
          </a:p>
          <a:p>
            <a:pPr algn="l">
              <a:lnSpc>
                <a:spcPts val="719"/>
              </a:lnSpc>
            </a:pPr>
            <a:r>
              <a:rPr sz="6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500" b="1" i="0">
                <a:solidFill>
                  <a:srgbClr val="C0392B"/>
                </a:solidFill>
                <a:latin typeface="Microsoft YaHei"/>
              </a:rPr>
              <a:t>密文大小:  n+1  --&gt;  ~n^2/2  个系数  (爆炸!!)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-&gt; 一次乘法后密文就膨胀到不可用 [GHV10]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663440"/>
            <a:ext cx="10515600" cy="1463040"/>
          </a:xfrm>
          <a:prstGeom prst="roundRect">
            <a:avLst/>
          </a:prstGeom>
          <a:solidFill>
            <a:srgbClr val="E8EC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000000"/>
                </a:solidFill>
                <a:latin typeface="Consolas"/>
              </a:rPr>
              <a:t>核心矛盾:                                                                  
  同态加法 -&gt; 线性 + 线性 = 线性           OK    自然支持                     
  同态乘法 -&gt; 线性 * 线性 = 二次多项式      FAIL  密文从 O(n) 膨胀为 O(n^2)   
  ============================================================               
  问题: 如何在做乘法时, 把二次密文压缩回线性?                                
  答案: Re-linearization (重线性化) -- 本论文的第一个核心创新!              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>
                <a:solidFill>
                  <a:srgbClr val="1B3A5C"/>
                </a:solidFill>
                <a:latin typeface="Microsoft YaHei"/>
              </a:rPr>
              <a:t>Re-linearization (重线性化) 技术详解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2743200" cy="36576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</a:pPr>
            <a:r>
              <a:rPr sz="1600" b="1" i="0">
                <a:solidFill>
                  <a:srgbClr val="1B3A5C"/>
                </a:solidFill>
                <a:latin typeface="Microsoft YaHei"/>
              </a:rPr>
              <a:t>核心思想: 发布二次项在旧密钥下的伪加密 -&gt; 在新密钥下将其视为线性组合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3291840" cy="45720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Step 1: 密钥链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生成 L+1 层密钥: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000000"/>
                </a:solidFill>
                <a:latin typeface="Consolas"/>
              </a:rPr>
              <a:t>  s0, s1, s2, ..., sL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Consolas"/>
              </a:rPr>
              <a:t>每个密钥 s_ell in Z_q^n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Microsoft YaHei"/>
              </a:rPr>
              <a:t>支持 L 层乘法运算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011680"/>
            <a:ext cx="3291840" cy="45720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Step 2: 发布辅助参数 Psi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56032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对于所有 i,j in [n], tau in [log q]: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000000"/>
                </a:solidFill>
                <a:latin typeface="Consolas"/>
              </a:rPr>
              <a:t>b_{ell,i,j,tau} = &lt;a, s_ell&gt; + 2e</a:t>
            </a:r>
          </a:p>
          <a:p>
            <a:pPr algn="l">
              <a:lnSpc>
                <a:spcPts val="1560"/>
              </a:lnSpc>
            </a:pPr>
            <a:r>
              <a:rPr sz="1300" b="1" i="0">
                <a:solidFill>
                  <a:srgbClr val="000000"/>
                </a:solidFill>
                <a:latin typeface="Consolas"/>
              </a:rPr>
              <a:t>    + 2^tau * s_{ell-1}[i] * s_{ell-1}[j]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Microsoft YaHei"/>
              </a:rPr>
              <a:t>称为伪加密 (pseudo-encryption)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2011680"/>
            <a:ext cx="3383280" cy="45720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Step 3: 重线性化运算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56032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000000"/>
                </a:solidFill>
                <a:latin typeface="Consolas"/>
              </a:rPr>
              <a:t>2^tau * s[i]s[j] = b - &lt;a, s_ell&gt;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Consolas"/>
              </a:rPr>
              <a:t>因此 Sum hij * s[i]s[j]</a:t>
            </a:r>
          </a:p>
          <a:p>
            <a:pPr algn="l">
              <a:lnSpc>
                <a:spcPts val="1560"/>
              </a:lnSpc>
            </a:pPr>
            <a:r>
              <a:rPr sz="1300" b="1" i="0">
                <a:solidFill>
                  <a:srgbClr val="2C5F8A"/>
                </a:solidFill>
                <a:latin typeface="Consolas"/>
              </a:rPr>
              <a:t>  = Sum hij,tau * (b - &lt;a, s_ell&gt;)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27AE60"/>
                </a:solidFill>
                <a:latin typeface="Consolas"/>
              </a:rPr>
              <a:t>  = 线性函数 in s_ell 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206240"/>
            <a:ext cx="10515600" cy="2011680"/>
          </a:xfrm>
          <a:prstGeom prst="roundRect">
            <a:avLst/>
          </a:prstGeom>
          <a:solidFill>
            <a:srgbClr val="E8EC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000000"/>
                </a:solidFill>
                <a:latin typeface="Consolas"/>
              </a:rPr>
              <a:t>重线性化的效果:                                                             
  输入:  两个密文 (a,b) 和 (a',b'), 对应密钥 s_{ell-1}, 明文 mu, mu'        
         (它们代表的线性函数 f, f' 的乘积是二次函数 phi)                     
  输出:  一个新密文 (a*, b*), 对应密钥 s_ell, 明文 mu * mu'                 
         (它代表的线性函数 f* 在 s_ell 上等于 phi 在 s_{ell-1} 上的值)       
  关键代价: 每个乘法层需要发布 O(n^2 log q) 个辅助参数                       
  &gt;&gt; 参数的二进制分解 (h_{ij,tau} in {0,1}) 控制噪声增长                   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>
                <a:solidFill>
                  <a:srgbClr val="1B3A5C"/>
                </a:solidFill>
                <a:latin typeface="Microsoft YaHei"/>
              </a:rPr>
              <a:t>Re-linearization: 成就与局限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2743200" cy="36576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</a:pPr>
            <a:r>
              <a:rPr sz="2200" b="1" i="0">
                <a:solidFill>
                  <a:srgbClr val="27AE60"/>
                </a:solidFill>
                <a:latin typeface="Microsoft YaHei"/>
              </a:rPr>
              <a:t>[OK] 取得的突破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920"/>
              </a:lnSpc>
            </a:pPr>
            <a:r>
              <a:rPr sz="1600" b="1" i="0">
                <a:solidFill>
                  <a:srgbClr val="1B3A5C"/>
                </a:solidFill>
                <a:latin typeface="Microsoft YaHei"/>
              </a:rPr>
              <a:t>1. 从标准 LWE 构造出 Somewhat HE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666666"/>
                </a:solidFill>
                <a:latin typeface="Microsoft YaHei"/>
              </a:rPr>
              <a:t>   --&gt; 摆脱了对理想格的依赖!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666666"/>
                </a:solidFill>
                <a:latin typeface="Microsoft YaHei"/>
              </a:rPr>
              <a:t>   --&gt; 安全性仅基于一般格的最坏情况困难性</a:t>
            </a:r>
          </a:p>
          <a:p>
            <a:pPr algn="l">
              <a:lnSpc>
                <a:spcPts val="960"/>
              </a:lnSpc>
            </a:pPr>
            <a:r>
              <a:rPr sz="8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920"/>
              </a:lnSpc>
            </a:pPr>
            <a:r>
              <a:rPr sz="1600" b="1" i="0">
                <a:solidFill>
                  <a:srgbClr val="1B3A5C"/>
                </a:solidFill>
                <a:latin typeface="Microsoft YaHei"/>
              </a:rPr>
              <a:t>2. 支持多项式深度的同态运算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Consolas"/>
              </a:rPr>
              <a:t>   * 乘法深度 L = epsilon * log n (0&lt;epsilon&lt;1)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Consolas"/>
              </a:rPr>
              <a:t>   * 等价于可评估度数 D = n^epsilon 的多项式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   * 密文大小始终保持 O(n) 不变</a:t>
            </a:r>
          </a:p>
          <a:p>
            <a:pPr algn="l">
              <a:lnSpc>
                <a:spcPts val="960"/>
              </a:lnSpc>
            </a:pPr>
            <a:r>
              <a:rPr sz="8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920"/>
              </a:lnSpc>
            </a:pPr>
            <a:r>
              <a:rPr sz="1600" b="1" i="0">
                <a:solidFill>
                  <a:srgbClr val="1B3A5C"/>
                </a:solidFill>
                <a:latin typeface="Microsoft YaHei"/>
              </a:rPr>
              <a:t>3. 技术通用性强 -- 密钥切换 (Key Switching) 的雏形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   --&gt; 后续工作 (BGV, GSW, CKKS...) 广泛使用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3716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</a:pPr>
            <a:r>
              <a:rPr sz="2200" b="1" i="0">
                <a:solidFill>
                  <a:srgbClr val="E67E22"/>
                </a:solidFill>
                <a:latin typeface="Microsoft YaHei"/>
              </a:rPr>
              <a:t>[WARNING] 仍存在的局限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920"/>
              </a:lnSpc>
            </a:pPr>
            <a:r>
              <a:rPr sz="1600" b="1" i="0">
                <a:solidFill>
                  <a:srgbClr val="1B3A5C"/>
                </a:solidFill>
                <a:latin typeface="Microsoft YaHei"/>
              </a:rPr>
              <a:t>这个方案还只是 Somewhat HE: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500" b="0" i="0">
                <a:solidFill>
                  <a:srgbClr val="333333"/>
                </a:solidFill>
                <a:latin typeface="Microsoft YaHei"/>
              </a:rPr>
              <a:t>* 同态运算深度受限于参数 n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666666"/>
                </a:solidFill>
                <a:latin typeface="Microsoft YaHei"/>
              </a:rPr>
              <a:t>  --&gt; 无法评估任意深度的电路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500" b="0" i="0">
                <a:solidFill>
                  <a:srgbClr val="333333"/>
                </a:solidFill>
                <a:latin typeface="Microsoft YaHei"/>
              </a:rPr>
              <a:t>* 要变成 FHE, 必须能 Bootstrapping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500" b="0" i="0">
                <a:solidFill>
                  <a:srgbClr val="333333"/>
                </a:solidFill>
                <a:latin typeface="Microsoft YaHei"/>
              </a:rPr>
              <a:t>* 解密电路复杂度:</a:t>
            </a:r>
          </a:p>
          <a:p>
            <a:pPr algn="l">
              <a:lnSpc>
                <a:spcPts val="1800"/>
              </a:lnSpc>
            </a:pPr>
            <a:r>
              <a:rPr sz="1500" b="1" i="0">
                <a:solidFill>
                  <a:srgbClr val="C0392B"/>
                </a:solidFill>
                <a:latin typeface="Consolas"/>
              </a:rPr>
              <a:t>  degree = max(n, log q)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666666"/>
                </a:solidFill>
                <a:latin typeface="Consolas"/>
              </a:rPr>
              <a:t>  但方案只能支持 degree = n^epsilon</a:t>
            </a:r>
          </a:p>
          <a:p>
            <a:pPr algn="l">
              <a:lnSpc>
                <a:spcPts val="1800"/>
              </a:lnSpc>
            </a:pPr>
            <a:r>
              <a:rPr sz="1500" b="1" i="0">
                <a:solidFill>
                  <a:srgbClr val="C0392B"/>
                </a:solidFill>
                <a:latin typeface="Microsoft YaHei"/>
              </a:rPr>
              <a:t>  --&gt; n^epsilon &lt;&lt; max(n, log q)  不能自举!</a:t>
            </a:r>
          </a:p>
          <a:p>
            <a:pPr algn="l">
              <a:lnSpc>
                <a:spcPts val="960"/>
              </a:lnSpc>
            </a:pPr>
            <a:r>
              <a:rPr sz="8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920"/>
              </a:lnSpc>
            </a:pPr>
            <a:r>
              <a:rPr sz="1600" b="1" i="0">
                <a:solidFill>
                  <a:srgbClr val="2C5F8A"/>
                </a:solidFill>
                <a:latin typeface="Microsoft YaHei"/>
              </a:rPr>
              <a:t>需要新工具来缩小解密电路的复杂度...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0" i="0">
                <a:solidFill>
                  <a:srgbClr val="2C5F8A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>
                <a:solidFill>
                  <a:srgbClr val="1B3A5C"/>
                </a:solidFill>
                <a:latin typeface="Calibri"/>
              </a:rPr>
              <a:t>Dimension-Modulus Reduction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</a:pPr>
            <a:r>
              <a:rPr sz="2200" b="0" i="0">
                <a:solidFill>
                  <a:srgbClr val="666666"/>
                </a:solidFill>
                <a:latin typeface="Microsoft YaHei"/>
              </a:rPr>
              <a:t>核心创新 II: 维度-模缩减 -- 去掉 Squashing 实现 Bootstrapping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3657600" cy="27432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>
                <a:solidFill>
                  <a:srgbClr val="1B3A5C"/>
                </a:solidFill>
                <a:latin typeface="Microsoft YaHei"/>
              </a:rPr>
              <a:t>Bootstrapping 的瓶颈与解决思路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2743200" cy="36576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>
                <a:solidFill>
                  <a:srgbClr val="C0392B"/>
                </a:solidFill>
                <a:latin typeface="Microsoft YaHei"/>
              </a:rPr>
              <a:t>瓶颈分析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Bootstrapping 需要方案能够同态评估自身的解密电路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解密操作: d = b - &lt;a,s&gt; (mod q), 然后 mod 2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写成关于 s 的多项式 (将 s 的每个比特视为变量):</a:t>
            </a:r>
          </a:p>
          <a:p>
            <a:pPr algn="l">
              <a:lnSpc>
                <a:spcPts val="1800"/>
              </a:lnSpc>
            </a:pPr>
            <a:r>
              <a:rPr sz="1500" b="1" i="0">
                <a:solidFill>
                  <a:srgbClr val="C0392B"/>
                </a:solidFill>
                <a:latin typeface="Consolas"/>
              </a:rPr>
              <a:t>  degree &gt;= max(n, log q)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Consolas"/>
              </a:rPr>
              <a:t>  (n 来自内积, log q 来自模约简)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但 Somewhat HE 只能支持 degree = n^epsilon (epsilon&lt;1)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C0392B"/>
                </a:solidFill>
                <a:latin typeface="Microsoft YaHei"/>
              </a:rPr>
              <a:t>-&gt; max(n, log q) &gt;&gt; n^epsilon  无法满足自举条件!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3716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>
                <a:solidFill>
                  <a:srgbClr val="1B3A5C"/>
                </a:solidFill>
                <a:latin typeface="Microsoft YaHei"/>
              </a:rPr>
              <a:t>两种解决路径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920"/>
              </a:lnSpc>
            </a:pPr>
            <a:r>
              <a:rPr sz="1600" b="1" i="0">
                <a:solidFill>
                  <a:srgbClr val="666666"/>
                </a:solidFill>
                <a:latin typeface="Microsoft YaHei"/>
              </a:rPr>
              <a:t>路径 A: Squashing (Gentry'09)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* 在公钥中加入关于私钥的提示信息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* 人为降低解密多项式的次数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C0392B"/>
                </a:solidFill>
                <a:latin typeface="Microsoft YaHei"/>
              </a:rPr>
              <a:t>* [FAIL] 引入稀疏子集和假设</a:t>
            </a:r>
          </a:p>
          <a:p>
            <a:pPr algn="l">
              <a:lnSpc>
                <a:spcPts val="960"/>
              </a:lnSpc>
            </a:pPr>
            <a:r>
              <a:rPr sz="8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920"/>
              </a:lnSpc>
            </a:pPr>
            <a:r>
              <a:rPr sz="1600" b="1" i="0">
                <a:solidFill>
                  <a:srgbClr val="2C5F8A"/>
                </a:solidFill>
                <a:latin typeface="Microsoft YaHei"/>
              </a:rPr>
              <a:t>路径 B: Dimension-Modulus Reduction (本文)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* 将密文从大参数 (n,q) 转换到小参数 (k,p)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* 小参数下解密多项式的 degree 显著降低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27AE60"/>
                </a:solidFill>
                <a:latin typeface="Microsoft YaHei"/>
              </a:rPr>
              <a:t>* [OK] 不需要任何额外假设!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27AE60"/>
                </a:solidFill>
                <a:latin typeface="Microsoft YaHei"/>
              </a:rPr>
              <a:t>* [OK] 密文变短, 一举两得!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46320"/>
            <a:ext cx="10515600" cy="1645920"/>
          </a:xfrm>
          <a:prstGeom prst="roundRect">
            <a:avLst/>
          </a:prstGeom>
          <a:solidFill>
            <a:srgbClr val="E8EC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000000"/>
                </a:solidFill>
                <a:latin typeface="Consolas"/>
              </a:rPr>
              <a:t>参数转换示意:                                                              
  原密文:   维度 n (大, 如 n = k^4),  模数 q (大, 如 q = 2^(sqrt(n)))       
                                       |  Dimension-Modulus Reduction        
  新密文:   维度 k (小, = 安全参数),  模数 p (小, p = poly(k))              
  效果:  max(n, log q)  --&gt;  max(k, log p)   (后者小得多, 可被同态评估!)  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>
                <a:solidFill>
                  <a:srgbClr val="1B3A5C"/>
                </a:solidFill>
                <a:latin typeface="Microsoft YaHei"/>
              </a:rPr>
              <a:t>维度-模缩减技术详解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2743200" cy="36576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>
                <a:solidFill>
                  <a:srgbClr val="1B3A5C"/>
                </a:solidFill>
                <a:latin typeface="Microsoft YaHei"/>
              </a:rPr>
              <a:t>核心思路: 利用密钥切换 (Key Switching) + 缩放近似, 将密文参数 (n, q) 降到 (k, p)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5029200" cy="45720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Step 1: 维度缩减 (n -&gt; 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回顾 Re-linearization 的思想: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可以将对 s (n维) 的密文转换为对 t 的密文</a:t>
            </a:r>
          </a:p>
          <a:p>
            <a:pPr algn="l">
              <a:lnSpc>
                <a:spcPts val="600"/>
              </a:lnSpc>
            </a:pPr>
            <a:r>
              <a:rPr sz="5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这次我们选择新的短密钥:</a:t>
            </a:r>
          </a:p>
          <a:p>
            <a:pPr algn="l">
              <a:lnSpc>
                <a:spcPts val="1800"/>
              </a:lnSpc>
            </a:pPr>
            <a:r>
              <a:rPr sz="1500" b="1" i="0">
                <a:solidFill>
                  <a:srgbClr val="000000"/>
                </a:solidFill>
                <a:latin typeface="Consolas"/>
              </a:rPr>
              <a:t>  s_hat in Z_p^k   (k &lt;&lt; n)</a:t>
            </a:r>
          </a:p>
          <a:p>
            <a:pPr algn="l">
              <a:lnSpc>
                <a:spcPts val="600"/>
              </a:lnSpc>
            </a:pPr>
            <a:r>
              <a:rPr sz="5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2C5F8A"/>
                </a:solidFill>
                <a:latin typeface="Microsoft YaHei"/>
              </a:rPr>
              <a:t>关键: s 和 s_hat 的维度不需要相同!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  --&gt; Re-linearization 过程照样工作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Consolas"/>
              </a:rPr>
              <a:t>  --&gt; 从 (n, log q) 降到 (k, log 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2011680"/>
            <a:ext cx="5029200" cy="45720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Step 2: 模缩减 (q -&gt; 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5603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将 Z_q 中的元素缩放到 Z_p:</a:t>
            </a:r>
          </a:p>
          <a:p>
            <a:pPr algn="l">
              <a:lnSpc>
                <a:spcPts val="600"/>
              </a:lnSpc>
            </a:pPr>
            <a:r>
              <a:rPr sz="5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000000"/>
                </a:solidFill>
                <a:latin typeface="Consolas"/>
              </a:rPr>
              <a:t>scale(x) = round((p/q) * x)  (四舍五入)</a:t>
            </a:r>
          </a:p>
          <a:p>
            <a:pPr algn="l">
              <a:lnSpc>
                <a:spcPts val="600"/>
              </a:lnSpc>
            </a:pPr>
            <a:r>
              <a:rPr sz="5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用于辅助参数的构造: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b_hat_{i,tau} = &lt;a_hat_{i,tau}, s_hat&gt; + e_hat</a:t>
            </a:r>
          </a:p>
          <a:p>
            <a:pPr algn="l">
              <a:lnSpc>
                <a:spcPts val="1560"/>
              </a:lnSpc>
            </a:pPr>
            <a:r>
              <a:rPr sz="1300" b="1" i="0">
                <a:solidFill>
                  <a:srgbClr val="2C5F8A"/>
                </a:solidFill>
                <a:latin typeface="Consolas"/>
              </a:rPr>
              <a:t>    + round((p/q) * 2^tau * s_L[i])</a:t>
            </a:r>
          </a:p>
          <a:p>
            <a:pPr algn="l">
              <a:lnSpc>
                <a:spcPts val="600"/>
              </a:lnSpc>
            </a:pPr>
            <a:r>
              <a:rPr sz="5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缩放引入的舍入误差 &lt;= 1/2, 在噪声预算内可控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46320"/>
            <a:ext cx="10515600" cy="1645920"/>
          </a:xfrm>
          <a:prstGeom prst="roundRect">
            <a:avLst/>
          </a:prstGeom>
          <a:solidFill>
            <a:srgbClr val="E8EC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000000"/>
                </a:solidFill>
                <a:latin typeface="Consolas"/>
              </a:rPr>
              <a:t>维度-模缩减的完整效果:                                                     
  输入密文:  c in Z_q^n x Z_q   参数 (n, log q)    解密degree = max(n, log q)
       |  应用 Psi_hat 中的辅助参数, 进行一次密钥切换+缩放                   
  输出密文:  c_hat in Z_p^k x Z_p   参数 (k, log p)  解密degree = max(k, log p)
  选 k = poly(kappa), p = poly(k) -&gt; max(k, log p) 很小 -&gt; 解密可被同态评估!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>
                <a:solidFill>
                  <a:srgbClr val="1B3A5C"/>
                </a:solidFill>
                <a:latin typeface="Microsoft YaHei"/>
              </a:rPr>
              <a:t>BTS 方案完整构造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2743200" cy="36576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</a:pPr>
            <a:r>
              <a:rPr sz="1600" b="1" i="0">
                <a:solidFill>
                  <a:srgbClr val="1B3A5C"/>
                </a:solidFill>
                <a:latin typeface="Calibri"/>
              </a:rPr>
              <a:t>BTS.KeyGen(1^kappa) -&gt; (pk, evk, sk)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Consolas"/>
              </a:rPr>
              <a:t>1. 采样长密钥链: s0,...,sL &lt;- Z_q^n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2. 生成重线性化参数 Psi: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Consolas"/>
              </a:rPr>
              <a:t>   对于 ell in [L], i&lt;=j&lt;=n, tau in [log q]: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   b_{ell,i,j,tau} = &lt;a, s_ell&gt; + 2e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     + 2^tau * s_{ell-1}[i] * s_{ell-1}[j]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Consolas"/>
              </a:rPr>
              <a:t>3. 采样短密钥: s_hat &lt;- Z_p^k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4. 生成维度-模缩减桥接参数 Psi_hat: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Consolas"/>
              </a:rPr>
              <a:t>   对于 i in [n], tau in [log q]: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   b_hat_{i,tau} = &lt;a_hat, s_hat&gt; + e_hat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     + round((p/q) * 2^tau * s_L[i])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Consolas"/>
              </a:rPr>
              <a:t>5. 公钥: A &lt;- Z_q^{m*n}, b = A*s0 + 2e</a:t>
            </a:r>
          </a:p>
          <a:p>
            <a:pPr algn="l">
              <a:lnSpc>
                <a:spcPts val="1560"/>
              </a:lnSpc>
            </a:pPr>
            <a:r>
              <a:rPr sz="1300" b="1" i="0">
                <a:solidFill>
                  <a:srgbClr val="1B3A5C"/>
                </a:solidFill>
                <a:latin typeface="Consolas"/>
              </a:rPr>
              <a:t>6. 输出: pk=(A,b), evk=(Psi,Psi_hat), sk=s_hat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3716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</a:pPr>
            <a:r>
              <a:rPr sz="1600" b="1" i="0">
                <a:solidFill>
                  <a:srgbClr val="1B3A5C"/>
                </a:solidFill>
                <a:latin typeface="Calibri"/>
              </a:rPr>
              <a:t>BTS.Enc(pk, mu):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Consolas"/>
              </a:rPr>
              <a:t>  选取 r &lt;- {0,1}^m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v = A^T * r,  w = b^T * r + mu</a:t>
            </a:r>
          </a:p>
          <a:p>
            <a:pPr algn="l">
              <a:lnSpc>
                <a:spcPts val="1560"/>
              </a:lnSpc>
            </a:pPr>
            <a:r>
              <a:rPr sz="1300" b="1" i="0">
                <a:solidFill>
                  <a:srgbClr val="1B3A5C"/>
                </a:solidFill>
                <a:latin typeface="Consolas"/>
              </a:rPr>
              <a:t>  输出: c = ((v,w), tag=0)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920"/>
              </a:lnSpc>
            </a:pPr>
            <a:r>
              <a:rPr sz="1600" b="1" i="0">
                <a:solidFill>
                  <a:srgbClr val="1B3A5C"/>
                </a:solidFill>
                <a:latin typeface="Calibri"/>
              </a:rPr>
              <a:t>BTS.Dec(s_hat, c_hat=(v_hat,w_hat)):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mu* = (w_hat - &lt;v_hat,s_hat&gt; mod p) mod 2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920"/>
              </a:lnSpc>
            </a:pPr>
            <a:r>
              <a:rPr sz="1600" b="1" i="0">
                <a:solidFill>
                  <a:srgbClr val="1B3A5C"/>
                </a:solidFill>
                <a:latin typeface="Calibri"/>
              </a:rPr>
              <a:t>BTS.Eval(evk, f, c1,...,ct):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  Gate-by-gate 同态评估电路 f</a:t>
            </a:r>
          </a:p>
          <a:p>
            <a:pPr algn="l">
              <a:lnSpc>
                <a:spcPts val="1560"/>
              </a:lnSpc>
            </a:pPr>
            <a:r>
              <a:rPr sz="1300" b="1" i="0">
                <a:solidFill>
                  <a:srgbClr val="2C5F8A"/>
                </a:solidFill>
                <a:latin typeface="Microsoft YaHei"/>
              </a:rPr>
              <a:t>  最后一步: 维度-模缩减</a:t>
            </a:r>
          </a:p>
          <a:p>
            <a:pPr algn="l">
              <a:lnSpc>
                <a:spcPts val="1560"/>
              </a:lnSpc>
            </a:pPr>
            <a:r>
              <a:rPr sz="1300" b="1" i="0">
                <a:solidFill>
                  <a:srgbClr val="27AE60"/>
                </a:solidFill>
                <a:latin typeface="Consolas"/>
              </a:rPr>
              <a:t>  输出: c_hat in Z_p^k x Z_p (短密文!)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029200"/>
            <a:ext cx="10515600" cy="1280160"/>
          </a:xfrm>
          <a:prstGeom prst="roundRect">
            <a:avLst/>
          </a:prstGeom>
          <a:solidFill>
            <a:srgbClr val="E8EC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000000"/>
                </a:solidFill>
                <a:latin typeface="Consolas"/>
              </a:rPr>
              <a:t>同态评估的核心不变量 (Invariant):                                          
  对于任意 tag=ell 的密文 c = ((v,w), ell), 始终满足:                       
      w - &lt;v, s_ell&gt; = mu + 2*e  (mod q)                                    
  其中 mu 是明文, e 是小噪声。解密正确性依赖于 |e| &lt; q/4。                 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>
                <a:solidFill>
                  <a:srgbClr val="1B3A5C"/>
                </a:solidFill>
                <a:latin typeface="Microsoft YaHei"/>
              </a:rPr>
              <a:t>同态加法与乘法的详细过程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2743200" cy="36576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27AE60"/>
                </a:solidFill>
                <a:latin typeface="Microsoft YaHei"/>
              </a:rPr>
              <a:t>同态加法 Gate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333333"/>
                </a:solidFill>
                <a:latin typeface="Consolas"/>
              </a:rPr>
              <a:t>输入: c1=((v1,w1),ell), ..., ct=((vt,wt),ell)</a:t>
            </a:r>
          </a:p>
          <a:p>
            <a:pPr algn="l">
              <a:lnSpc>
                <a:spcPts val="1560"/>
              </a:lnSpc>
            </a:pPr>
            <a:r>
              <a:rPr sz="1300" b="1" i="0">
                <a:solidFill>
                  <a:srgbClr val="000000"/>
                </a:solidFill>
                <a:latin typeface="Consolas"/>
              </a:rPr>
              <a:t>输出: c_add = ((Sum vi, Sum wi), ell)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1B3A5C"/>
                </a:solidFill>
                <a:latin typeface="Microsoft YaHei"/>
              </a:rPr>
              <a:t>验证不变量: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333333"/>
                </a:solidFill>
                <a:latin typeface="Consolas"/>
              </a:rPr>
              <a:t>  (Sum wi) - &lt;Sum vi, s_ell&gt; = Sum(wi - &lt;vi, s_ell&gt;)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  = Sum(mu_i + 2e_i) = (Sum mu_i) + 2(Sum e_i)  OK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27AE60"/>
                </a:solidFill>
                <a:latin typeface="Microsoft YaHei"/>
              </a:rPr>
              <a:t>-&gt; 噪声线性增长, 完全可控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C0392B"/>
                </a:solidFill>
                <a:latin typeface="Microsoft YaHei"/>
              </a:rPr>
              <a:t>同态乘法 Gate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320"/>
              </a:lnSpc>
            </a:pPr>
            <a:r>
              <a:rPr sz="1100" b="0" i="0">
                <a:solidFill>
                  <a:srgbClr val="333333"/>
                </a:solidFill>
                <a:latin typeface="Consolas"/>
              </a:rPr>
              <a:t>输入: c=((v,w),ell), c'=((v',w'),ell)  [同层级]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1B3A5C"/>
                </a:solidFill>
                <a:latin typeface="Consolas"/>
              </a:rPr>
              <a:t>Step 1: 构造二次型 Phi(x) = (w-&lt;v,x&gt;)(w'-&lt;v',x&gt;)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  = Sum_{i&lt;=j&lt;=n} h_{i,j} * x[i]x[j]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1B3A5C"/>
                </a:solidFill>
                <a:latin typeface="Consolas"/>
              </a:rPr>
              <a:t>Step 2: 比特分解 h_{i,j} = Sum_tau h_{i,j,tau} * 2^tau</a:t>
            </a:r>
          </a:p>
          <a:p>
            <a:pPr algn="l">
              <a:lnSpc>
                <a:spcPts val="132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  -&gt; h_{i,j,tau} in {0,1}, 控制噪声增长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1B3A5C"/>
                </a:solidFill>
                <a:latin typeface="Microsoft YaHei"/>
              </a:rPr>
              <a:t>Step 3: 用 Psi 中参数重线性化: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  v_mult = Sum h_{i,j,tau} * a_{ell+1,i,j,tau}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  w_mult = Sum h_{i,j,tau} * b_{ell+1,i,j,tau}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439"/>
              </a:lnSpc>
            </a:pPr>
            <a:r>
              <a:rPr sz="1200" b="1" i="0">
                <a:solidFill>
                  <a:srgbClr val="2C5F8A"/>
                </a:solidFill>
                <a:latin typeface="Consolas"/>
              </a:rPr>
              <a:t>输出: c_mult = ((v_mult, w_mult), ell+1)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27AE60"/>
                </a:solidFill>
                <a:latin typeface="Microsoft YaHei"/>
              </a:rPr>
              <a:t>-&gt; 解密得到 mu*mu' + 2e_mult  OK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46320"/>
            <a:ext cx="10515600" cy="1371600"/>
          </a:xfrm>
          <a:prstGeom prst="roundRect">
            <a:avLst/>
          </a:prstGeom>
          <a:solidFill>
            <a:srgbClr val="E8EC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000000"/>
                </a:solidFill>
                <a:latin typeface="Consolas"/>
              </a:rPr>
              <a:t>最后一步 -- 维度-模缩减 (在电路顶层 ell=L 执行):                            
  phi(x) = round((p/q)*((q+1)/2)*(w - &lt;v,x&gt;))  mod p                       
  v_hat = 2 * Sum h_{i,tau} * a_hat_{i,tau}  mod p                         
  w_hat = 2 * Sum h_{i,tau} * b_hat_{i,tau}  mod p                         
  输出 c_hat = (v_hat, w_hat) in Z_p^k x Z_p -- k+1 个元素, 每元素 log p 比特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>
                <a:solidFill>
                  <a:srgbClr val="1B3A5C"/>
                </a:solidFill>
                <a:latin typeface="Microsoft YaHei"/>
              </a:rPr>
              <a:t>Bootstrapping 达成与安全性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2743200" cy="36576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1B3A5C"/>
                </a:solidFill>
                <a:latin typeface="Microsoft YaHei"/>
              </a:rPr>
              <a:t>参数设置 (以运行示例说明)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Consolas"/>
              </a:rPr>
              <a:t>  k = kappa  (安全参数)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Consolas"/>
              </a:rPr>
              <a:t>  n = k^4  (长维度)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Consolas"/>
              </a:rPr>
              <a:t>  q = 2^(sqrt(n))  (大模数)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Consolas"/>
              </a:rPr>
              <a:t>  p = poly(k)  (小模数)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Consolas"/>
              </a:rPr>
              <a:t>  L = (1/3)log n = (4/3)log k  (乘法层数)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920"/>
              </a:lnSpc>
            </a:pPr>
            <a:r>
              <a:rPr sz="1600" b="1" i="0">
                <a:solidFill>
                  <a:srgbClr val="2C5F8A"/>
                </a:solidFill>
                <a:latin typeface="Microsoft YaHei"/>
              </a:rPr>
              <a:t>Bootstrapping 条件验证: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  * BTS 可评估深度 = n^epsilon = k^{c*epsilon} 的电路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Consolas"/>
              </a:rPr>
              <a:t>  * 解密电路深度 = O(log k + log log p)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27AE60"/>
                </a:solidFill>
                <a:latin typeface="Microsoft YaHei"/>
              </a:rPr>
              <a:t>  * 选取 c 足够大 -&gt; n^epsilon &gt; 解密电路深度  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3716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1B3A5C"/>
                </a:solidFill>
                <a:latin typeface="Microsoft YaHei"/>
              </a:rPr>
              <a:t>安全性分析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方案安全性基于两个 LWE 假设: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1B3A5C"/>
                </a:solidFill>
                <a:latin typeface="Consolas"/>
              </a:rPr>
              <a:t>1. DLWE_{n,q,chi}:  长参数下的 LWE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Microsoft YaHei"/>
              </a:rPr>
              <a:t>   用于公钥和重线性化参数的安全性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1B3A5C"/>
                </a:solidFill>
                <a:latin typeface="Consolas"/>
              </a:rPr>
              <a:t>2. DLWE_{k,p,chi_hat}:  短参数下的 LWE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Microsoft YaHei"/>
              </a:rPr>
              <a:t>   用于维度-模缩减桥接参数的安全性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虽然 k,p &lt;&lt; n,q, 但短参数方案不需要支持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同态运算, 因此可以使用更大的相对噪声,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使得两个假设的困难度相当。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2C5F8A"/>
                </a:solidFill>
                <a:latin typeface="Microsoft YaHei"/>
              </a:rPr>
              <a:t>-&gt; 仅依赖 LWE 假设 + 弱循环安全性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937760"/>
            <a:ext cx="10515600" cy="1371600"/>
          </a:xfrm>
          <a:prstGeom prst="roundRect">
            <a:avLst/>
          </a:prstGeom>
          <a:solidFill>
            <a:srgbClr val="E8EC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000000"/>
                </a:solidFill>
                <a:latin typeface="Consolas"/>
              </a:rPr>
              <a:t>定理 (Brakerski-Vaikuntanathan, FOCS 2011):                               
  基于 DLWE_{n,q,chi} + DLWE_{k,p,chi_hat} 假设, BTS 是可自举的加密方案。  
  应用 Gentry 的自举定理 --&gt; 得到 Leveled FHE。                             
  (若额外假设弱循环安全 --&gt; 得到纯 FHE, 可评估任意深度电路)                 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0" i="0">
                <a:solidFill>
                  <a:srgbClr val="2C5F8A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>
                <a:solidFill>
                  <a:srgbClr val="1B3A5C"/>
                </a:solidFill>
                <a:latin typeface="Calibri"/>
              </a:rPr>
              <a:t>Application: Near-Optimal PIR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</a:pPr>
            <a:r>
              <a:rPr sz="2200" b="0" i="0">
                <a:solidFill>
                  <a:srgbClr val="666666"/>
                </a:solidFill>
                <a:latin typeface="Microsoft YaHei"/>
              </a:rPr>
              <a:t>应用: 近最优私有信息检索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3657600" cy="27432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>
                <a:solidFill>
                  <a:srgbClr val="1B3A5C"/>
                </a:solidFill>
                <a:latin typeface="Microsoft YaHei"/>
              </a:rPr>
              <a:t>从短密文到高效私有信息检索 (PIR)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2743200" cy="36576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1B3A5C"/>
                </a:solidFill>
                <a:latin typeface="Microsoft YaHei"/>
              </a:rPr>
              <a:t>PIR 问题设定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* 发送方持有大型数据库 DB (大小 N)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* 接收方想查询第 i 条记录, 但不泄露 i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1B3A5C"/>
                </a:solidFill>
                <a:latin typeface="Microsoft YaHei"/>
              </a:rPr>
              <a:t>* 目标: 通信复杂度远小于 O(N)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666666"/>
                </a:solidFill>
                <a:latin typeface="Consolas"/>
              </a:rPr>
              <a:t>  最优目标: polylog(N)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500" b="1" i="0">
                <a:solidFill>
                  <a:srgbClr val="1B3A5C"/>
                </a:solidFill>
                <a:latin typeface="Microsoft YaHei"/>
              </a:rPr>
              <a:t>FHE -&gt; PIR 的朴素方法: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  1. 接收方加密索引: Enc(i)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  2. 发送方同态评估 DB 访问函数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  3. 发送方返回 Enc(DB[i])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C0392B"/>
                </a:solidFill>
                <a:latin typeface="Microsoft YaHei"/>
              </a:rPr>
              <a:t>  问题: 需要逐比特加密索引 -&gt; O(log^2 N) 通信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3716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2C5F8A"/>
                </a:solidFill>
                <a:latin typeface="Microsoft YaHei"/>
              </a:rPr>
              <a:t>本文的改进策略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1. 用对称加密 (短密文) 加密查询索引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27AE60"/>
                </a:solidFill>
                <a:latin typeface="Microsoft YaHei"/>
              </a:rPr>
              <a:t>   -&gt; 查询复杂度: O(log N) 比特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2. 将对称密钥用 FHE 加密放在公钥中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   -&gt; 发送方可自行转换为同态密文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3. BTS 的密文非常短: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000000"/>
                </a:solidFill>
                <a:latin typeface="Consolas"/>
              </a:rPr>
              <a:t>   |c_hat| = (k+1) log p = O(k log k) 比特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27AE60"/>
                </a:solidFill>
                <a:latin typeface="Microsoft YaHei"/>
              </a:rPr>
              <a:t>   -&gt; 响应复杂度: log N * polyloglog N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500" b="1" i="0">
                <a:solidFill>
                  <a:srgbClr val="2C5F8A"/>
                </a:solidFill>
                <a:latin typeface="Microsoft YaHei"/>
              </a:rPr>
              <a:t>结果: 首个基于 LWE 的多对数级 PIR!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通信复杂度接近理论下界 log 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46320"/>
            <a:ext cx="10515600" cy="1371600"/>
          </a:xfrm>
          <a:prstGeom prst="roundRect">
            <a:avLst/>
          </a:prstGeom>
          <a:solidFill>
            <a:srgbClr val="E8EC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000000"/>
                </a:solidFill>
                <a:latin typeface="Consolas"/>
              </a:rPr>
              <a:t>通信复杂度对比 (单比特查询, 公钥模型):                                     
  朴素 FHE-PIR:     O(log^2 N)                                               
  Gentry's SWHE:    O(log^3 N)                                               
  本文方案:          O(log N * polyloglog N)  &lt;-- 近最优!                    
  理论下界:          Omega(log N)                                             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>
                <a:solidFill>
                  <a:srgbClr val="1B3A5C"/>
                </a:solidFill>
                <a:latin typeface="Microsoft YaHei"/>
              </a:rPr>
              <a:t>总结: 主要贡献与影响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2743200" cy="36576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5029200" cy="5943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贡献 1: Re-linearization 技术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27AE60"/>
                </a:solidFill>
                <a:latin typeface="Microsoft YaHei"/>
              </a:rPr>
              <a:t>[OK] 在标准 LWE 假设上构造 Somewhat HE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  --&gt; 摆脱了对理想格 (Ideal Lattices) 的依赖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27AE60"/>
                </a:solidFill>
                <a:latin typeface="Microsoft YaHei"/>
              </a:rPr>
              <a:t>[OK] 新范式: 密钥切换 (Key Switching)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  --&gt; 将二次密文压回线性, 控制尺寸增长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27AE60"/>
                </a:solidFill>
                <a:latin typeface="Microsoft YaHei"/>
              </a:rPr>
              <a:t>[OK] 成为后续所有主流FHE方案的核心组件: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  BGV [Brakerski-Gentry-V. 2014]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  GSW [Gentry-Sahai-Waters 2013]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  CKKS [Cheon-Kim-Kim-Song 2017]</a:t>
            </a:r>
          </a:p>
          <a:p>
            <a:pPr algn="l">
              <a:lnSpc>
                <a:spcPts val="1439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  TFHE [Chillotti-Gama-Georgieva-Izabachene 2016]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463040"/>
            <a:ext cx="5029200" cy="5943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贡献 2: Dimension-Modulus Reduction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14884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27AE60"/>
                </a:solidFill>
                <a:latin typeface="Microsoft YaHei"/>
              </a:rPr>
              <a:t>[OK] 替代 Gentry 的 Squashing 范式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  --&gt; 去掉稀疏子集和 (Sparse Subset-Sum) 假设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27AE60"/>
                </a:solidFill>
                <a:latin typeface="Microsoft YaHei"/>
              </a:rPr>
              <a:t>[OK] 实现纯 LWE 假设上的 Bootstrapping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  --&gt; 通过缩减解密电路参数来满足自举条件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27AE60"/>
                </a:solidFill>
                <a:latin typeface="Microsoft YaHei"/>
              </a:rPr>
              <a:t>[OK] 额外收获: 非常短的密文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  --&gt; 直接推动近最优 PIR 协议的构造</a:t>
            </a:r>
          </a:p>
          <a:p>
            <a:pPr algn="l">
              <a:lnSpc>
                <a:spcPts val="1680"/>
              </a:lnSpc>
            </a:pPr>
            <a:r>
              <a:rPr sz="1400" b="1" i="0">
                <a:solidFill>
                  <a:srgbClr val="27AE60"/>
                </a:solidFill>
                <a:latin typeface="Microsoft YaHei"/>
              </a:rPr>
              <a:t>[OK] 维度-模缩减 -&gt; 模数切换 (Modulus Switching)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  --&gt; 同样被后续工作广泛采用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1B3A5C"/>
                </a:solidFill>
                <a:latin typeface="Microsoft YaHei"/>
              </a:rPr>
              <a:t>开放问题与后续方向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* 循环安全性 (Circular Security): 要获得纯FHE需要额外的循环安全假设, 能否去掉?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* 常数摊销通信的 PIR: 本文实现了 logN*polyloglogN, 能否降到 O(log N) 甚至常数摊销?</a:t>
            </a:r>
          </a:p>
          <a:p>
            <a:pPr algn="l">
              <a:lnSpc>
                <a:spcPts val="156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* 实际效率: 参数仍然很大 (n=k^4), 如何进一步缩小以实用化? -&gt; 后续 BGV, GSW, CKKS 等工作逐步推进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sz="4000" b="1" i="0">
                <a:solidFill>
                  <a:srgbClr val="1B3A5C"/>
                </a:solidFill>
                <a:latin typeface="Calibri"/>
              </a:rPr>
              <a:t>Thank You!  -  感谢聆听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286000" y="4389120"/>
            <a:ext cx="7589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</a:pPr>
            <a:r>
              <a:rPr sz="1600" b="0" i="0">
                <a:solidFill>
                  <a:srgbClr val="666666"/>
                </a:solidFill>
                <a:latin typeface="Calibri"/>
              </a:rPr>
              <a:t>Efficient Fully Homomorphic Encryption from (Standard) LWE</a:t>
            </a:r>
          </a:p>
          <a:p>
            <a:pPr algn="ctr">
              <a:lnSpc>
                <a:spcPts val="1680"/>
              </a:lnSpc>
            </a:pPr>
            <a:r>
              <a:rPr sz="1400" b="0" i="0">
                <a:solidFill>
                  <a:srgbClr val="666666"/>
                </a:solidFill>
                <a:latin typeface="Calibri"/>
              </a:rPr>
              <a:t>Brakerski &amp; Vaikuntanathan - FOCS 2011</a:t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l">
              <a:lnSpc>
                <a:spcPts val="1680"/>
              </a:lnSpc>
            </a:pPr>
            <a:r>
              <a:rPr sz="1400" b="0" i="0">
                <a:solidFill>
                  <a:srgbClr val="000000"/>
                </a:solidFill>
                <a:latin typeface="Microsoft YaHei"/>
              </a:rPr>
              <a:t/>
            </a:r>
          </a:p>
          <a:p>
            <a:pPr algn="ctr">
              <a:lnSpc>
                <a:spcPts val="2640"/>
              </a:lnSpc>
            </a:pPr>
            <a:r>
              <a:rPr sz="2200" b="1" i="0">
                <a:solidFill>
                  <a:srgbClr val="2C5F8A"/>
                </a:solidFill>
                <a:latin typeface="Calibr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</TotalTime>
  <Words>1227</Words>
  <Application>Microsoft Office PowerPoint</Application>
  <PresentationFormat>宽屏</PresentationFormat>
  <Paragraphs>408</Paragraphs>
  <Slides>17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0" baseType="lpstr">
      <vt:lpstr>-apple-system</vt:lpstr>
      <vt:lpstr>AvantGarde Md BT</vt:lpstr>
      <vt:lpstr>Inter</vt:lpstr>
      <vt:lpstr>ui-sans-serif</vt:lpstr>
      <vt:lpstr>等线</vt:lpstr>
      <vt:lpstr>等线 Light</vt:lpstr>
      <vt:lpstr>黑体</vt:lpstr>
      <vt:lpstr>华文行楷</vt:lpstr>
      <vt:lpstr>宋体</vt:lpstr>
      <vt:lpstr>微软雅黑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轩麟 刘</dc:creator>
  <cp:lastModifiedBy>轩麟 刘</cp:lastModifiedBy>
  <cp:revision>5</cp:revision>
  <dcterms:created xsi:type="dcterms:W3CDTF">2025-12-03T07:50:29Z</dcterms:created>
  <dcterms:modified xsi:type="dcterms:W3CDTF">2025-12-03T13:12:08Z</dcterms:modified>
</cp:coreProperties>
</file>