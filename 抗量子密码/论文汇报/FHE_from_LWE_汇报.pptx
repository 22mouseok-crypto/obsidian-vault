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71" r:id="rId3"/>
    <p:sldId id="275" r:id="rId4"/>
    <p:sldId id="281" r:id="rId5"/>
    <p:sldId id="276" r:id="rId6"/>
    <p:sldId id="282" r:id="rId7"/>
    <p:sldId id="277" r:id="rId8"/>
    <p:sldId id="283" r:id="rId9"/>
    <p:sldId id="278" r:id="rId10"/>
    <p:sldId id="284" r:id="rId11"/>
    <p:sldId id="287" r:id="rId12"/>
    <p:sldId id="288" r:id="rId13"/>
    <p:sldId id="279" r:id="rId14"/>
    <p:sldId id="285" r:id="rId15"/>
    <p:sldId id="280" r:id="rId16"/>
    <p:sldId id="286" r:id="rId17"/>
    <p:sldId id="26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4B183"/>
    <a:srgbClr val="F7E1ED"/>
    <a:srgbClr val="A4A0B7"/>
    <a:srgbClr val="856699"/>
    <a:srgbClr val="EFF4FC"/>
    <a:srgbClr val="D9E8FC"/>
    <a:srgbClr val="AFE3E6"/>
    <a:srgbClr val="A8D18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62296-9383-4CE2-B089-9B1D81D14FA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EBF4B-D0C4-48FE-9E7C-4D60AB4D0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38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CFE3-B1A9-2263-63ED-BD995CE4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502005-8BCD-12CC-DE87-7A47C4A86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2B1634-046C-0DDE-D7CC-02D5A81B6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84D4A8-FCC1-A9D0-536C-77AE5B837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4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2AF15-E79C-C0BA-6A66-8C44AD3B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0C90FB-C669-F719-CE4C-E44CD3096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894C11-1071-80CA-F84D-04A7F0303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1DDAAD-E138-7158-C6EB-825EF2296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919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2D6C-1E46-CF8D-7D53-24C5F0F3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9E59AB-19AB-29C8-B65B-DB511D6EF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FB8C3E-3823-7A9D-F28D-B4D363692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125B9E-2212-BA43-2AA1-AE1EC5616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44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7BBEE-5D36-E7E4-E26D-F77C72D2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78029A-42CA-37BF-BC26-ECBFC82AE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D323FC-44BB-45A1-3075-29C4693FA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7EAAA-F870-CA78-BC8D-7BD65C4ED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435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A6A4-3884-4B81-B215-A6C72C45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B07D48-CE61-02CE-98BB-828419FD4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3771D7-89F5-B8DF-F899-536FA0ED3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006D47-CA6D-EF06-C193-C54ED5AF0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4156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947FD-F5D5-C7EC-9E4A-DAA14F71B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5FE92A-2724-118A-5B6E-C29B19E6F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862A92-ACCF-1D3D-8485-50AD3C76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01DB5E-5B48-0E8B-F307-DC9B249F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5CBDD-B5A2-5598-23BD-2393154E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31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22A9B-E633-03AC-18AA-6BADC975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05E11-651D-A9B2-79D4-7241E7A2F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C2773-5310-4B91-CFC7-681ADCBF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6B453-015C-A37D-32F3-A470B531F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B4E8AA-D9E8-3C50-C0B0-664472D0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15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9A0E6-03DE-A7C8-36D2-BF82CB01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BD5CDC-2DEA-8EFC-9CAF-353F44335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6E76A7-2057-C391-92A8-477CC2DB8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948630-873B-3FC8-5625-02EE6EAC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433FD-0785-1B49-B444-F0E7F9BA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12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7AB8D-5FB8-5708-2F12-5FB38899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FE0D82-1FAC-09DF-9C32-E5C6327BD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7AF59A-BC31-86E2-4661-4338F3A5B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EA9611-78BB-1DD6-3E97-ABBE2C05C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00D176-9EBE-0D8A-0577-DF838CB6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C59194-597D-246A-68EC-B5815F4B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93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1F9F6-5EEF-058E-C000-D614671F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8CA2FC-AF04-1B71-AEFF-4F62DA4CA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E8FA7E-C192-4398-4776-80CF5D15A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7D9C4E-4FEF-3C1C-193B-37E1F1F42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EC3300-58A6-EC80-D18B-0972C39AF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4FCA1F-CA7A-A8DB-F897-39055ADF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483C87-61E7-5139-70F8-96B97061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F5EB3F-6BCE-43E9-B93F-C36F92EB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34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0121E-DC8B-E646-0B15-F815032D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BDCE0D-D8A6-D412-1C51-07EE3223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B191B5-F41B-767E-FAA9-8582AD47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C69216-8B08-D69B-0576-ED9FD5E1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403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C56CE3-9DBC-780B-4D61-48F0F6C4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89AF25-2395-A35B-121A-C1441007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A4F959-964F-982C-80FE-6CC0BB29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8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B4442-C7A7-887F-5CE5-080874F3D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D1E77-5EE0-719B-A507-E3119D304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74E068-3BFE-FA02-A2FA-1378363A7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2DC7B8-24F3-B9A4-7CF2-361B7B2F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986256-2492-D598-024B-51BD64D8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DCDEAF-CA6F-0BE6-E26A-EEF2BE2D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94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C698D-4C50-C221-4739-DDA1E45F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193976-F69E-9A83-F405-338014EB7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248DE5-E712-F5F1-476B-180A8019D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40D8D7-210D-8103-6CA6-9552B233A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914829-B618-3BF2-BA91-DFA417C4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060273-73E6-E034-07FE-5F8C9C61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40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374E2-9C5E-35D5-C8DA-DB9732E9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29ACD6-C635-637C-2F43-74DE0F0F1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B67DB-9D00-35C6-222C-BBBF56A0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7E320-3063-4A6E-6D94-019D8819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5EC1A0-D965-8FF0-7317-6B68761C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03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F93C66-CE1F-C411-021E-0B18D4923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49AFB9-28DA-9B9A-1F94-2B14EB419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6E14FC-8E6F-790B-48C0-9331355CA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6B459-FDB4-01A9-75C9-1A4D4D98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03E370-3EA6-4DA3-C26A-6CD8ACE8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F4A75A-A297-2E66-C246-F6521D21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469017-6CE4-1C87-C85C-8B197FCF3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60CB54-67AF-D77D-A7F3-0847616AB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02529-00B6-44C0-6DAB-7A500FBE8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4E703-E3A2-3C29-07B5-615775F46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60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656C7FCF-B7B5-E962-98B5-FE3828D7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022995"/>
              </p:ext>
            </p:extLst>
          </p:nvPr>
        </p:nvGraphicFramePr>
        <p:xfrm>
          <a:off x="0" y="1797590"/>
          <a:ext cx="12192000" cy="1958201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201">
                <a:tc>
                  <a:txBody>
                    <a:bodyPr/>
                    <a:lstStyle/>
                    <a:p>
                      <a:pPr marL="3300095" algn="ctr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endParaRPr lang="en-US" sz="1000" b="0" kern="1200" spc="0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009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endParaRPr lang="en-US" sz="1000" b="0" kern="1200" spc="0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312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 </a:t>
                      </a:r>
                      <a:endParaRPr sz="28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CFE4211-051C-D560-8E14-33E38C5D55AA}"/>
              </a:ext>
            </a:extLst>
          </p:cNvPr>
          <p:cNvSpPr txBox="1"/>
          <p:nvPr/>
        </p:nvSpPr>
        <p:spPr>
          <a:xfrm>
            <a:off x="3966470" y="4106923"/>
            <a:ext cx="4977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Zvika Brakerski (Weizmann)  |  Vinod Vaikuntanathan (U. Toronto)
FOCS 2011  |  抗量子密码组会汇报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Microsoft YaHei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Microsoft YaHei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pic>
        <p:nvPicPr>
          <p:cNvPr id="1026" name="Picture 2" descr="南开大学_中外合作办学网">
            <a:extLst>
              <a:ext uri="{FF2B5EF4-FFF2-40B4-BE49-F238E27FC236}">
                <a16:creationId xmlns:a16="http://schemas.microsoft.com/office/drawing/2014/main" id="{A5AD16BF-AA31-D415-E2F3-E07DE8854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698"/>
            <a:ext cx="2700242" cy="77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南开大学·校训">
            <a:extLst>
              <a:ext uri="{FF2B5EF4-FFF2-40B4-BE49-F238E27FC236}">
                <a16:creationId xmlns:a16="http://schemas.microsoft.com/office/drawing/2014/main" id="{859394AE-3839-AE58-EA95-DEC383E89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6D510AC-071C-0E63-161E-DCE903F531F5}"/>
              </a:ext>
            </a:extLst>
          </p:cNvPr>
          <p:cNvSpPr txBox="1"/>
          <p:nvPr/>
        </p:nvSpPr>
        <p:spPr>
          <a:xfrm>
            <a:off x="2507530" y="1837971"/>
            <a:ext cx="702296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1B3A5C"/>
                </a:solidFill>
                <a:latin typeface="Calibri"/>
              </a:rPr>
              <a:t>Efficient Fully Homomorphic Encryption
from (Standard) LWE</a:t>
            </a:r>
          </a:p>
          <a:p>
            <a:pPr algn="ctr"/>
          </a:p>
          <a:p>
            <a:pPr algn="ctr"/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15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01</a:t>
              </a: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2330019" y="2805015"/>
            <a:ext cx="4922823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1B3A5C"/>
                </a:solidFill>
                <a:latin typeface="Calibri"/>
              </a:rPr>
              <a:t>Background &amp; Motivation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antGarde Md BT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Part 1 - 研究背景与动机</a:t>
            </a:r>
          </a:p>
        </p:txBody>
      </p:sp>
      <p:pic>
        <p:nvPicPr>
          <p:cNvPr id="12" name="图片 11" descr="D:\360MoveData\Users\xiaoxiao\Desktop\微信图片_20230609200656.png微信图片_2023060920065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729E0-9888-DEC5-01AA-2F553F97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35F4D319-24A3-EA08-D959-B99DC984C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B5BE810C-C520-9E1E-B767-04C5BF01351A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BBD079A-783B-34D0-20B3-D2A38465AEF3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EDEB7BA-638B-CF18-1CA1-15C3D7AB0478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3E1C575-1AD4-70D8-4CD8-BFE3459B37FA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E442AFD-2FB9-BD6D-4C58-E5898635E5F0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0F34B0B1-0EA5-CC12-78FD-EF84FAAC36C9}"/>
                </a:ext>
              </a:extLst>
            </p:cNvPr>
            <p:cNvSpPr txBox="1"/>
            <p:nvPr/>
          </p:nvSpPr>
          <p:spPr>
            <a:xfrm>
              <a:off x="1163452" y="260648"/>
              <a:ext cx="3792770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什么是全同态加密 (FHE) ?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AC00A4C7-EACF-280D-FB91-FF4303779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612700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5" name="组合 54">
            <a:extLst>
              <a:ext uri="{FF2B5EF4-FFF2-40B4-BE49-F238E27FC236}">
                <a16:creationId xmlns:a16="http://schemas.microsoft.com/office/drawing/2014/main" id="{ED989DCD-B79C-A6E2-4C04-204B8EE8FD41}"/>
              </a:ext>
            </a:extLst>
          </p:cNvPr>
          <p:cNvGrpSpPr/>
          <p:nvPr/>
        </p:nvGrpSpPr>
        <p:grpSpPr>
          <a:xfrm>
            <a:off x="2900304" y="1289845"/>
            <a:ext cx="8497946" cy="3783794"/>
            <a:chOff x="2900304" y="1289845"/>
            <a:chExt cx="8497946" cy="3783794"/>
          </a:xfrm>
        </p:grpSpPr>
        <p:pic>
          <p:nvPicPr>
            <p:cNvPr id="13" name="图形 12" descr="用户 纯色填充">
              <a:extLst>
                <a:ext uri="{FF2B5EF4-FFF2-40B4-BE49-F238E27FC236}">
                  <a16:creationId xmlns:a16="http://schemas.microsoft.com/office/drawing/2014/main" id="{E2C5BF59-FF81-23F0-99E3-247FF376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0304" y="2972881"/>
              <a:ext cx="914400" cy="914400"/>
            </a:xfrm>
            <a:prstGeom prst="rect">
              <a:avLst/>
            </a:prstGeom>
          </p:spPr>
        </p:pic>
        <p:pic>
          <p:nvPicPr>
            <p:cNvPr id="14" name="图形 13" descr="用户 纯色填充">
              <a:extLst>
                <a:ext uri="{FF2B5EF4-FFF2-40B4-BE49-F238E27FC236}">
                  <a16:creationId xmlns:a16="http://schemas.microsoft.com/office/drawing/2014/main" id="{68A5D415-D351-5406-06CC-0A2429608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0304" y="2131363"/>
              <a:ext cx="914400" cy="914400"/>
            </a:xfrm>
            <a:prstGeom prst="rect">
              <a:avLst/>
            </a:prstGeom>
          </p:spPr>
        </p:pic>
        <p:pic>
          <p:nvPicPr>
            <p:cNvPr id="15" name="图形 14" descr="用户 纯色填充">
              <a:extLst>
                <a:ext uri="{FF2B5EF4-FFF2-40B4-BE49-F238E27FC236}">
                  <a16:creationId xmlns:a16="http://schemas.microsoft.com/office/drawing/2014/main" id="{793ABDA7-77E3-A243-2D11-1CF1D7EAA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0304" y="3814400"/>
              <a:ext cx="914400" cy="914400"/>
            </a:xfrm>
            <a:prstGeom prst="rect">
              <a:avLst/>
            </a:prstGeom>
          </p:spPr>
        </p:pic>
        <p:pic>
          <p:nvPicPr>
            <p:cNvPr id="16" name="图形 15" descr="用户 纯色填充">
              <a:extLst>
                <a:ext uri="{FF2B5EF4-FFF2-40B4-BE49-F238E27FC236}">
                  <a16:creationId xmlns:a16="http://schemas.microsoft.com/office/drawing/2014/main" id="{E70623A0-D7FA-D12F-944E-F7F6AD79A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0304" y="1289845"/>
              <a:ext cx="914400" cy="914400"/>
            </a:xfrm>
            <a:prstGeom prst="rect">
              <a:avLst/>
            </a:prstGeom>
          </p:spPr>
        </p:pic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C2714D1-EC5F-26B6-632F-2278B0339329}"/>
                </a:ext>
              </a:extLst>
            </p:cNvPr>
            <p:cNvCxnSpPr>
              <a:cxnSpLocks/>
            </p:cNvCxnSpPr>
            <p:nvPr/>
          </p:nvCxnSpPr>
          <p:spPr>
            <a:xfrm>
              <a:off x="3814704" y="1797050"/>
              <a:ext cx="1265296" cy="9428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5FA6DE02-0FBB-4B85-C726-43758DE6D81B}"/>
                </a:ext>
              </a:extLst>
            </p:cNvPr>
            <p:cNvCxnSpPr>
              <a:cxnSpLocks/>
            </p:cNvCxnSpPr>
            <p:nvPr/>
          </p:nvCxnSpPr>
          <p:spPr>
            <a:xfrm>
              <a:off x="3743208" y="2690306"/>
              <a:ext cx="1233501" cy="2258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356496AC-3A65-7E63-5D71-C79914154A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9454" y="3125281"/>
              <a:ext cx="1257255" cy="3037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B00BE944-7ED3-6F16-B057-337F5CBC9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9454" y="3380076"/>
              <a:ext cx="1290696" cy="9170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DCD54E1-9198-2EF7-5DD3-ACE329FA161E}"/>
                </a:ext>
              </a:extLst>
            </p:cNvPr>
            <p:cNvSpPr txBox="1"/>
            <p:nvPr/>
          </p:nvSpPr>
          <p:spPr>
            <a:xfrm rot="2291414">
              <a:off x="4128428" y="1984854"/>
              <a:ext cx="1147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742521B2-23D6-3D9A-A5DF-7A89F213107B}"/>
                </a:ext>
              </a:extLst>
            </p:cNvPr>
            <p:cNvSpPr/>
            <p:nvPr/>
          </p:nvSpPr>
          <p:spPr>
            <a:xfrm>
              <a:off x="5043126" y="2551174"/>
              <a:ext cx="1562626" cy="999837"/>
            </a:xfrm>
            <a:prstGeom prst="ellipse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Scheduler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546DBD29-50F3-A7EB-B7F9-4A79F2896CE7}"/>
                </a:ext>
              </a:extLst>
            </p:cNvPr>
            <p:cNvSpPr/>
            <p:nvPr/>
          </p:nvSpPr>
          <p:spPr>
            <a:xfrm>
              <a:off x="7789759" y="1452205"/>
              <a:ext cx="3608491" cy="3621434"/>
            </a:xfrm>
            <a:prstGeom prst="round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箭头: 右 33">
              <a:extLst>
                <a:ext uri="{FF2B5EF4-FFF2-40B4-BE49-F238E27FC236}">
                  <a16:creationId xmlns:a16="http://schemas.microsoft.com/office/drawing/2014/main" id="{B01F9992-B7A4-85E8-1BFC-E2B9B5665952}"/>
                </a:ext>
              </a:extLst>
            </p:cNvPr>
            <p:cNvSpPr/>
            <p:nvPr/>
          </p:nvSpPr>
          <p:spPr>
            <a:xfrm>
              <a:off x="6648886" y="2890928"/>
              <a:ext cx="983814" cy="309667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82270B-F9D1-5000-A926-0F953CE0AA2D}"/>
                </a:ext>
              </a:extLst>
            </p:cNvPr>
            <p:cNvSpPr txBox="1"/>
            <p:nvPr/>
          </p:nvSpPr>
          <p:spPr>
            <a:xfrm>
              <a:off x="6594313" y="2555215"/>
              <a:ext cx="11454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Dispatch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103F748-4792-BA64-1489-E17733601588}"/>
                </a:ext>
              </a:extLst>
            </p:cNvPr>
            <p:cNvGrpSpPr/>
            <p:nvPr/>
          </p:nvGrpSpPr>
          <p:grpSpPr>
            <a:xfrm>
              <a:off x="8074389" y="1657692"/>
              <a:ext cx="1294190" cy="1376164"/>
              <a:chOff x="8096250" y="1669599"/>
              <a:chExt cx="1294190" cy="1376164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8957DC28-84FE-EC53-760C-588756F8B289}"/>
                  </a:ext>
                </a:extLst>
              </p:cNvPr>
              <p:cNvSpPr/>
              <p:nvPr/>
            </p:nvSpPr>
            <p:spPr>
              <a:xfrm>
                <a:off x="8096250" y="1669599"/>
                <a:ext cx="1294190" cy="1376164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4DC1B12-9A20-4CE5-A753-9670380DCEDF}"/>
                  </a:ext>
                </a:extLst>
              </p:cNvPr>
              <p:cNvSpPr/>
              <p:nvPr/>
            </p:nvSpPr>
            <p:spPr>
              <a:xfrm>
                <a:off x="8223250" y="1797050"/>
                <a:ext cx="1019233" cy="748794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A49BB2F-D1E5-6B9D-CE6F-FF379940CC21}"/>
                  </a:ext>
                </a:extLst>
              </p:cNvPr>
              <p:cNvSpPr txBox="1"/>
              <p:nvPr/>
            </p:nvSpPr>
            <p:spPr>
              <a:xfrm>
                <a:off x="8198643" y="2460986"/>
                <a:ext cx="10684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</a:t>
                </a:r>
              </a:p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8251541-5C43-9678-EEF3-AA751A1217DE}"/>
                </a:ext>
              </a:extLst>
            </p:cNvPr>
            <p:cNvGrpSpPr/>
            <p:nvPr/>
          </p:nvGrpSpPr>
          <p:grpSpPr>
            <a:xfrm>
              <a:off x="8059540" y="3161307"/>
              <a:ext cx="1294190" cy="1376164"/>
              <a:chOff x="8096250" y="1669599"/>
              <a:chExt cx="1294190" cy="1376164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8B31955D-BF01-6536-0CFF-C67A5C28C9B4}"/>
                  </a:ext>
                </a:extLst>
              </p:cNvPr>
              <p:cNvSpPr/>
              <p:nvPr/>
            </p:nvSpPr>
            <p:spPr>
              <a:xfrm>
                <a:off x="8096250" y="1669599"/>
                <a:ext cx="1294190" cy="1376164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28564C9F-5495-4C44-0EF6-B112F5FB0B3C}"/>
                  </a:ext>
                </a:extLst>
              </p:cNvPr>
              <p:cNvSpPr/>
              <p:nvPr/>
            </p:nvSpPr>
            <p:spPr>
              <a:xfrm>
                <a:off x="8223250" y="1797050"/>
                <a:ext cx="1019233" cy="748794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ECABC57-B4D3-9347-C6C9-68B87FFCE2F0}"/>
                  </a:ext>
                </a:extLst>
              </p:cNvPr>
              <p:cNvSpPr txBox="1"/>
              <p:nvPr/>
            </p:nvSpPr>
            <p:spPr>
              <a:xfrm>
                <a:off x="8198643" y="2460986"/>
                <a:ext cx="10684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</a:t>
                </a:r>
              </a:p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1730ED3E-973D-FC92-6B37-6D9B8DA58491}"/>
                </a:ext>
              </a:extLst>
            </p:cNvPr>
            <p:cNvGrpSpPr/>
            <p:nvPr/>
          </p:nvGrpSpPr>
          <p:grpSpPr>
            <a:xfrm>
              <a:off x="9803394" y="3182626"/>
              <a:ext cx="1294190" cy="1376164"/>
              <a:chOff x="8096250" y="1669599"/>
              <a:chExt cx="1294190" cy="1376164"/>
            </a:xfrm>
          </p:grpSpPr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235C1832-0A2C-2BF2-A0B0-CF8BBCD79148}"/>
                  </a:ext>
                </a:extLst>
              </p:cNvPr>
              <p:cNvSpPr/>
              <p:nvPr/>
            </p:nvSpPr>
            <p:spPr>
              <a:xfrm>
                <a:off x="8096250" y="1669599"/>
                <a:ext cx="1294190" cy="1376164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0A86FC45-D7A6-6024-333B-36B492873859}"/>
                  </a:ext>
                </a:extLst>
              </p:cNvPr>
              <p:cNvSpPr/>
              <p:nvPr/>
            </p:nvSpPr>
            <p:spPr>
              <a:xfrm>
                <a:off x="8223250" y="1797050"/>
                <a:ext cx="1019233" cy="748794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F92D8EC-97B2-142B-958A-299C259D026D}"/>
                  </a:ext>
                </a:extLst>
              </p:cNvPr>
              <p:cNvSpPr txBox="1"/>
              <p:nvPr/>
            </p:nvSpPr>
            <p:spPr>
              <a:xfrm>
                <a:off x="8198643" y="2460986"/>
                <a:ext cx="10684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</a:t>
                </a:r>
              </a:p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6D12C5F6-A2E6-B23E-E287-A23A93302982}"/>
                </a:ext>
              </a:extLst>
            </p:cNvPr>
            <p:cNvGrpSpPr/>
            <p:nvPr/>
          </p:nvGrpSpPr>
          <p:grpSpPr>
            <a:xfrm>
              <a:off x="9791427" y="1657692"/>
              <a:ext cx="1294190" cy="1376164"/>
              <a:chOff x="8096250" y="1669599"/>
              <a:chExt cx="1294190" cy="1376164"/>
            </a:xfrm>
          </p:grpSpPr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DC872B82-DC2B-D37A-BCAD-DC58BCA323FC}"/>
                  </a:ext>
                </a:extLst>
              </p:cNvPr>
              <p:cNvSpPr/>
              <p:nvPr/>
            </p:nvSpPr>
            <p:spPr>
              <a:xfrm>
                <a:off x="8096250" y="1669599"/>
                <a:ext cx="1294190" cy="1376164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7C25CD1-1371-7D7D-7F56-C778C3F780E0}"/>
                  </a:ext>
                </a:extLst>
              </p:cNvPr>
              <p:cNvSpPr/>
              <p:nvPr/>
            </p:nvSpPr>
            <p:spPr>
              <a:xfrm>
                <a:off x="8223250" y="1797050"/>
                <a:ext cx="1019233" cy="748794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F534C3A-FD68-E2E8-5B6E-09F9E807557D}"/>
                  </a:ext>
                </a:extLst>
              </p:cNvPr>
              <p:cNvSpPr txBox="1"/>
              <p:nvPr/>
            </p:nvSpPr>
            <p:spPr>
              <a:xfrm>
                <a:off x="8198643" y="2460986"/>
                <a:ext cx="10684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</a:t>
                </a:r>
              </a:p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52" name="图形 51">
              <a:extLst>
                <a:ext uri="{FF2B5EF4-FFF2-40B4-BE49-F238E27FC236}">
                  <a16:creationId xmlns:a16="http://schemas.microsoft.com/office/drawing/2014/main" id="{BA120222-00D8-F63C-E371-1DE042631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22375" y="4630492"/>
              <a:ext cx="371445" cy="371445"/>
            </a:xfrm>
            <a:prstGeom prst="rect">
              <a:avLst/>
            </a:prstGeom>
          </p:spPr>
        </p:pic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0F92BCC-3F9E-8427-4E1B-6F012B081EC3}"/>
                </a:ext>
              </a:extLst>
            </p:cNvPr>
            <p:cNvSpPr txBox="1"/>
            <p:nvPr/>
          </p:nvSpPr>
          <p:spPr>
            <a:xfrm>
              <a:off x="9864806" y="4632605"/>
              <a:ext cx="1147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GPU</a:t>
              </a:r>
              <a:r>
                <a:rPr lang="zh-CN" altLang="en-US" b="1" dirty="0"/>
                <a:t>集群</a:t>
              </a:r>
            </a:p>
          </p:txBody>
        </p:sp>
      </p:grpSp>
      <p:sp>
        <p:nvSpPr>
          <p:cNvPr id="54" name="爆炸形: 8 pt  53">
            <a:extLst>
              <a:ext uri="{FF2B5EF4-FFF2-40B4-BE49-F238E27FC236}">
                <a16:creationId xmlns:a16="http://schemas.microsoft.com/office/drawing/2014/main" id="{9C86E57D-DC9A-E624-103B-06D3AAF97498}"/>
              </a:ext>
            </a:extLst>
          </p:cNvPr>
          <p:cNvSpPr/>
          <p:nvPr/>
        </p:nvSpPr>
        <p:spPr>
          <a:xfrm>
            <a:off x="6084148" y="3241210"/>
            <a:ext cx="998315" cy="760779"/>
          </a:xfrm>
          <a:prstGeom prst="irregularSeal1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E86AF98-41A5-AF1C-7857-2ABD0044A8CF}"/>
              </a:ext>
            </a:extLst>
          </p:cNvPr>
          <p:cNvGrpSpPr/>
          <p:nvPr/>
        </p:nvGrpSpPr>
        <p:grpSpPr>
          <a:xfrm>
            <a:off x="2790464" y="5252774"/>
            <a:ext cx="6096000" cy="646331"/>
            <a:chOff x="2790464" y="5252774"/>
            <a:chExt cx="6096000" cy="646331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FC4615C-64DC-9563-B04D-98653994CB8F}"/>
                </a:ext>
              </a:extLst>
            </p:cNvPr>
            <p:cNvSpPr txBox="1"/>
            <p:nvPr/>
          </p:nvSpPr>
          <p:spPr>
            <a:xfrm>
              <a:off x="3080264" y="5252774"/>
              <a:ext cx="5806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受限于资源（如</a:t>
              </a:r>
              <a:r>
                <a:rPr lang="en-US" altLang="zh-CN" b="1" dirty="0"/>
                <a:t>GPU</a:t>
              </a:r>
              <a:r>
                <a:rPr lang="zh-CN" altLang="en-US" b="1" dirty="0"/>
                <a:t>内存），用户的请求需要被合理      调度，从而提供更高效的</a:t>
              </a:r>
              <a:r>
                <a:rPr lang="en-US" altLang="zh-CN" b="1" dirty="0"/>
                <a:t>LLM</a:t>
              </a:r>
              <a:r>
                <a:rPr lang="zh-CN" altLang="en-US" b="1" dirty="0"/>
                <a:t>服务，提升用户的体验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59C6B0FE-7B63-7135-2EAD-2D29275336B1}"/>
                </a:ext>
              </a:extLst>
            </p:cNvPr>
            <p:cNvSpPr txBox="1"/>
            <p:nvPr/>
          </p:nvSpPr>
          <p:spPr>
            <a:xfrm>
              <a:off x="2790464" y="5260113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256032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sz="2000" b="1">
                <a:solidFill>
                  <a:srgbClr val="1B3A5C"/>
                </a:solidFill>
                <a:latin typeface="Microsoft YaHei"/>
              </a:rPr>
              <a:t>核心定义</a:t>
            </a:r>
          </a:p>
          <a:p>
            <a:pPr>
              <a:lnSpc>
                <a:spcPts val="1040"/>
              </a:lnSpc>
            </a:pPr>
            <a:r>
              <a:rPr sz="8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950"/>
              </a:lnSpc>
            </a:pPr>
            <a:r>
              <a:rPr sz="1500" b="1">
                <a:solidFill>
                  <a:srgbClr val="000000"/>
                </a:solidFill>
                <a:latin typeface="Consolas"/>
              </a:rPr>
              <a:t>Enc(m1), Enc(m2)  --[ Eval(f) ]--&gt;  Enc(f(m1,m2))</a:t>
            </a:r>
          </a:p>
          <a:p>
            <a:pPr>
              <a:lnSpc>
                <a:spcPts val="1820"/>
              </a:lnSpc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在加密数据上执行任意计算，结果仍是密文</a:t>
            </a:r>
          </a:p>
          <a:p>
            <a:pPr>
              <a:lnSpc>
                <a:spcPts val="1040"/>
              </a:lnSpc>
            </a:pPr>
            <a:r>
              <a:rPr sz="8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密码学圣杯：1978年 Rivest-Adleman-Dertouzos 提出 → 2009年 Gentry 首个方案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应用：云计算隐私 / 加密数据库查询 / 私有信息检索(PIR) / 安全多方计算</a:t>
            </a:r>
          </a:p>
          <a:p>
            <a:pPr>
              <a:lnSpc>
                <a:spcPts val="1040"/>
              </a:lnSpc>
            </a:pPr>
            <a:r>
              <a:rPr sz="8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Gentry方案：基于理想格(Ideal Lattices) → 需要Squashing+稀疏子集和假设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本文目标：仅基于标准LWE假设构造FHE，去掉理想格和稀疏子集和依赖</a:t>
            </a:r>
          </a:p>
        </p:txBody>
      </p:sp>
    </p:spTree>
    <p:extLst>
      <p:ext uri="{BB962C8B-B14F-4D97-AF65-F5344CB8AC3E}">
        <p14:creationId xmlns:p14="http://schemas.microsoft.com/office/powerpoint/2010/main" val="24840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D4B3-9650-0C16-5589-E497895E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55E053AC-1B4C-E58C-F436-8C0A6BD3D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181A0AD-6691-381B-07A4-2FDADA362BC8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3F525D8-E804-4EA0-E8BC-0D99D8E2EEF6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8F21A5A-FFAB-C329-55BD-583B1D880E1F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2A84B21-7117-30D7-BC6B-2F8C39AA7974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942911C-C2F8-A00B-17FE-BDDFF1F412FA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1F6FB10E-F365-33AD-A589-29F5B0EDCE30}"/>
                </a:ext>
              </a:extLst>
            </p:cNvPr>
            <p:cNvSpPr txBox="1"/>
            <p:nvPr/>
          </p:nvSpPr>
          <p:spPr>
            <a:xfrm>
              <a:off x="1163452" y="260648"/>
              <a:ext cx="1919436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Gentry 的 Bootstrapping 蓝图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CF79ADFE-8E96-7930-8D1E-12E530AF5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622453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EDD3817F-139A-A25E-CB64-686223C46A05}"/>
              </a:ext>
            </a:extLst>
          </p:cNvPr>
          <p:cNvGrpSpPr/>
          <p:nvPr/>
        </p:nvGrpSpPr>
        <p:grpSpPr>
          <a:xfrm>
            <a:off x="2576268" y="1182630"/>
            <a:ext cx="4040432" cy="1843660"/>
            <a:chOff x="2576268" y="1182630"/>
            <a:chExt cx="4040432" cy="1843660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7657D274-9C91-CC24-CCBA-650258EA3F1B}"/>
                </a:ext>
              </a:extLst>
            </p:cNvPr>
            <p:cNvGrpSpPr/>
            <p:nvPr/>
          </p:nvGrpSpPr>
          <p:grpSpPr>
            <a:xfrm>
              <a:off x="2900304" y="1804630"/>
              <a:ext cx="3716396" cy="1221660"/>
              <a:chOff x="2900304" y="1804630"/>
              <a:chExt cx="3716396" cy="122166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DFA4C9F-1F4E-FEA7-15DE-7FA84704876C}"/>
                  </a:ext>
                </a:extLst>
              </p:cNvPr>
              <p:cNvSpPr/>
              <p:nvPr/>
            </p:nvSpPr>
            <p:spPr>
              <a:xfrm>
                <a:off x="2900304" y="1804630"/>
                <a:ext cx="1041400" cy="368300"/>
              </a:xfrm>
              <a:prstGeom prst="rect">
                <a:avLst/>
              </a:prstGeom>
              <a:solidFill>
                <a:srgbClr val="A8D1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9DD6B0B-F11C-840A-6FE0-E8E5DBE57C29}"/>
                  </a:ext>
                </a:extLst>
              </p:cNvPr>
              <p:cNvSpPr/>
              <p:nvPr/>
            </p:nvSpPr>
            <p:spPr>
              <a:xfrm>
                <a:off x="2900304" y="2231310"/>
                <a:ext cx="1041400" cy="368300"/>
              </a:xfrm>
              <a:prstGeom prst="rect">
                <a:avLst/>
              </a:prstGeom>
              <a:solidFill>
                <a:srgbClr val="A8D1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D23376D-2F86-A771-EC04-E60DAAB6FDD6}"/>
                  </a:ext>
                </a:extLst>
              </p:cNvPr>
              <p:cNvSpPr/>
              <p:nvPr/>
            </p:nvSpPr>
            <p:spPr>
              <a:xfrm>
                <a:off x="2900304" y="2657990"/>
                <a:ext cx="1041400" cy="368300"/>
              </a:xfrm>
              <a:prstGeom prst="rect">
                <a:avLst/>
              </a:prstGeom>
              <a:solidFill>
                <a:srgbClr val="A8D1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8FBDFDC9-0AAD-C931-C426-9F4C35BD51BE}"/>
                  </a:ext>
                </a:extLst>
              </p:cNvPr>
              <p:cNvSpPr/>
              <p:nvPr/>
            </p:nvSpPr>
            <p:spPr>
              <a:xfrm>
                <a:off x="5575300" y="1804630"/>
                <a:ext cx="1041400" cy="368300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BC04881-3FD7-C7B2-5AD7-9BBFCB8D3506}"/>
                  </a:ext>
                </a:extLst>
              </p:cNvPr>
              <p:cNvSpPr/>
              <p:nvPr/>
            </p:nvSpPr>
            <p:spPr>
              <a:xfrm>
                <a:off x="5575300" y="2231310"/>
                <a:ext cx="1041400" cy="368300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4F3821D-0150-B48C-A3E6-7324DDDBD0EA}"/>
                  </a:ext>
                </a:extLst>
              </p:cNvPr>
              <p:cNvSpPr/>
              <p:nvPr/>
            </p:nvSpPr>
            <p:spPr>
              <a:xfrm>
                <a:off x="5575300" y="2657990"/>
                <a:ext cx="1041400" cy="368300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0B79F155-6429-90F1-E8B1-85959636754E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941704" y="2415460"/>
                <a:ext cx="41439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EE5100EE-4660-9749-83BE-B1D3775A22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0904" y="2417920"/>
                <a:ext cx="41439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图形 20">
                <a:extLst>
                  <a:ext uri="{FF2B5EF4-FFF2-40B4-BE49-F238E27FC236}">
                    <a16:creationId xmlns:a16="http://schemas.microsoft.com/office/drawing/2014/main" id="{402C379A-A68C-1EC3-13A5-4677317D4C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411903" y="2080855"/>
                <a:ext cx="669210" cy="669210"/>
              </a:xfrm>
              <a:prstGeom prst="rect">
                <a:avLst/>
              </a:prstGeom>
            </p:spPr>
          </p:pic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9B068A8-EED4-9A98-2323-F4AA3EAF4607}"/>
                </a:ext>
              </a:extLst>
            </p:cNvPr>
            <p:cNvSpPr txBox="1"/>
            <p:nvPr/>
          </p:nvSpPr>
          <p:spPr>
            <a:xfrm>
              <a:off x="2900304" y="1182630"/>
              <a:ext cx="332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传统</a:t>
              </a:r>
              <a:r>
                <a:rPr lang="en-US" altLang="zh-CN" sz="2400" b="1" dirty="0"/>
                <a:t>DNN</a:t>
              </a:r>
              <a:r>
                <a:rPr lang="zh-CN" altLang="en-US" sz="2400" b="1" dirty="0"/>
                <a:t>模型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ED40128-06FC-4C04-CE0F-425D7810C88E}"/>
                </a:ext>
              </a:extLst>
            </p:cNvPr>
            <p:cNvSpPr txBox="1"/>
            <p:nvPr/>
          </p:nvSpPr>
          <p:spPr>
            <a:xfrm>
              <a:off x="2576268" y="1253173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E1B0C6-1AA0-ACC2-8B57-941799E81954}"/>
              </a:ext>
            </a:extLst>
          </p:cNvPr>
          <p:cNvSpPr txBox="1"/>
          <p:nvPr/>
        </p:nvSpPr>
        <p:spPr>
          <a:xfrm>
            <a:off x="7715250" y="1880355"/>
            <a:ext cx="436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zh-CN" altLang="en-US" b="1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831A20A-9276-8A62-A9BC-354DE99AA3E8}"/>
              </a:ext>
            </a:extLst>
          </p:cNvPr>
          <p:cNvGrpSpPr/>
          <p:nvPr/>
        </p:nvGrpSpPr>
        <p:grpSpPr>
          <a:xfrm>
            <a:off x="2576268" y="3290397"/>
            <a:ext cx="4618282" cy="1808933"/>
            <a:chOff x="2576268" y="3290397"/>
            <a:chExt cx="4618282" cy="180893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6C65516-A2BB-534B-8C5E-DCDC65B54E02}"/>
                </a:ext>
              </a:extLst>
            </p:cNvPr>
            <p:cNvSpPr txBox="1"/>
            <p:nvPr/>
          </p:nvSpPr>
          <p:spPr>
            <a:xfrm>
              <a:off x="2900304" y="3290397"/>
              <a:ext cx="332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LLM</a:t>
              </a:r>
              <a:r>
                <a:rPr lang="zh-CN" altLang="en-US" sz="2400" b="1" dirty="0"/>
                <a:t>场景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1A7338A-0141-7AFE-07CE-08A73DEF61C7}"/>
                </a:ext>
              </a:extLst>
            </p:cNvPr>
            <p:cNvSpPr txBox="1"/>
            <p:nvPr/>
          </p:nvSpPr>
          <p:spPr>
            <a:xfrm>
              <a:off x="2576268" y="3360940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38BA5BE-374D-9096-E0E7-1F38A0C0B6A0}"/>
                </a:ext>
              </a:extLst>
            </p:cNvPr>
            <p:cNvGrpSpPr/>
            <p:nvPr/>
          </p:nvGrpSpPr>
          <p:grpSpPr>
            <a:xfrm>
              <a:off x="2900304" y="3877670"/>
              <a:ext cx="4294246" cy="1221660"/>
              <a:chOff x="2900304" y="3877670"/>
              <a:chExt cx="4294246" cy="1221660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A1D69E92-EE9B-EBD7-4FAC-FD70178D5DB0}"/>
                  </a:ext>
                </a:extLst>
              </p:cNvPr>
              <p:cNvGrpSpPr/>
              <p:nvPr/>
            </p:nvGrpSpPr>
            <p:grpSpPr>
              <a:xfrm>
                <a:off x="2900304" y="3877670"/>
                <a:ext cx="4294246" cy="1221660"/>
                <a:chOff x="2900304" y="1804630"/>
                <a:chExt cx="4294246" cy="1221660"/>
              </a:xfrm>
            </p:grpSpPr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5A08C3D5-94EF-F41A-3D47-8F07F619690F}"/>
                    </a:ext>
                  </a:extLst>
                </p:cNvPr>
                <p:cNvSpPr/>
                <p:nvPr/>
              </p:nvSpPr>
              <p:spPr>
                <a:xfrm>
                  <a:off x="2900304" y="1804630"/>
                  <a:ext cx="300096" cy="368300"/>
                </a:xfrm>
                <a:prstGeom prst="rect">
                  <a:avLst/>
                </a:prstGeom>
                <a:solidFill>
                  <a:srgbClr val="A8D18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D2055931-B4D8-7862-B563-463E88472E65}"/>
                    </a:ext>
                  </a:extLst>
                </p:cNvPr>
                <p:cNvSpPr/>
                <p:nvPr/>
              </p:nvSpPr>
              <p:spPr>
                <a:xfrm>
                  <a:off x="2900304" y="2231310"/>
                  <a:ext cx="1041400" cy="368300"/>
                </a:xfrm>
                <a:prstGeom prst="rect">
                  <a:avLst/>
                </a:prstGeom>
                <a:solidFill>
                  <a:srgbClr val="A8D18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71F1F2EA-9CDD-B935-89BF-1EC8E834F38F}"/>
                    </a:ext>
                  </a:extLst>
                </p:cNvPr>
                <p:cNvSpPr/>
                <p:nvPr/>
              </p:nvSpPr>
              <p:spPr>
                <a:xfrm>
                  <a:off x="2900304" y="2657990"/>
                  <a:ext cx="789046" cy="368300"/>
                </a:xfrm>
                <a:prstGeom prst="rect">
                  <a:avLst/>
                </a:prstGeom>
                <a:solidFill>
                  <a:srgbClr val="A8D18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2D93F3A4-EE21-5D0F-A423-91621D9441AA}"/>
                    </a:ext>
                  </a:extLst>
                </p:cNvPr>
                <p:cNvSpPr/>
                <p:nvPr/>
              </p:nvSpPr>
              <p:spPr>
                <a:xfrm>
                  <a:off x="5575300" y="1804630"/>
                  <a:ext cx="520700" cy="368300"/>
                </a:xfrm>
                <a:prstGeom prst="rect">
                  <a:avLst/>
                </a:prstGeom>
                <a:solidFill>
                  <a:srgbClr val="F4B18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93E33072-E359-A44C-1687-212E37A2C8BB}"/>
                    </a:ext>
                  </a:extLst>
                </p:cNvPr>
                <p:cNvSpPr/>
                <p:nvPr/>
              </p:nvSpPr>
              <p:spPr>
                <a:xfrm>
                  <a:off x="5575300" y="2231310"/>
                  <a:ext cx="1619250" cy="368300"/>
                </a:xfrm>
                <a:prstGeom prst="rect">
                  <a:avLst/>
                </a:prstGeom>
                <a:solidFill>
                  <a:srgbClr val="F4B18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53E91708-E245-5436-96B3-B7D56EE2FDE3}"/>
                    </a:ext>
                  </a:extLst>
                </p:cNvPr>
                <p:cNvSpPr/>
                <p:nvPr/>
              </p:nvSpPr>
              <p:spPr>
                <a:xfrm>
                  <a:off x="5575300" y="2657990"/>
                  <a:ext cx="1041400" cy="368300"/>
                </a:xfrm>
                <a:prstGeom prst="rect">
                  <a:avLst/>
                </a:prstGeom>
                <a:solidFill>
                  <a:srgbClr val="F4B18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7" name="直接箭头连接符 36">
                  <a:extLst>
                    <a:ext uri="{FF2B5EF4-FFF2-40B4-BE49-F238E27FC236}">
                      <a16:creationId xmlns:a16="http://schemas.microsoft.com/office/drawing/2014/main" id="{95F90944-0CE9-4780-0085-6CD0D9C0451D}"/>
                    </a:ext>
                  </a:extLst>
                </p:cNvPr>
                <p:cNvCxnSpPr>
                  <a:cxnSpLocks/>
                  <a:stCxn id="32" idx="3"/>
                </p:cNvCxnSpPr>
                <p:nvPr/>
              </p:nvCxnSpPr>
              <p:spPr>
                <a:xfrm>
                  <a:off x="3941704" y="2415460"/>
                  <a:ext cx="414396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箭头连接符 37">
                  <a:extLst>
                    <a:ext uri="{FF2B5EF4-FFF2-40B4-BE49-F238E27FC236}">
                      <a16:creationId xmlns:a16="http://schemas.microsoft.com/office/drawing/2014/main" id="{D7789635-6C1B-27AF-A02F-A7E4EF05F6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60904" y="2417920"/>
                  <a:ext cx="414396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1" name="图形 40">
                <a:extLst>
                  <a:ext uri="{FF2B5EF4-FFF2-40B4-BE49-F238E27FC236}">
                    <a16:creationId xmlns:a16="http://schemas.microsoft.com/office/drawing/2014/main" id="{E80E386E-11F5-D0ED-3696-C5E8EE036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24554" y="4163672"/>
                <a:ext cx="691883" cy="649656"/>
              </a:xfrm>
              <a:prstGeom prst="rect">
                <a:avLst/>
              </a:prstGeom>
            </p:spPr>
          </p:pic>
        </p:grp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F85EE72-80D7-2B0C-EA6E-B091D6B5F50C}"/>
              </a:ext>
            </a:extLst>
          </p:cNvPr>
          <p:cNvSpPr txBox="1"/>
          <p:nvPr/>
        </p:nvSpPr>
        <p:spPr>
          <a:xfrm>
            <a:off x="7715250" y="3737182"/>
            <a:ext cx="39988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/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E126634-7751-60AF-9FE8-8BFB26EF0697}"/>
              </a:ext>
            </a:extLst>
          </p:cNvPr>
          <p:cNvGrpSpPr/>
          <p:nvPr/>
        </p:nvGrpSpPr>
        <p:grpSpPr>
          <a:xfrm>
            <a:off x="2900304" y="5710078"/>
            <a:ext cx="7265146" cy="830997"/>
            <a:chOff x="2900304" y="5710078"/>
            <a:chExt cx="7265146" cy="830997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B2CD7AD2-274C-6208-4132-7131EF7E3610}"/>
                </a:ext>
              </a:extLst>
            </p:cNvPr>
            <p:cNvSpPr txBox="1"/>
            <p:nvPr/>
          </p:nvSpPr>
          <p:spPr>
            <a:xfrm>
              <a:off x="3689350" y="5710078"/>
              <a:ext cx="64761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0" dirty="0">
                  <a:solidFill>
                    <a:srgbClr val="C00000"/>
                  </a:solidFill>
                  <a:effectLst/>
                  <a:latin typeface="-apple-system"/>
                </a:rPr>
                <a:t>LLM</a:t>
              </a:r>
              <a:r>
                <a:rPr lang="zh-CN" altLang="en-US" sz="2400" b="1" i="0" dirty="0">
                  <a:solidFill>
                    <a:srgbClr val="C00000"/>
                  </a:solidFill>
                  <a:effectLst/>
                  <a:latin typeface="-apple-system"/>
                </a:rPr>
                <a:t>的多样化应用和动态执行特性</a:t>
              </a:r>
              <a:endParaRPr lang="en-US" altLang="zh-CN" sz="2400" b="1" i="0" dirty="0">
                <a:solidFill>
                  <a:srgbClr val="C00000"/>
                </a:solidFill>
                <a:effectLst/>
                <a:latin typeface="-apple-system"/>
              </a:endParaRPr>
            </a:p>
            <a:p>
              <a:r>
                <a:rPr lang="en-US" altLang="zh-CN" sz="2400" b="1" i="0" dirty="0">
                  <a:solidFill>
                    <a:srgbClr val="C00000"/>
                  </a:solidFill>
                  <a:effectLst/>
                  <a:latin typeface="-apple-system"/>
                  <a:sym typeface="Wingdings" panose="05000000000000000000" pitchFamily="2" charset="2"/>
                </a:rPr>
                <a:t></a:t>
              </a:r>
              <a:r>
                <a:rPr lang="zh-CN" altLang="en-US" sz="2400" b="1" dirty="0">
                  <a:solidFill>
                    <a:srgbClr val="C00000"/>
                  </a:solidFill>
                </a:rPr>
                <a:t>严重排队延迟、尾部延迟较差和违背</a:t>
              </a:r>
              <a:r>
                <a:rPr lang="en-US" altLang="zh-CN" sz="2400" b="1" dirty="0">
                  <a:solidFill>
                    <a:srgbClr val="C00000"/>
                  </a:solidFill>
                </a:rPr>
                <a:t>SLO</a:t>
              </a:r>
              <a:endParaRPr lang="zh-CN" altLang="en-US" sz="2400" b="1" dirty="0">
                <a:solidFill>
                  <a:srgbClr val="C00000"/>
                </a:solidFill>
              </a:endParaRPr>
            </a:p>
          </p:txBody>
        </p:sp>
        <p:pic>
          <p:nvPicPr>
            <p:cNvPr id="49" name="图形 48" descr="警告 纯色填充">
              <a:extLst>
                <a:ext uri="{FF2B5EF4-FFF2-40B4-BE49-F238E27FC236}">
                  <a16:creationId xmlns:a16="http://schemas.microsoft.com/office/drawing/2014/main" id="{02E0D24E-AB0B-4942-D552-BBE0154C0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00304" y="5725436"/>
              <a:ext cx="685350" cy="685350"/>
            </a:xfrm>
            <a:prstGeom prst="rect">
              <a:avLst/>
            </a:prstGeom>
          </p:spPr>
        </p:pic>
      </p:grpSp>
      <p:sp>
        <p:nvSpPr>
          <p:cNvPr id="51" name="TextBox 50"/>
          <p:cNvSpPr txBox="1"/>
          <p:nvPr/>
        </p:nvSpPr>
        <p:spPr>
          <a:xfrm>
            <a:off x="256032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1B3A5C"/>
                </a:solidFill>
                <a:latin typeface="Microsoft YaHei"/>
              </a:rPr>
              <a:t>三步构建全同态加密：</a:t>
            </a:r>
          </a:p>
          <a:p>
            <a:pPr>
              <a:lnSpc>
                <a:spcPts val="1040"/>
              </a:lnSpc>
            </a:pPr>
            <a:r>
              <a:rPr sz="8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950"/>
              </a:lnSpc>
            </a:pPr>
            <a:r>
              <a:rPr sz="1500" b="1">
                <a:solidFill>
                  <a:srgbClr val="2C5F8A"/>
                </a:solidFill>
                <a:latin typeface="Microsoft YaHei"/>
              </a:rPr>
              <a:t>Step 1: 构造 Somewhat Homomorphic Encryption (SWHE)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可评估有限深度D的电路，支持加密数据的加法和乘法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950"/>
              </a:lnSpc>
            </a:pPr>
            <a:r>
              <a:rPr sz="1500" b="1">
                <a:solidFill>
                  <a:srgbClr val="2C5F8A"/>
                </a:solidFill>
                <a:latin typeface="Microsoft YaHei"/>
              </a:rPr>
              <a:t>Step 2: 检查 Bootstrappable 条件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解密电路的深度 + 1次额外乘法 &lt;= D ?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即：方案能否同态评估自身的解密过程？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950"/>
              </a:lnSpc>
            </a:pPr>
            <a:r>
              <a:rPr sz="1500" b="1">
                <a:solidFill>
                  <a:srgbClr val="27AE60"/>
                </a:solidFill>
                <a:latin typeface="Microsoft YaHei"/>
              </a:rPr>
              <a:t>Step 3: 应用 Bootstrapping 定理 → FHE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将噪声密文用新公钥加密 → 同态评估解密 → 得到新鲜密文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循环此过程可评估任意深度电路</a:t>
            </a:r>
          </a:p>
          <a:p>
            <a:pPr>
              <a:lnSpc>
                <a:spcPts val="1040"/>
              </a:lnSpc>
            </a:pPr>
            <a:r>
              <a:rPr sz="8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关键瓶颈：解密电路复杂度 &gt;&gt; SWHE的同态能力 → 需要特殊技巧！</a:t>
            </a:r>
          </a:p>
        </p:txBody>
      </p:sp>
    </p:spTree>
    <p:extLst>
      <p:ext uri="{BB962C8B-B14F-4D97-AF65-F5344CB8AC3E}">
        <p14:creationId xmlns:p14="http://schemas.microsoft.com/office/powerpoint/2010/main" val="8001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DEDFC-91CE-A749-B180-B28C0169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188DD8B5-5B9F-E72B-3AF9-15F2477982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35A72C57-7974-7E87-8ACE-EF98B61E1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FDACC41-8F71-ACFB-F623-DA0294D4F6F5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468E3DE-3B9A-817B-2EA0-14B6EA6BF4E8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9BA502-A207-394A-E4E6-CF1FCA098175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EABB27D-738A-ACFF-DC1F-4F67BC3D0142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DCD92FD1-DE4B-3C32-D3E2-1583161B28B9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02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431AC347-3B46-1E5A-3639-81CDEE428938}"/>
              </a:ext>
            </a:extLst>
          </p:cNvPr>
          <p:cNvSpPr txBox="1"/>
          <p:nvPr/>
        </p:nvSpPr>
        <p:spPr>
          <a:xfrm>
            <a:off x="2330019" y="2805015"/>
            <a:ext cx="4397999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1B3A5C"/>
                </a:solidFill>
                <a:latin typeface="Calibri"/>
              </a:rPr>
              <a:t>Re-linearization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antGarde Md BT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B05A1D-8E25-06FE-1F75-436C3073006D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Part 2 - 核心创新I：重线性化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01AF8AE1-5666-F29B-EB4B-E9187B0C4D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B18AD-5E9A-5E0F-0278-52705159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01ED54E3-6F4B-FDD1-EFAB-5527E815E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F1225E5-896B-3022-E1E2-79EFF2866BB7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E28B7E0-AFEB-78B7-9693-3794C06C9E67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E555D7D-9CEC-5024-9D52-7EEDD7D620EA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FAF0E6B-9EFE-41A5-7FD2-F29761609016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47B49CD-8698-790C-C7E9-B37ADC62C3CC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A5820D9B-3F10-87CD-D627-0B3E1D55BDA6}"/>
                </a:ext>
              </a:extLst>
            </p:cNvPr>
            <p:cNvSpPr txBox="1"/>
            <p:nvPr/>
          </p:nvSpPr>
          <p:spPr>
            <a:xfrm>
              <a:off x="1163452" y="260648"/>
              <a:ext cx="2128275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前人工作的局限与本文化的突破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235A33A2-F6EA-0584-FDE8-72B65B7FE575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4C5B48C9-F5CF-4549-F0BA-B0FCCD4C4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632" y="3033347"/>
            <a:ext cx="6737350" cy="3507728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730C6DE-FFD1-8BA1-52E4-12222FE0827D}"/>
              </a:ext>
            </a:extLst>
          </p:cNvPr>
          <p:cNvGrpSpPr/>
          <p:nvPr/>
        </p:nvGrpSpPr>
        <p:grpSpPr>
          <a:xfrm>
            <a:off x="2718312" y="1212623"/>
            <a:ext cx="4164689" cy="2031325"/>
            <a:chOff x="2718312" y="1212623"/>
            <a:chExt cx="4164689" cy="203132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9DC186-9CE2-8294-512C-9F625746C0C7}"/>
                </a:ext>
              </a:extLst>
            </p:cNvPr>
            <p:cNvSpPr txBox="1"/>
            <p:nvPr/>
          </p:nvSpPr>
          <p:spPr>
            <a:xfrm>
              <a:off x="2718312" y="1212623"/>
              <a:ext cx="380313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lphaLcParenR"/>
              </a:pPr>
              <a:r>
                <a:rPr lang="zh-CN" altLang="en-US" b="1" dirty="0"/>
                <a:t>负载不均导致任务间抢占和干扰</a:t>
              </a:r>
              <a:endParaRPr lang="en-US" altLang="zh-CN" b="1" dirty="0"/>
            </a:p>
            <a:p>
              <a:pPr marL="342900" indent="-342900">
                <a:buAutoNum type="alphaLcParenR"/>
              </a:pPr>
              <a:endParaRPr lang="en-US" altLang="zh-CN" b="1" dirty="0"/>
            </a:p>
            <a:p>
              <a:r>
                <a:rPr lang="en-US" altLang="zh-CN" b="1" dirty="0"/>
                <a:t>b)  </a:t>
              </a:r>
              <a:r>
                <a:rPr lang="zh-CN" altLang="en-US" b="1" dirty="0"/>
                <a:t>内存碎片造成排队等待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en-US" altLang="zh-CN" b="1" dirty="0"/>
                <a:t>c)   </a:t>
              </a:r>
              <a:r>
                <a:rPr lang="zh-CN" altLang="en-US" b="1" dirty="0"/>
                <a:t>高优先级的请求受到干扰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en-US" altLang="zh-CN" b="1" dirty="0"/>
                <a:t>d)  </a:t>
              </a:r>
              <a:r>
                <a:rPr lang="zh-CN" altLang="en-US" b="1" dirty="0"/>
                <a:t>资源浪费、难以保障服务质量</a:t>
              </a:r>
            </a:p>
          </p:txBody>
        </p:sp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3C48A2BA-046C-68CA-6E21-006039D82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4698" y="1212623"/>
              <a:ext cx="418303" cy="418303"/>
            </a:xfrm>
            <a:prstGeom prst="rect">
              <a:avLst/>
            </a:prstGeom>
          </p:spPr>
        </p:pic>
        <p:pic>
          <p:nvPicPr>
            <p:cNvPr id="16" name="图形 15">
              <a:extLst>
                <a:ext uri="{FF2B5EF4-FFF2-40B4-BE49-F238E27FC236}">
                  <a16:creationId xmlns:a16="http://schemas.microsoft.com/office/drawing/2014/main" id="{996AA9F6-39BA-3E25-9965-9B73823B9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4698" y="1736936"/>
              <a:ext cx="418303" cy="418303"/>
            </a:xfrm>
            <a:prstGeom prst="rect">
              <a:avLst/>
            </a:prstGeom>
          </p:spPr>
        </p:pic>
        <p:pic>
          <p:nvPicPr>
            <p:cNvPr id="17" name="图形 16">
              <a:extLst>
                <a:ext uri="{FF2B5EF4-FFF2-40B4-BE49-F238E27FC236}">
                  <a16:creationId xmlns:a16="http://schemas.microsoft.com/office/drawing/2014/main" id="{FFB6FFC2-2326-B565-E6DF-661071A8B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4698" y="2261249"/>
              <a:ext cx="418303" cy="418303"/>
            </a:xfrm>
            <a:prstGeom prst="rect">
              <a:avLst/>
            </a:prstGeom>
          </p:spPr>
        </p:pic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19AA6237-DC2F-C333-1429-CA36798DD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4698" y="2785563"/>
              <a:ext cx="418303" cy="418303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198E953-906E-546C-6098-10E3FADD5E5A}"/>
              </a:ext>
            </a:extLst>
          </p:cNvPr>
          <p:cNvGrpSpPr/>
          <p:nvPr/>
        </p:nvGrpSpPr>
        <p:grpSpPr>
          <a:xfrm>
            <a:off x="7276202" y="1123312"/>
            <a:ext cx="4362064" cy="2129783"/>
            <a:chOff x="7276202" y="1123312"/>
            <a:chExt cx="4362064" cy="212978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AFD5837-EE12-35CE-B39C-CB652F86DC73}"/>
                </a:ext>
              </a:extLst>
            </p:cNvPr>
            <p:cNvSpPr txBox="1"/>
            <p:nvPr/>
          </p:nvSpPr>
          <p:spPr>
            <a:xfrm>
              <a:off x="7276202" y="1172541"/>
              <a:ext cx="4032762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负载均衡，减少抢占和干扰</a:t>
              </a:r>
              <a:endParaRPr lang="en-US" altLang="zh-CN" b="1" dirty="0"/>
            </a:p>
            <a:p>
              <a:pPr marL="342900" indent="-342900">
                <a:buAutoNum type="alphaLcParenR"/>
              </a:pPr>
              <a:endParaRPr lang="en-US" altLang="zh-CN" b="1" dirty="0"/>
            </a:p>
            <a:p>
              <a:r>
                <a:rPr lang="zh-CN" altLang="en-US" b="1" dirty="0"/>
                <a:t>碎片整理创建连续空间，减少等待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zh-CN" altLang="en-US" b="1" dirty="0"/>
                <a:t>通过“隔离”保障特定请求的服务质量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zh-CN" altLang="en-US" b="1" dirty="0"/>
                <a:t>自动缩容、扩容，高效利用资源</a:t>
              </a:r>
            </a:p>
          </p:txBody>
        </p: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41249FDB-935F-658C-45C6-7A353EC0E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0652" y="1123312"/>
              <a:ext cx="507614" cy="507614"/>
            </a:xfrm>
            <a:prstGeom prst="rect">
              <a:avLst/>
            </a:prstGeom>
          </p:spPr>
        </p:pic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F61A92C4-B8B3-509B-419C-1A7A644CB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0652" y="1664035"/>
              <a:ext cx="507614" cy="507614"/>
            </a:xfrm>
            <a:prstGeom prst="rect">
              <a:avLst/>
            </a:prstGeom>
          </p:spPr>
        </p:pic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74A230C8-B21D-77FE-7900-C26E5AF61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0652" y="2204758"/>
              <a:ext cx="507614" cy="507614"/>
            </a:xfrm>
            <a:prstGeom prst="rect">
              <a:avLst/>
            </a:prstGeom>
          </p:spPr>
        </p:pic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40FF19C9-E252-2472-40A3-206857351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0652" y="2745481"/>
              <a:ext cx="507614" cy="507614"/>
            </a:xfrm>
            <a:prstGeom prst="rect">
              <a:avLst/>
            </a:prstGeom>
          </p:spPr>
        </p:pic>
      </p:grpSp>
      <p:sp>
        <p:nvSpPr>
          <p:cNvPr id="24" name="TextBox 23"/>
          <p:cNvSpPr txBox="1"/>
          <p:nvPr/>
        </p:nvSpPr>
        <p:spPr>
          <a:xfrm>
            <a:off x="256032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</a:pPr>
            <a:r>
              <a:rPr sz="1600" b="1">
                <a:solidFill>
                  <a:srgbClr val="C0392B"/>
                </a:solidFill>
                <a:latin typeface="Microsoft YaHei"/>
              </a:rPr>
              <a:t>局限 1：依赖理想格假设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Gentry SWHE需要理想格 → 理想格是特殊品种，认知不足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一般格的研究更深入(LLL, Ajtai, Micciancio...)但只支持加法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2080"/>
              </a:lnSpc>
            </a:pPr>
            <a:r>
              <a:rPr sz="1600" b="1">
                <a:solidFill>
                  <a:srgbClr val="C0392B"/>
                </a:solidFill>
                <a:latin typeface="Microsoft YaHei"/>
              </a:rPr>
              <a:t>局限 2：Squashing + 稀疏子集和假设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解密电路太复杂 → 需Squashing人为降低 → 引入强假设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这个额外假设是Gentry方案及所有后续方案的主要缺陷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2080"/>
              </a:lnSpc>
            </a:pPr>
            <a:r>
              <a:rPr sz="1600" b="1">
                <a:solidFill>
                  <a:srgbClr val="27AE60"/>
                </a:solidFill>
                <a:latin typeface="Microsoft YaHei"/>
              </a:rPr>
              <a:t>本文突破：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  1. Re-linearization → SWHE from LWE (去掉理想格)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  2. Dimension-Modulus Reduction → Bootstrapping (去掉Squashing)</a:t>
            </a:r>
          </a:p>
        </p:txBody>
      </p:sp>
    </p:spTree>
    <p:extLst>
      <p:ext uri="{BB962C8B-B14F-4D97-AF65-F5344CB8AC3E}">
        <p14:creationId xmlns:p14="http://schemas.microsoft.com/office/powerpoint/2010/main" val="124092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C233-E635-4E2C-1D19-5F5D42F7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A0B1E00E-7DEA-6DCC-59F3-3053F704E1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1E6776A8-185F-8CD8-4400-A6F3885ECA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2F5508B-B33D-673B-1D28-B615A217CE6C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0CC285A-7D11-1D0C-A7D4-5EAC6021319F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46C7AF1-86FE-6922-B036-0FEE7773F113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8D10C5B-818A-5ECA-ED4E-9CF0360EF6AD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ACD61F3C-4DB9-7720-B5D1-6B8585ECF1A6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03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BFB81308-48A2-BBCE-4FD9-B80C43676B6F}"/>
              </a:ext>
            </a:extLst>
          </p:cNvPr>
          <p:cNvSpPr txBox="1"/>
          <p:nvPr/>
        </p:nvSpPr>
        <p:spPr>
          <a:xfrm>
            <a:off x="2330019" y="2805015"/>
            <a:ext cx="3806042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1B3A5C"/>
                </a:solidFill>
                <a:latin typeface="Calibri"/>
              </a:rPr>
              <a:t>LWE Encryption
Foundation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F9C44D-A9E7-CA37-B4F1-6961F0DAF3F7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LWE加密基础：Regev方案 [STOC'05]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1DA34757-7A04-652E-3548-91B7702A93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0165-F5ED-7A77-3D86-347BC49F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CEFE28D8-C6D1-29EA-5D0D-423B576EB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75BF572-3008-E070-7028-14397545B291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95EECAF-23E1-7F4B-9B81-448E8B7432A6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FD391F5-D983-78B4-AA03-50FEBCDECAC3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BCB8B85-388D-65D1-979D-B03B603A3048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B18BC91-7F20-EEA8-5625-01B6A20C6DD9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406564CD-93A8-DEC0-1780-7FB7660B6F2C}"/>
                </a:ext>
              </a:extLst>
            </p:cNvPr>
            <p:cNvSpPr txBox="1"/>
            <p:nvPr/>
          </p:nvSpPr>
          <p:spPr>
            <a:xfrm>
              <a:off x="1163452" y="260648"/>
              <a:ext cx="3948581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LWE加密 → 线性函数视角 → 同态乘法难题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78C85675-6E01-EB24-20B7-3A636BBD9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341000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3. O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2BCB4CC6-7D08-0514-D6BB-541158E84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578" y="1394968"/>
            <a:ext cx="5931293" cy="4314256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0193AA5-BC81-F9F6-F70B-1BEDF810D223}"/>
              </a:ext>
            </a:extLst>
          </p:cNvPr>
          <p:cNvCxnSpPr/>
          <p:nvPr/>
        </p:nvCxnSpPr>
        <p:spPr>
          <a:xfrm flipH="1" flipV="1">
            <a:off x="3346450" y="2393950"/>
            <a:ext cx="1270000" cy="863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61E764B-9799-6C5C-5D59-C8C48B8F3BBC}"/>
              </a:ext>
            </a:extLst>
          </p:cNvPr>
          <p:cNvSpPr txBox="1"/>
          <p:nvPr/>
        </p:nvSpPr>
        <p:spPr>
          <a:xfrm>
            <a:off x="2022475" y="2055396"/>
            <a:ext cx="264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FC1D8C-9324-18C2-EB0B-7E9EACE74660}"/>
              </a:ext>
            </a:extLst>
          </p:cNvPr>
          <p:cNvSpPr txBox="1"/>
          <p:nvPr/>
        </p:nvSpPr>
        <p:spPr>
          <a:xfrm>
            <a:off x="4234943" y="964037"/>
            <a:ext cx="37385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599A9AB-83A6-7F08-32B0-4C2F479F216C}"/>
              </a:ext>
            </a:extLst>
          </p:cNvPr>
          <p:cNvCxnSpPr>
            <a:cxnSpLocks/>
          </p:cNvCxnSpPr>
          <p:nvPr/>
        </p:nvCxnSpPr>
        <p:spPr>
          <a:xfrm flipV="1">
            <a:off x="5715000" y="1473200"/>
            <a:ext cx="65624" cy="2604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457AD1F-37D1-8711-CB8D-A287ADBCD9E0}"/>
              </a:ext>
            </a:extLst>
          </p:cNvPr>
          <p:cNvCxnSpPr>
            <a:cxnSpLocks/>
          </p:cNvCxnSpPr>
          <p:nvPr/>
        </p:nvCxnSpPr>
        <p:spPr>
          <a:xfrm flipH="1">
            <a:off x="3944270" y="3744830"/>
            <a:ext cx="925673" cy="2620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816A9C0-3F9D-BDEF-D898-F08EA572A9FF}"/>
              </a:ext>
            </a:extLst>
          </p:cNvPr>
          <p:cNvSpPr txBox="1"/>
          <p:nvPr/>
        </p:nvSpPr>
        <p:spPr>
          <a:xfrm>
            <a:off x="2263601" y="4028073"/>
            <a:ext cx="1963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68DD42-2196-C031-5D6B-3DE20E185262}"/>
              </a:ext>
            </a:extLst>
          </p:cNvPr>
          <p:cNvSpPr txBox="1"/>
          <p:nvPr/>
        </p:nvSpPr>
        <p:spPr>
          <a:xfrm>
            <a:off x="9615850" y="3044843"/>
            <a:ext cx="2126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AB098B1-F3EA-B022-8EE5-05F59B50AE3F}"/>
              </a:ext>
            </a:extLst>
          </p:cNvPr>
          <p:cNvCxnSpPr>
            <a:cxnSpLocks/>
          </p:cNvCxnSpPr>
          <p:nvPr/>
        </p:nvCxnSpPr>
        <p:spPr>
          <a:xfrm flipV="1">
            <a:off x="7484414" y="3257550"/>
            <a:ext cx="2161236" cy="5085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B5EFC56-223C-87B9-EBAE-D7C102C59A12}"/>
              </a:ext>
            </a:extLst>
          </p:cNvPr>
          <p:cNvSpPr/>
          <p:nvPr/>
        </p:nvSpPr>
        <p:spPr>
          <a:xfrm>
            <a:off x="7484413" y="4296018"/>
            <a:ext cx="821029" cy="4918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78DBA6D-2750-6264-8142-B6A0A1F45E61}"/>
              </a:ext>
            </a:extLst>
          </p:cNvPr>
          <p:cNvCxnSpPr>
            <a:cxnSpLocks/>
          </p:cNvCxnSpPr>
          <p:nvPr/>
        </p:nvCxnSpPr>
        <p:spPr>
          <a:xfrm>
            <a:off x="7969067" y="4816158"/>
            <a:ext cx="1320983" cy="8858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923C872-8B62-0854-AA51-DFA3AA120C6A}"/>
              </a:ext>
            </a:extLst>
          </p:cNvPr>
          <p:cNvSpPr txBox="1"/>
          <p:nvPr/>
        </p:nvSpPr>
        <p:spPr>
          <a:xfrm>
            <a:off x="8501013" y="5737542"/>
            <a:ext cx="21261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10C9E94-B306-5EFD-E948-23D8300D3F8A}"/>
              </a:ext>
            </a:extLst>
          </p:cNvPr>
          <p:cNvSpPr/>
          <p:nvPr/>
        </p:nvSpPr>
        <p:spPr>
          <a:xfrm>
            <a:off x="7678119" y="2641599"/>
            <a:ext cx="1254649" cy="2620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4C77D45-8F97-1C3B-2178-8F422BD8DA19}"/>
              </a:ext>
            </a:extLst>
          </p:cNvPr>
          <p:cNvCxnSpPr>
            <a:cxnSpLocks/>
          </p:cNvCxnSpPr>
          <p:nvPr/>
        </p:nvCxnSpPr>
        <p:spPr>
          <a:xfrm flipH="1" flipV="1">
            <a:off x="7028905" y="1473200"/>
            <a:ext cx="1276538" cy="11778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16B8FA1-CBDD-1CEB-DADF-E1A5C9550CD3}"/>
              </a:ext>
            </a:extLst>
          </p:cNvPr>
          <p:cNvCxnSpPr>
            <a:cxnSpLocks/>
          </p:cNvCxnSpPr>
          <p:nvPr/>
        </p:nvCxnSpPr>
        <p:spPr>
          <a:xfrm flipV="1">
            <a:off x="7733642" y="1511006"/>
            <a:ext cx="1703790" cy="2591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2C27EDC-C018-64F0-4D66-5AD326C92674}"/>
              </a:ext>
            </a:extLst>
          </p:cNvPr>
          <p:cNvCxnSpPr>
            <a:cxnSpLocks/>
          </p:cNvCxnSpPr>
          <p:nvPr/>
        </p:nvCxnSpPr>
        <p:spPr>
          <a:xfrm flipV="1">
            <a:off x="9054153" y="1603446"/>
            <a:ext cx="591497" cy="8527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9E63101-B69C-A512-8AB2-08D4B8597F38}"/>
              </a:ext>
            </a:extLst>
          </p:cNvPr>
          <p:cNvSpPr/>
          <p:nvPr/>
        </p:nvSpPr>
        <p:spPr>
          <a:xfrm>
            <a:off x="8712200" y="2456173"/>
            <a:ext cx="641350" cy="176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1D95D80-7623-3BBE-3CAF-57A37B7A7AC2}"/>
              </a:ext>
            </a:extLst>
          </p:cNvPr>
          <p:cNvSpPr txBox="1"/>
          <p:nvPr/>
        </p:nvSpPr>
        <p:spPr>
          <a:xfrm>
            <a:off x="9512300" y="990353"/>
            <a:ext cx="2229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BF7514-6FDE-CC2E-FA93-36352CD2A69C}"/>
              </a:ext>
            </a:extLst>
          </p:cNvPr>
          <p:cNvSpPr/>
          <p:nvPr/>
        </p:nvSpPr>
        <p:spPr>
          <a:xfrm>
            <a:off x="5981700" y="3306185"/>
            <a:ext cx="260350" cy="3133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0FF35D1-15C2-39C4-7ED8-480E6AC2CD19}"/>
              </a:ext>
            </a:extLst>
          </p:cNvPr>
          <p:cNvCxnSpPr>
            <a:cxnSpLocks/>
          </p:cNvCxnSpPr>
          <p:nvPr/>
        </p:nvCxnSpPr>
        <p:spPr>
          <a:xfrm flipH="1">
            <a:off x="4578031" y="3638550"/>
            <a:ext cx="1526178" cy="21489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FDB759D-A7E9-B80A-AAF6-B7C588F975BF}"/>
              </a:ext>
            </a:extLst>
          </p:cNvPr>
          <p:cNvSpPr txBox="1"/>
          <p:nvPr/>
        </p:nvSpPr>
        <p:spPr>
          <a:xfrm>
            <a:off x="3346450" y="5806506"/>
            <a:ext cx="230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56032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</a:pPr>
            <a:r>
              <a:rPr sz="1600" b="1">
                <a:solidFill>
                  <a:srgbClr val="1B3A5C"/>
                </a:solidFill>
                <a:latin typeface="Microsoft YaHei"/>
              </a:rPr>
              <a:t>Regev 加密 (单比特):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000000"/>
                </a:solidFill>
                <a:latin typeface="Consolas"/>
              </a:rPr>
              <a:t>  Secret Key: s in Z_q^n</a:t>
            </a:r>
          </a:p>
          <a:p>
            <a:pPr>
              <a:lnSpc>
                <a:spcPts val="1690"/>
              </a:lnSpc>
            </a:pPr>
            <a:r>
              <a:rPr sz="1300" b="1">
                <a:solidFill>
                  <a:srgbClr val="000000"/>
                </a:solidFill>
                <a:latin typeface="Consolas"/>
              </a:rPr>
              <a:t>  Enc(mu): c = (a, b = &lt;a,s&gt; + 2e + mu)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000000"/>
                </a:solidFill>
                <a:latin typeface="Consolas"/>
              </a:rPr>
              <a:t>  Dec(c): (b - &lt;a,s&gt; mod q) mod 2 = mu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950"/>
              </a:lnSpc>
            </a:pPr>
            <a:r>
              <a:rPr sz="1500" b="1">
                <a:solidFill>
                  <a:srgbClr val="2C5F8A"/>
                </a:solidFill>
                <a:latin typeface="Microsoft YaHei"/>
              </a:rPr>
              <a:t>解密视角转换 → 密文 = 关于密钥的线性函数: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000000"/>
                </a:solidFill>
                <a:latin typeface="Consolas"/>
              </a:rPr>
              <a:t>  f_{a,b}(x) = b - &lt;a,x&gt; (mod q),   Dec = f_{a,b}(s) mod 2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950"/>
              </a:lnSpc>
            </a:pPr>
            <a:r>
              <a:rPr sz="1500" b="1">
                <a:solidFill>
                  <a:srgbClr val="27AE60"/>
                </a:solidFill>
                <a:latin typeface="Microsoft YaHei"/>
              </a:rPr>
              <a:t>同态加法 ✓ 自然成立: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000000"/>
                </a:solidFill>
                <a:latin typeface="Consolas"/>
              </a:rPr>
              <a:t>  f1 + f2 = f_{a1+a2, b1+b2}  → 仍是线性!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95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同态乘法 ✗ 密文膨胀:</a:t>
            </a:r>
          </a:p>
          <a:p>
            <a:pPr>
              <a:lnSpc>
                <a:spcPts val="1690"/>
              </a:lnSpc>
            </a:pPr>
            <a:r>
              <a:rPr sz="1300" b="1">
                <a:solidFill>
                  <a:srgbClr val="C0392B"/>
                </a:solidFill>
                <a:latin typeface="Consolas"/>
              </a:rPr>
              <a:t>  f1 * f2 = phi(x) = h0 + Sum hi*x[i] + Sum hij*x[i]x[j]  (二次!)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  密文大小: n+1 → O(n^2) → 一次乘法就不可用!</a:t>
            </a:r>
          </a:p>
        </p:txBody>
      </p:sp>
    </p:spTree>
    <p:extLst>
      <p:ext uri="{BB962C8B-B14F-4D97-AF65-F5344CB8AC3E}">
        <p14:creationId xmlns:p14="http://schemas.microsoft.com/office/powerpoint/2010/main" val="152084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5B56E-4775-1AAA-2807-993CCABA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0F6A049C-DFB3-B481-03CA-ABBACBD3D6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8DF9BF81-D146-9454-4E31-F05D4F91DE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3C5B196-77AA-9AB1-EA75-5CF7FEEEFCD5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1763A551-AB52-5A75-11E2-E7ACC1BF6509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9F57FC3-28DC-912B-F981-8E2AD8814634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0E4F3BE-8F65-967C-A024-BD8FE86A440F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2BB70D53-484F-E372-146D-2D02D92E81D7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04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B8F5E2F2-4E02-684B-AFDD-5DDA729D2BCC}"/>
              </a:ext>
            </a:extLst>
          </p:cNvPr>
          <p:cNvSpPr txBox="1"/>
          <p:nvPr/>
        </p:nvSpPr>
        <p:spPr>
          <a:xfrm>
            <a:off x="2330019" y="2805015"/>
            <a:ext cx="3211585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1B3A5C"/>
                </a:solidFill>
                <a:latin typeface="Calibri"/>
              </a:rPr>
              <a:t>Dimension-Modulus
Reduction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1D6028-B3C5-FFF7-2FD8-173801EBA607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Part 3 - 核心创新II：维度-模缩减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DB872526-27DF-1F0B-ED03-8F8237B072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9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7437-BE07-DF46-7F72-3772D47F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72D561C9-1AA7-6AE7-4023-57820A5A6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B1C72DE-2840-37C4-C095-25776B6B51D8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2F89DCF-2385-E22C-2C44-D9F9F017F4ED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9FD2B11-0839-9788-B169-6E382922F146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10385B3-84A6-4CC8-509F-68DD939CF9A8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BBA355E-3FA0-4ED4-04E5-EFB790BF7CB1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A10E5397-98D1-229C-E668-3909FCAB11CB}"/>
                </a:ext>
              </a:extLst>
            </p:cNvPr>
            <p:cNvSpPr txBox="1"/>
            <p:nvPr/>
          </p:nvSpPr>
          <p:spPr>
            <a:xfrm>
              <a:off x="1163452" y="260648"/>
              <a:ext cx="4988482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Re-linearization 技术详解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8C098B98-4E0F-B000-6640-E0F6DB308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77199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7AE0577-5131-DA94-9F90-6E8EB99C87B0}"/>
              </a:ext>
            </a:extLst>
          </p:cNvPr>
          <p:cNvSpPr txBox="1"/>
          <p:nvPr/>
        </p:nvSpPr>
        <p:spPr>
          <a:xfrm>
            <a:off x="2900304" y="1129476"/>
            <a:ext cx="7771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EB9C16-47BF-01A9-241D-6B2FB9FAF148}"/>
              </a:ext>
            </a:extLst>
          </p:cNvPr>
          <p:cNvSpPr txBox="1"/>
          <p:nvPr/>
        </p:nvSpPr>
        <p:spPr>
          <a:xfrm>
            <a:off x="2576268" y="1173057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BCCBEA-D6C7-539B-C344-0B3DF43EB2E1}"/>
              </a:ext>
            </a:extLst>
          </p:cNvPr>
          <p:cNvSpPr txBox="1"/>
          <p:nvPr/>
        </p:nvSpPr>
        <p:spPr>
          <a:xfrm>
            <a:off x="2779200" y="1775807"/>
            <a:ext cx="90220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endParaRPr lang="en-US" altLang="zh-CN" b="1" dirty="0"/>
          </a:p>
          <a:p>
            <a:pPr marL="342900" indent="-342900">
              <a:buAutoNum type="alphaLcParenR"/>
            </a:pP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/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9BA69EB-E973-9962-50A0-7588A8021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487" y="3794555"/>
            <a:ext cx="5813511" cy="30634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6032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核心思想：发布二次项 s[i]s[j] 在旧密钥下的伪加密 → 在新密钥下转化为线性组合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Step 1 - 密钥链：生成 s0, s1, ..., sL，每层支持一次乘法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Step 2 - 发布伪加密参数 Psi：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b_{ell,i,j,tau} = &lt;a, s_ell&gt; + 2e + 2^tau * s_{ell-1}[i] * s_{ell-1}[j]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Step 3 - 重线性化：Sum hij,tau * (b - &lt;a, s_ell&gt;) = 线性函数 in s_ell !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7AE60"/>
                </a:solidFill>
                <a:latin typeface="Microsoft YaHei"/>
              </a:rPr>
              <a:t>效果：将二次密文 O(n^2) 压回线性 O(n)，每层乘法只需 ~n^2 log q 个辅助参数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代价：hij 必须比特分解 (hij,tau in {0,1}) 以控制噪声增长</a:t>
            </a:r>
          </a:p>
        </p:txBody>
      </p:sp>
    </p:spTree>
    <p:extLst>
      <p:ext uri="{BB962C8B-B14F-4D97-AF65-F5344CB8AC3E}">
        <p14:creationId xmlns:p14="http://schemas.microsoft.com/office/powerpoint/2010/main" val="280515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9678D-D1FC-40C5-94E5-C9E6A813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8C453548-B994-AAFE-E20D-122C785BE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5474674E-2B01-9778-8DFD-F7BC3A6DC983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14856A5-8879-7F80-7391-ED75348781F2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6ECFECC-9C01-7F3E-64BF-0E87A76929C4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92F52BB-A758-E10E-BE82-DDB6197F3B0C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5278394-480A-E758-8206-405D5D76335C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B8A1CA9A-08FE-D32C-49DB-E15F2C4D11AB}"/>
                </a:ext>
              </a:extLst>
            </p:cNvPr>
            <p:cNvSpPr txBox="1"/>
            <p:nvPr/>
          </p:nvSpPr>
          <p:spPr>
            <a:xfrm>
              <a:off x="1163452" y="260648"/>
              <a:ext cx="4988482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Re-linearization: 成就与局限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567B628D-F90F-51B6-E9F9-D9B8E9F1281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232B1E3-F17D-0D9D-CDF3-B8FB15C216E6}"/>
              </a:ext>
            </a:extLst>
          </p:cNvPr>
          <p:cNvSpPr txBox="1"/>
          <p:nvPr/>
        </p:nvSpPr>
        <p:spPr>
          <a:xfrm>
            <a:off x="2972312" y="1116919"/>
            <a:ext cx="7613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6982D5-E4B8-FF7C-2967-CD3E32AB8DAC}"/>
              </a:ext>
            </a:extLst>
          </p:cNvPr>
          <p:cNvSpPr txBox="1"/>
          <p:nvPr/>
        </p:nvSpPr>
        <p:spPr>
          <a:xfrm>
            <a:off x="2576268" y="1135614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4FF26DE-D654-1287-A189-22E6DD7DC6CE}"/>
              </a:ext>
            </a:extLst>
          </p:cNvPr>
          <p:cNvGrpSpPr/>
          <p:nvPr/>
        </p:nvGrpSpPr>
        <p:grpSpPr>
          <a:xfrm>
            <a:off x="2498187" y="5843978"/>
            <a:ext cx="8508001" cy="646331"/>
            <a:chOff x="2498187" y="5843978"/>
            <a:chExt cx="8508001" cy="646331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A4EA118-62B4-9AEF-1F42-A6BB7E88220B}"/>
                </a:ext>
              </a:extLst>
            </p:cNvPr>
            <p:cNvSpPr txBox="1"/>
            <p:nvPr/>
          </p:nvSpPr>
          <p:spPr>
            <a:xfrm>
              <a:off x="2900304" y="5843978"/>
              <a:ext cx="81058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Auto-Scaling</a:t>
              </a:r>
              <a:r>
                <a:rPr lang="zh-CN" altLang="en-US" b="1" dirty="0"/>
                <a:t>：设置自由度区间 </a:t>
              </a:r>
              <a:r>
                <a:rPr lang="en-US" altLang="zh-CN" b="1" dirty="0">
                  <a:solidFill>
                    <a:srgbClr val="FF0000"/>
                  </a:solidFill>
                </a:rPr>
                <a:t>[</a:t>
              </a:r>
              <a:r>
                <a:rPr lang="en-US" altLang="zh-CN" b="1" dirty="0" err="1">
                  <a:solidFill>
                    <a:srgbClr val="FF0000"/>
                  </a:solidFill>
                </a:rPr>
                <a:t>x,y</a:t>
              </a:r>
              <a:r>
                <a:rPr lang="en-US" altLang="zh-CN" b="1" dirty="0">
                  <a:solidFill>
                    <a:srgbClr val="FF0000"/>
                  </a:solidFill>
                </a:rPr>
                <a:t>]</a:t>
              </a:r>
              <a:r>
                <a:rPr lang="zh-CN" altLang="en-US" b="1" dirty="0"/>
                <a:t>，当自由度小于</a:t>
              </a:r>
              <a:r>
                <a:rPr lang="en-US" altLang="zh-CN" b="1" dirty="0"/>
                <a:t>x</a:t>
              </a:r>
              <a:r>
                <a:rPr lang="zh-CN" altLang="en-US" b="1" dirty="0"/>
                <a:t>或大于</a:t>
              </a:r>
              <a:r>
                <a:rPr lang="en-US" altLang="zh-CN" b="1" dirty="0"/>
                <a:t>y</a:t>
              </a:r>
              <a:r>
                <a:rPr lang="zh-CN" altLang="en-US" b="1" dirty="0"/>
                <a:t>时</a:t>
              </a:r>
              <a:r>
                <a:rPr lang="zh-CN" altLang="en-US" b="1" dirty="0">
                  <a:solidFill>
                    <a:srgbClr val="FF0000"/>
                  </a:solidFill>
                </a:rPr>
                <a:t>添加或终止实例</a:t>
              </a:r>
              <a:r>
                <a:rPr lang="zh-CN" altLang="en-US" b="1" dirty="0"/>
                <a:t>，</a:t>
              </a:r>
              <a:r>
                <a:rPr lang="en-US" altLang="zh-CN" b="1" dirty="0"/>
                <a:t>Llumnix</a:t>
              </a:r>
              <a:r>
                <a:rPr lang="zh-CN" altLang="en-US" b="1" dirty="0"/>
                <a:t>选择运行请求最少的实例进行终止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FB158E24-8D05-9E48-464A-8BAAAC5C175B}"/>
                </a:ext>
              </a:extLst>
            </p:cNvPr>
            <p:cNvSpPr txBox="1"/>
            <p:nvPr/>
          </p:nvSpPr>
          <p:spPr>
            <a:xfrm>
              <a:off x="2498187" y="5843978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39F33566-F15C-13DA-68CD-A31A2594BFCB}"/>
              </a:ext>
            </a:extLst>
          </p:cNvPr>
          <p:cNvGrpSpPr/>
          <p:nvPr/>
        </p:nvGrpSpPr>
        <p:grpSpPr>
          <a:xfrm>
            <a:off x="2498187" y="2210029"/>
            <a:ext cx="9407424" cy="3607582"/>
            <a:chOff x="2498187" y="2210029"/>
            <a:chExt cx="9407424" cy="3607582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C168049E-8D5B-ECCE-D51A-1C60C915EF41}"/>
                </a:ext>
              </a:extLst>
            </p:cNvPr>
            <p:cNvGrpSpPr/>
            <p:nvPr/>
          </p:nvGrpSpPr>
          <p:grpSpPr>
            <a:xfrm>
              <a:off x="2498187" y="2222880"/>
              <a:ext cx="9407424" cy="3594731"/>
              <a:chOff x="2498187" y="2222880"/>
              <a:chExt cx="9407424" cy="3594731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84658337-8595-BD82-1448-9D53C0D52E88}"/>
                  </a:ext>
                </a:extLst>
              </p:cNvPr>
              <p:cNvSpPr/>
              <p:nvPr/>
            </p:nvSpPr>
            <p:spPr>
              <a:xfrm>
                <a:off x="2498187" y="3487917"/>
                <a:ext cx="1512551" cy="1067823"/>
              </a:xfrm>
              <a:prstGeom prst="roundRect">
                <a:avLst/>
              </a:prstGeom>
              <a:solidFill>
                <a:srgbClr val="AFE3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设置自由度阈值</a:t>
                </a:r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6485DC5B-7F85-076D-CCB1-CCC70F29061B}"/>
                  </a:ext>
                </a:extLst>
              </p:cNvPr>
              <p:cNvSpPr/>
              <p:nvPr/>
            </p:nvSpPr>
            <p:spPr>
              <a:xfrm>
                <a:off x="4755419" y="2326211"/>
                <a:ext cx="1045118" cy="875744"/>
              </a:xfrm>
              <a:prstGeom prst="roundRect">
                <a:avLst/>
              </a:prstGeom>
              <a:solidFill>
                <a:srgbClr val="D9E8F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设置为源实例</a:t>
                </a: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02F28468-704D-20B2-BE5A-C8ADE4DC74BD}"/>
                  </a:ext>
                </a:extLst>
              </p:cNvPr>
              <p:cNvSpPr/>
              <p:nvPr/>
            </p:nvSpPr>
            <p:spPr>
              <a:xfrm>
                <a:off x="4660840" y="4756920"/>
                <a:ext cx="1194450" cy="875744"/>
              </a:xfrm>
              <a:prstGeom prst="roundRect">
                <a:avLst/>
              </a:prstGeom>
              <a:solidFill>
                <a:srgbClr val="D9E8F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设置为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目标实例</a:t>
                </a:r>
              </a:p>
            </p:txBody>
          </p:sp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5691663C-A7DE-05A0-7F92-2EFDC9596EF5}"/>
                  </a:ext>
                </a:extLst>
              </p:cNvPr>
              <p:cNvSpPr/>
              <p:nvPr/>
            </p:nvSpPr>
            <p:spPr>
              <a:xfrm>
                <a:off x="7261810" y="3549934"/>
                <a:ext cx="1473882" cy="875744"/>
              </a:xfrm>
              <a:prstGeom prst="roundRect">
                <a:avLst/>
              </a:prstGeom>
              <a:solidFill>
                <a:srgbClr val="A4A0B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 err="1">
                    <a:solidFill>
                      <a:schemeClr val="tx1"/>
                    </a:solidFill>
                  </a:rPr>
                  <a:t>llumlet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选择迁移请求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5EAF52D-F244-08B3-A3FA-D2400329C979}"/>
                  </a:ext>
                </a:extLst>
              </p:cNvPr>
              <p:cNvSpPr txBox="1"/>
              <p:nvPr/>
            </p:nvSpPr>
            <p:spPr>
              <a:xfrm>
                <a:off x="6161940" y="3517736"/>
                <a:ext cx="11944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迁移请求</a:t>
                </a:r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D54236C8-BC91-036D-AD66-621E4F0E5044}"/>
                  </a:ext>
                </a:extLst>
              </p:cNvPr>
              <p:cNvSpPr/>
              <p:nvPr/>
            </p:nvSpPr>
            <p:spPr>
              <a:xfrm>
                <a:off x="9443864" y="3549934"/>
                <a:ext cx="1441563" cy="875744"/>
              </a:xfrm>
              <a:prstGeom prst="roundRect">
                <a:avLst/>
              </a:prstGeom>
              <a:solidFill>
                <a:srgbClr val="F7E1E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迁移协调器执行迁移</a:t>
                </a:r>
              </a:p>
            </p:txBody>
          </p:sp>
          <p:cxnSp>
            <p:nvCxnSpPr>
              <p:cNvPr id="24" name="连接符: 肘形 23">
                <a:extLst>
                  <a:ext uri="{FF2B5EF4-FFF2-40B4-BE49-F238E27FC236}">
                    <a16:creationId xmlns:a16="http://schemas.microsoft.com/office/drawing/2014/main" id="{BD3E43E1-06A1-23AA-74CF-837C5B3F9677}"/>
                  </a:ext>
                </a:extLst>
              </p:cNvPr>
              <p:cNvCxnSpPr>
                <a:stCxn id="17" idx="3"/>
                <a:endCxn id="18" idx="1"/>
              </p:cNvCxnSpPr>
              <p:nvPr/>
            </p:nvCxnSpPr>
            <p:spPr>
              <a:xfrm flipV="1">
                <a:off x="4010738" y="2764083"/>
                <a:ext cx="744681" cy="1257746"/>
              </a:xfrm>
              <a:prstGeom prst="bentConnector3">
                <a:avLst/>
              </a:prstGeom>
              <a:ln w="28575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连接符: 肘形 27">
                <a:extLst>
                  <a:ext uri="{FF2B5EF4-FFF2-40B4-BE49-F238E27FC236}">
                    <a16:creationId xmlns:a16="http://schemas.microsoft.com/office/drawing/2014/main" id="{C5158465-16F7-42C1-51BD-89D34A0BDC8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41616" y="4469431"/>
                <a:ext cx="1172962" cy="277760"/>
              </a:xfrm>
              <a:prstGeom prst="bentConnector2">
                <a:avLst/>
              </a:prstGeom>
              <a:ln w="28575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连接符: 肘形 31">
                <a:extLst>
                  <a:ext uri="{FF2B5EF4-FFF2-40B4-BE49-F238E27FC236}">
                    <a16:creationId xmlns:a16="http://schemas.microsoft.com/office/drawing/2014/main" id="{9BE51E1E-12BC-E54F-DB1B-3E10B03E5BF6}"/>
                  </a:ext>
                </a:extLst>
              </p:cNvPr>
              <p:cNvCxnSpPr>
                <a:cxnSpLocks/>
                <a:stCxn id="18" idx="3"/>
                <a:endCxn id="20" idx="1"/>
              </p:cNvCxnSpPr>
              <p:nvPr/>
            </p:nvCxnSpPr>
            <p:spPr>
              <a:xfrm>
                <a:off x="5800537" y="2764083"/>
                <a:ext cx="1461273" cy="1223723"/>
              </a:xfrm>
              <a:prstGeom prst="bentConnector3">
                <a:avLst>
                  <a:gd name="adj1" fmla="val 29421"/>
                </a:avLst>
              </a:prstGeom>
              <a:ln w="28575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连接符: 肘形 38">
                <a:extLst>
                  <a:ext uri="{FF2B5EF4-FFF2-40B4-BE49-F238E27FC236}">
                    <a16:creationId xmlns:a16="http://schemas.microsoft.com/office/drawing/2014/main" id="{900CA82F-3B85-C96B-70D4-860C14D6569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5412567" y="4375296"/>
                <a:ext cx="1206986" cy="432006"/>
              </a:xfrm>
              <a:prstGeom prst="bentConnector3">
                <a:avLst>
                  <a:gd name="adj1" fmla="val 2714"/>
                </a:avLst>
              </a:prstGeom>
              <a:ln w="28575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CF2E46D5-F0EB-3953-6719-6C96B98890B5}"/>
                  </a:ext>
                </a:extLst>
              </p:cNvPr>
              <p:cNvCxnSpPr>
                <a:cxnSpLocks/>
                <a:stCxn id="20" idx="3"/>
                <a:endCxn id="22" idx="1"/>
              </p:cNvCxnSpPr>
              <p:nvPr/>
            </p:nvCxnSpPr>
            <p:spPr>
              <a:xfrm>
                <a:off x="8735692" y="3987806"/>
                <a:ext cx="708172" cy="0"/>
              </a:xfrm>
              <a:prstGeom prst="straightConnector1">
                <a:avLst/>
              </a:prstGeom>
              <a:ln w="28575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46CDCDC-076C-3E81-E378-88474EDB5379}"/>
                  </a:ext>
                </a:extLst>
              </p:cNvPr>
              <p:cNvSpPr txBox="1"/>
              <p:nvPr/>
            </p:nvSpPr>
            <p:spPr>
              <a:xfrm>
                <a:off x="4373117" y="3214676"/>
                <a:ext cx="104511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自由度最低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6D92C8EB-6FBA-47FA-67B2-F15C3A374698}"/>
                  </a:ext>
                </a:extLst>
              </p:cNvPr>
              <p:cNvSpPr txBox="1"/>
              <p:nvPr/>
            </p:nvSpPr>
            <p:spPr>
              <a:xfrm>
                <a:off x="4383078" y="4144612"/>
                <a:ext cx="104511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自由度最高</a:t>
                </a:r>
              </a:p>
            </p:txBody>
          </p:sp>
          <p:sp>
            <p:nvSpPr>
              <p:cNvPr id="46" name="对话气泡: 椭圆形 45">
                <a:extLst>
                  <a:ext uri="{FF2B5EF4-FFF2-40B4-BE49-F238E27FC236}">
                    <a16:creationId xmlns:a16="http://schemas.microsoft.com/office/drawing/2014/main" id="{ED96458F-52F0-7ECE-DC14-7B68AE06F095}"/>
                  </a:ext>
                </a:extLst>
              </p:cNvPr>
              <p:cNvSpPr/>
              <p:nvPr/>
            </p:nvSpPr>
            <p:spPr>
              <a:xfrm rot="10800000">
                <a:off x="7183319" y="4591299"/>
                <a:ext cx="2200024" cy="1226312"/>
              </a:xfrm>
              <a:prstGeom prst="wedgeEllipseCallou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对话气泡: 椭圆形 46">
                <a:extLst>
                  <a:ext uri="{FF2B5EF4-FFF2-40B4-BE49-F238E27FC236}">
                    <a16:creationId xmlns:a16="http://schemas.microsoft.com/office/drawing/2014/main" id="{D01DFE39-73D4-5787-FE00-9A79D6B10102}"/>
                  </a:ext>
                </a:extLst>
              </p:cNvPr>
              <p:cNvSpPr/>
              <p:nvPr/>
            </p:nvSpPr>
            <p:spPr>
              <a:xfrm>
                <a:off x="9483447" y="2222880"/>
                <a:ext cx="2422164" cy="1144423"/>
              </a:xfrm>
              <a:prstGeom prst="wedgeEllipseCallou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60B6DA1-F547-1699-0951-561F9509CCAF}"/>
                  </a:ext>
                </a:extLst>
              </p:cNvPr>
              <p:cNvSpPr txBox="1"/>
              <p:nvPr/>
            </p:nvSpPr>
            <p:spPr>
              <a:xfrm>
                <a:off x="7418980" y="4764409"/>
                <a:ext cx="19289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</a:rPr>
                  <a:t>倾向于较低优先级和较短序列长度的请求</a:t>
                </a: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A475DCE-DB14-05F3-B0FE-44276686906C}"/>
                  </a:ext>
                </a:extLst>
              </p:cNvPr>
              <p:cNvSpPr txBox="1"/>
              <p:nvPr/>
            </p:nvSpPr>
            <p:spPr>
              <a:xfrm>
                <a:off x="9671775" y="2326211"/>
                <a:ext cx="207216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-apple-system"/>
                  </a:rPr>
                  <a:t>不再超过阈值，</a:t>
                </a:r>
                <a:r>
                  <a:rPr lang="zh-CN" altLang="en-US" b="1" dirty="0">
                    <a:solidFill>
                      <a:schemeClr val="bg1"/>
                    </a:solidFill>
                    <a:latin typeface="-apple-system"/>
                  </a:rPr>
                  <a:t>则</a:t>
                </a:r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-apple-system"/>
                  </a:rPr>
                  <a:t>取消设置迁移状态，迁移将停止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0C6A423-A759-0AC8-3A2C-99E3A53A46F8}"/>
                  </a:ext>
                </a:extLst>
              </p:cNvPr>
              <p:cNvSpPr txBox="1"/>
              <p:nvPr/>
            </p:nvSpPr>
            <p:spPr>
              <a:xfrm>
                <a:off x="2556116" y="2227455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7030A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●</a:t>
                </a:r>
                <a:endParaRPr lang="zh-CN" altLang="en-US" dirty="0"/>
              </a:p>
            </p:txBody>
          </p:sp>
        </p:grp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C2D28565-43AD-2468-4F18-D350A36AAB6F}"/>
                </a:ext>
              </a:extLst>
            </p:cNvPr>
            <p:cNvSpPr txBox="1"/>
            <p:nvPr/>
          </p:nvSpPr>
          <p:spPr>
            <a:xfrm>
              <a:off x="3008678" y="2210029"/>
              <a:ext cx="15335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Migration</a:t>
              </a:r>
              <a:r>
                <a:rPr lang="zh-CN" altLang="en-US" b="1" dirty="0"/>
                <a:t>：</a:t>
              </a:r>
            </a:p>
            <a:p>
              <a:endParaRPr lang="zh-CN" altLang="en-US" dirty="0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237744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27AE60"/>
                </a:solidFill>
                <a:latin typeface="Microsoft YaHei"/>
              </a:rPr>
              <a:t>[成就] 取得的突破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1. 从标准LWE构造出SWHE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 摆脱理想格依赖!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2. 支持多项式深度运算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666666"/>
                </a:solidFill>
                <a:latin typeface="Consolas"/>
              </a:rPr>
              <a:t>   深度 L ~ epsilon*log n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 密文大小保持 O(n)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3. 密钥切换的雏形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 BGV/GSW/CKKS的基础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C0392B"/>
                </a:solidFill>
                <a:latin typeface="Microsoft YaHei"/>
              </a:rPr>
              <a:t>[局限] 仍是 Somewhat HE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C0392B"/>
                </a:solidFill>
                <a:latin typeface="Consolas"/>
              </a:rPr>
              <a:t>解密电路: degree &gt; max(n, log q)</a:t>
            </a:r>
          </a:p>
          <a:p>
            <a:pPr>
              <a:lnSpc>
                <a:spcPts val="1820"/>
              </a:lnSpc>
            </a:pPr>
            <a:r>
              <a:rPr sz="1400" b="0">
                <a:solidFill>
                  <a:srgbClr val="333333"/>
                </a:solidFill>
                <a:latin typeface="Consolas"/>
              </a:rPr>
              <a:t>SWHE能力: degree ~ n^epsilon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n^epsilon &lt;&lt; max(n, log q)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→ 无法满足自举条件!</a:t>
            </a:r>
          </a:p>
          <a:p>
            <a:pPr>
              <a:lnSpc>
                <a:spcPts val="1040"/>
              </a:lnSpc>
            </a:pPr>
            <a:r>
              <a:rPr sz="8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需要新工具降低解密复杂度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→ Dimension-Modulus Reduction!</a:t>
            </a:r>
          </a:p>
        </p:txBody>
      </p:sp>
    </p:spTree>
    <p:extLst>
      <p:ext uri="{BB962C8B-B14F-4D97-AF65-F5344CB8AC3E}">
        <p14:creationId xmlns:p14="http://schemas.microsoft.com/office/powerpoint/2010/main" val="322221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156D8-2C6E-8537-63D0-1F64E8920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CAA3F073-6466-CCE5-9619-F48E9B5FC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E24BEA8-248E-0843-6D4E-43D2CF0545BB}"/>
              </a:ext>
            </a:extLst>
          </p:cNvPr>
          <p:cNvGrpSpPr/>
          <p:nvPr/>
        </p:nvGrpSpPr>
        <p:grpSpPr>
          <a:xfrm>
            <a:off x="2216228" y="269008"/>
            <a:ext cx="6713711" cy="682262"/>
            <a:chOff x="299356" y="260648"/>
            <a:chExt cx="6713711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9BD2459-2393-5F22-83C8-F9C42747F1BE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ED9C271-8673-0D49-4B9D-A1DD9A66B213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9D8B94D-534A-5827-65EA-9DF5CFED53ED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87612E5-73C1-D2CB-9822-9DB35BE164E4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9D90D94D-E61C-4D0D-9F1C-F0B1BC7A8061}"/>
                </a:ext>
              </a:extLst>
            </p:cNvPr>
            <p:cNvSpPr txBox="1"/>
            <p:nvPr/>
          </p:nvSpPr>
          <p:spPr>
            <a:xfrm>
              <a:off x="1163452" y="260648"/>
              <a:ext cx="5849615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Bootstrapping 瓶颈与维度-模缩减思路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48A70566-C1B1-7F20-44B4-7ACA6F2E988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0D151E8D-C262-6D1D-C6BC-45B0DB8C6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276" y="953488"/>
            <a:ext cx="6067656" cy="3210179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AE234EEF-2804-85A9-461D-2A20AA2144C2}"/>
              </a:ext>
            </a:extLst>
          </p:cNvPr>
          <p:cNvGrpSpPr/>
          <p:nvPr/>
        </p:nvGrpSpPr>
        <p:grpSpPr>
          <a:xfrm>
            <a:off x="8676240" y="1190562"/>
            <a:ext cx="3303014" cy="2845343"/>
            <a:chOff x="8676240" y="1190562"/>
            <a:chExt cx="3303014" cy="2845343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B8E799A-E4B5-77A0-325E-C05FE61D1EF1}"/>
                </a:ext>
              </a:extLst>
            </p:cNvPr>
            <p:cNvSpPr txBox="1"/>
            <p:nvPr/>
          </p:nvSpPr>
          <p:spPr>
            <a:xfrm>
              <a:off x="8929939" y="1190562"/>
              <a:ext cx="295185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挑战：</a:t>
              </a:r>
              <a:r>
                <a:rPr lang="en-US" altLang="zh-CN" b="1" dirty="0"/>
                <a:t>LLM</a:t>
              </a:r>
              <a:r>
                <a:rPr lang="zh-CN" altLang="en-US" b="1" dirty="0"/>
                <a:t>的请求还需要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缓存状态来获取上下文；</a:t>
              </a:r>
              <a:endParaRPr lang="en-US" altLang="zh-CN" b="1" dirty="0"/>
            </a:p>
            <a:p>
              <a:r>
                <a:rPr lang="zh-CN" altLang="en-US" b="1" dirty="0"/>
                <a:t>重新调度可能带来巨大的成本和服务停滞；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B421AD8-15CC-C904-2094-271F2D5A37F0}"/>
                </a:ext>
              </a:extLst>
            </p:cNvPr>
            <p:cNvSpPr txBox="1"/>
            <p:nvPr/>
          </p:nvSpPr>
          <p:spPr>
            <a:xfrm>
              <a:off x="8929939" y="2558577"/>
              <a:ext cx="304931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解决方案：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缓存的特性是</a:t>
              </a:r>
              <a:r>
                <a:rPr lang="en-US" altLang="zh-CN" b="1" dirty="0">
                  <a:solidFill>
                    <a:srgbClr val="FF0000"/>
                  </a:solidFill>
                </a:rPr>
                <a:t>append-only</a:t>
              </a:r>
              <a:r>
                <a:rPr lang="zh-CN" altLang="en-US" b="1" dirty="0"/>
                <a:t>。将计算出的当前迭代的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状态附加到</a:t>
              </a:r>
              <a:r>
                <a:rPr lang="en-US" altLang="zh-CN" b="1" dirty="0"/>
                <a:t>KV cache</a:t>
              </a:r>
              <a:r>
                <a:rPr lang="zh-CN" altLang="en-US" b="1" dirty="0"/>
                <a:t>参数中，从而使先前迭代生成的参数保持不变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A78F1B3-8D43-246B-4737-A630A804DF0E}"/>
                </a:ext>
              </a:extLst>
            </p:cNvPr>
            <p:cNvSpPr txBox="1"/>
            <p:nvPr/>
          </p:nvSpPr>
          <p:spPr>
            <a:xfrm>
              <a:off x="8677911" y="1201860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6F7C33E-6E1F-7D6F-B537-C8C0D07B067B}"/>
                </a:ext>
              </a:extLst>
            </p:cNvPr>
            <p:cNvSpPr txBox="1"/>
            <p:nvPr/>
          </p:nvSpPr>
          <p:spPr>
            <a:xfrm>
              <a:off x="8676240" y="2575234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7287B9B6-CBD5-53ED-5DCD-FB91BCF87C5B}"/>
              </a:ext>
            </a:extLst>
          </p:cNvPr>
          <p:cNvGrpSpPr/>
          <p:nvPr/>
        </p:nvGrpSpPr>
        <p:grpSpPr>
          <a:xfrm>
            <a:off x="2759975" y="1843914"/>
            <a:ext cx="8487586" cy="3621180"/>
            <a:chOff x="2759975" y="1843914"/>
            <a:chExt cx="8487586" cy="3621180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AFF7FE9-93FA-8127-B8D3-4F902843760C}"/>
                </a:ext>
              </a:extLst>
            </p:cNvPr>
            <p:cNvSpPr txBox="1"/>
            <p:nvPr/>
          </p:nvSpPr>
          <p:spPr>
            <a:xfrm>
              <a:off x="2759975" y="4538210"/>
              <a:ext cx="266752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i="0" dirty="0">
                  <a:effectLst/>
                  <a:latin typeface="-apple-system"/>
                </a:rPr>
                <a:t>1.</a:t>
              </a:r>
              <a:r>
                <a:rPr lang="zh-CN" altLang="en-US" b="1" i="0" dirty="0">
                  <a:effectLst/>
                  <a:latin typeface="-apple-system"/>
                </a:rPr>
                <a:t>当完成对先前</a:t>
              </a:r>
              <a:r>
                <a:rPr lang="en-US" altLang="zh-CN" b="1" i="0" dirty="0" err="1">
                  <a:effectLst/>
                  <a:latin typeface="-apple-system"/>
                </a:rPr>
                <a:t>KVcache</a:t>
              </a:r>
              <a:r>
                <a:rPr lang="zh-CN" altLang="en-US" b="1" i="0" dirty="0">
                  <a:effectLst/>
                  <a:latin typeface="-apple-system"/>
                </a:rPr>
                <a:t>块的复制时，将在</a:t>
              </a:r>
              <a:r>
                <a:rPr lang="en-US" altLang="zh-CN" b="1" dirty="0">
                  <a:latin typeface="-apple-system"/>
                </a:rPr>
                <a:t>Stage</a:t>
              </a:r>
              <a:r>
                <a:rPr lang="en-US" altLang="zh-CN" b="1" i="0" dirty="0">
                  <a:effectLst/>
                  <a:latin typeface="-apple-system"/>
                </a:rPr>
                <a:t>0</a:t>
              </a:r>
              <a:r>
                <a:rPr lang="zh-CN" altLang="en-US" b="1" i="0" dirty="0">
                  <a:effectLst/>
                  <a:latin typeface="-apple-system"/>
                </a:rPr>
                <a:t>中计算更多的迭代</a:t>
              </a:r>
              <a:endParaRPr lang="zh-CN" altLang="en-US" b="1" dirty="0"/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09B5A2AB-4319-BEC4-FEC5-F45C8B70EF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9678" y="3408459"/>
              <a:ext cx="331808" cy="111542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0063F33-E873-3309-65F4-05410AB53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3736" y="1884032"/>
              <a:ext cx="1203954" cy="263985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BB4337C-4DB7-BC77-C68C-C0364BF6AC76}"/>
                </a:ext>
              </a:extLst>
            </p:cNvPr>
            <p:cNvCxnSpPr>
              <a:cxnSpLocks/>
            </p:cNvCxnSpPr>
            <p:nvPr/>
          </p:nvCxnSpPr>
          <p:spPr>
            <a:xfrm>
              <a:off x="6535204" y="1843914"/>
              <a:ext cx="207946" cy="262989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65A2909-F980-D769-488B-8DEB1580D0A0}"/>
                </a:ext>
              </a:extLst>
            </p:cNvPr>
            <p:cNvCxnSpPr>
              <a:cxnSpLocks/>
            </p:cNvCxnSpPr>
            <p:nvPr/>
          </p:nvCxnSpPr>
          <p:spPr>
            <a:xfrm>
              <a:off x="6287260" y="3452530"/>
              <a:ext cx="247944" cy="107135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9CD8C08-5EAE-15DD-CF0A-A0859F35B9EE}"/>
                </a:ext>
              </a:extLst>
            </p:cNvPr>
            <p:cNvSpPr txBox="1"/>
            <p:nvPr/>
          </p:nvSpPr>
          <p:spPr>
            <a:xfrm>
              <a:off x="5427497" y="4538210"/>
              <a:ext cx="28504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2.</a:t>
              </a:r>
              <a:r>
                <a:rPr lang="zh-CN" altLang="en-US" b="1" dirty="0"/>
                <a:t>切换到</a:t>
              </a:r>
              <a:r>
                <a:rPr lang="en-US" altLang="zh-CN" b="1" dirty="0"/>
                <a:t>Stage1</a:t>
              </a:r>
              <a:r>
                <a:rPr lang="zh-CN" altLang="en-US" b="1" dirty="0"/>
                <a:t>进行计算，同时复制</a:t>
              </a:r>
              <a:r>
                <a:rPr lang="en-US" altLang="zh-CN" b="1" dirty="0"/>
                <a:t>Stage0</a:t>
              </a:r>
              <a:r>
                <a:rPr lang="zh-CN" altLang="en-US" b="1" dirty="0"/>
                <a:t>的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缓存</a:t>
              </a: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D00E090-3C96-D2C4-8CF2-988E5C4517CA}"/>
                </a:ext>
              </a:extLst>
            </p:cNvPr>
            <p:cNvCxnSpPr>
              <a:cxnSpLocks/>
            </p:cNvCxnSpPr>
            <p:nvPr/>
          </p:nvCxnSpPr>
          <p:spPr>
            <a:xfrm>
              <a:off x="7346316" y="3563674"/>
              <a:ext cx="1650042" cy="9101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9E3893C-67A1-52B6-1A00-004B805F26D7}"/>
                </a:ext>
              </a:extLst>
            </p:cNvPr>
            <p:cNvSpPr txBox="1"/>
            <p:nvPr/>
          </p:nvSpPr>
          <p:spPr>
            <a:xfrm>
              <a:off x="8397127" y="4541764"/>
              <a:ext cx="28504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3.</a:t>
              </a:r>
              <a:r>
                <a:rPr lang="zh-CN" altLang="en-US" b="1" dirty="0"/>
                <a:t>只有</a:t>
              </a:r>
              <a:r>
                <a:rPr lang="en-US" altLang="zh-CN" b="1" dirty="0" err="1"/>
                <a:t>StageN</a:t>
              </a:r>
              <a:r>
                <a:rPr lang="zh-CN" altLang="en-US" b="1" dirty="0"/>
                <a:t>之后需要停止计算</a:t>
              </a:r>
              <a:r>
                <a:rPr lang="zh-CN" altLang="en-US" b="1" dirty="0">
                  <a:solidFill>
                    <a:srgbClr val="FF0000"/>
                  </a:solidFill>
                </a:rPr>
                <a:t>一次</a:t>
              </a:r>
              <a:r>
                <a:rPr lang="zh-CN" altLang="en-US" b="1" dirty="0"/>
                <a:t>，复制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缓存，然后</a:t>
              </a:r>
              <a:r>
                <a:rPr lang="zh-CN" altLang="en-US" b="1" dirty="0">
                  <a:solidFill>
                    <a:srgbClr val="FF0000"/>
                  </a:solidFill>
                </a:rPr>
                <a:t>进入新实例</a:t>
              </a:r>
              <a:r>
                <a:rPr lang="zh-CN" altLang="en-US" b="1" dirty="0"/>
                <a:t>计算</a:t>
              </a: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6AF7D0A-A174-0BF8-7722-FC90D1B2C84C}"/>
              </a:ext>
            </a:extLst>
          </p:cNvPr>
          <p:cNvGrpSpPr/>
          <p:nvPr/>
        </p:nvGrpSpPr>
        <p:grpSpPr>
          <a:xfrm>
            <a:off x="2693901" y="5645875"/>
            <a:ext cx="8635845" cy="772845"/>
            <a:chOff x="2693901" y="5645875"/>
            <a:chExt cx="8635845" cy="772845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F004E78-EDC5-C5C2-0A2E-4B47AA2D2068}"/>
                </a:ext>
              </a:extLst>
            </p:cNvPr>
            <p:cNvSpPr txBox="1"/>
            <p:nvPr/>
          </p:nvSpPr>
          <p:spPr>
            <a:xfrm>
              <a:off x="3578518" y="5772389"/>
              <a:ext cx="775122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在</a:t>
              </a:r>
              <a:r>
                <a:rPr lang="en-US" altLang="zh-CN" b="1" dirty="0">
                  <a:solidFill>
                    <a:srgbClr val="FF0000"/>
                  </a:solidFill>
                </a:rPr>
                <a:t>LLM</a:t>
              </a:r>
              <a:r>
                <a:rPr lang="zh-CN" altLang="en-US" b="1" dirty="0">
                  <a:solidFill>
                    <a:srgbClr val="FF0000"/>
                  </a:solidFill>
                </a:rPr>
                <a:t>场景下，复制通常比计算快得多，因此</a:t>
              </a:r>
              <a:r>
                <a:rPr lang="zh-CN" altLang="en-US" b="1" i="0" dirty="0">
                  <a:solidFill>
                    <a:srgbClr val="FF0000"/>
                  </a:solidFill>
                  <a:effectLst/>
                  <a:latin typeface="-apple-system"/>
                </a:rPr>
                <a:t>请求的停机时间仅为复制一次迭代生成的</a:t>
              </a:r>
              <a:r>
                <a:rPr lang="en-US" altLang="zh-CN" b="1" i="0" dirty="0">
                  <a:solidFill>
                    <a:srgbClr val="FF0000"/>
                  </a:solidFill>
                  <a:effectLst/>
                  <a:latin typeface="-apple-system"/>
                </a:rPr>
                <a:t>KV</a:t>
              </a:r>
              <a:r>
                <a:rPr lang="zh-CN" altLang="en-US" b="1" i="0" dirty="0">
                  <a:solidFill>
                    <a:srgbClr val="FF0000"/>
                  </a:solidFill>
                  <a:effectLst/>
                  <a:latin typeface="-apple-system"/>
                </a:rPr>
                <a:t>缓存的时间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pic>
          <p:nvPicPr>
            <p:cNvPr id="58" name="图形 57" descr="灯泡和齿轮 纯色填充">
              <a:extLst>
                <a:ext uri="{FF2B5EF4-FFF2-40B4-BE49-F238E27FC236}">
                  <a16:creationId xmlns:a16="http://schemas.microsoft.com/office/drawing/2014/main" id="{061AA007-283D-A281-C12B-340BC6C48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93901" y="5645875"/>
              <a:ext cx="772845" cy="772845"/>
            </a:xfrm>
            <a:prstGeom prst="rect">
              <a:avLst/>
            </a:prstGeom>
          </p:spPr>
        </p:pic>
      </p:grpSp>
      <p:sp>
        <p:nvSpPr>
          <p:cNvPr id="65" name="TextBox 64"/>
          <p:cNvSpPr txBox="1"/>
          <p:nvPr/>
        </p:nvSpPr>
        <p:spPr>
          <a:xfrm>
            <a:off x="23774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瓶颈：解密电路 degree &gt;= max(n, log q)  &gt;&gt;  n^epsilon (SWHE能力)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路径 A (Gentry'09): Squashing → 人为降低解密degree → 引入稀疏子集和假设 ✗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7AE60"/>
                </a:solidFill>
                <a:latin typeface="Microsoft YaHei"/>
              </a:rPr>
              <a:t>路径 B (本文): Dimension-Modulus Reduction  → 缩减密文参数 → 无需额外假设 ✓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维度缩减 (n→k): 选择短密钥 s_hat in Z_p^k (k&lt;&lt;n), Re-linearization照样工作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模缩减 (q→p): scale(x) = round((p/q)*x), 舍入误差&lt;=1/2 在噪声预算内可控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950"/>
              </a:lnSpc>
            </a:pPr>
            <a:r>
              <a:rPr sz="1500" b="1">
                <a:solidFill>
                  <a:srgbClr val="27AE60"/>
                </a:solidFill>
                <a:latin typeface="Microsoft YaHei"/>
              </a:rPr>
              <a:t>效果：(n, log q) → (k, log p) → max(k, log p) 很小 → 解密可在SWHE能力内评估!</a:t>
            </a:r>
          </a:p>
        </p:txBody>
      </p:sp>
    </p:spTree>
    <p:extLst>
      <p:ext uri="{BB962C8B-B14F-4D97-AF65-F5344CB8AC3E}">
        <p14:creationId xmlns:p14="http://schemas.microsoft.com/office/powerpoint/2010/main" val="124690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5A77-1580-FAA3-1953-F1F17BFE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EC4CABCF-4DF9-70EE-755D-E86C23396A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C4C235FC-069C-7EFF-D94B-60C2DFD9AE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D88AF5-FF49-601B-6C20-EFCE84E20FC7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DBD359E-E630-1743-06CE-A7DDD2532D54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4285D1-7CB9-746E-5DB0-CB2922D4B973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9B45023-2A95-2F4A-7EEC-A3DFC95EE6C1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F1E70BC4-3F3F-BF98-3F3C-8480D92FDF13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05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394B7F24-670F-AAB2-BF63-81FEC8493096}"/>
              </a:ext>
            </a:extLst>
          </p:cNvPr>
          <p:cNvSpPr txBox="1"/>
          <p:nvPr/>
        </p:nvSpPr>
        <p:spPr>
          <a:xfrm>
            <a:off x="2330019" y="2805015"/>
            <a:ext cx="4151265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1B3A5C"/>
                </a:solidFill>
                <a:latin typeface="Calibri"/>
              </a:rPr>
              <a:t>BTS Scheme
Construction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9B3FB9-9E3B-D720-D5D7-238E29975894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BTS方案完整构造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CC313482-4BDA-6D77-5153-CBF32D861B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3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FF30B-494D-AA6D-613E-69714F80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AC74DB54-1757-8033-3344-54A33082F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74517FA7-9B67-B8A6-766C-C2485E48570F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115FD6E-31E7-C482-AF39-D414E44EF9DD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0AE049E-85FD-6B7D-22D5-3CE2B82121A2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EAFBB3F-3D80-4749-E07D-4A4B2F2CA3A7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3325B66-52D6-A739-2CB4-A487A92F42D2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6796164C-1800-ED0F-27B7-81A1411C6A7C}"/>
                </a:ext>
              </a:extLst>
            </p:cNvPr>
            <p:cNvSpPr txBox="1"/>
            <p:nvPr/>
          </p:nvSpPr>
          <p:spPr>
            <a:xfrm>
              <a:off x="1163452" y="260648"/>
              <a:ext cx="3424079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BTS 方案: KeyGen / Enc / Dec / Eval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15048A00-F5CA-4C5D-2B5B-FEA02CDA9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096039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3D552C32-1121-B3B3-06A4-DBCED755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312" y="1237214"/>
            <a:ext cx="4543682" cy="203481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792B7C2-B0E2-38F9-BE0C-586CBB69C4FB}"/>
              </a:ext>
            </a:extLst>
          </p:cNvPr>
          <p:cNvSpPr txBox="1"/>
          <p:nvPr/>
        </p:nvSpPr>
        <p:spPr>
          <a:xfrm>
            <a:off x="7515994" y="1474618"/>
            <a:ext cx="45921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b="1" i="0" dirty="0">
              <a:solidFill>
                <a:srgbClr val="000000"/>
              </a:solidFill>
              <a:effectLst/>
              <a:latin typeface="Inter"/>
            </a:endParaRPr>
          </a:p>
          <a:p>
            <a:pPr algn="l" rt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</a:p>
          <a:p>
            <a:pPr>
              <a:buNone/>
            </a:pP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2DE587-8758-B8DE-2B1A-68C5D105CF5F}"/>
              </a:ext>
            </a:extLst>
          </p:cNvPr>
          <p:cNvSpPr txBox="1"/>
          <p:nvPr/>
        </p:nvSpPr>
        <p:spPr>
          <a:xfrm>
            <a:off x="3076470" y="1003303"/>
            <a:ext cx="332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ED88A5-F049-98DE-60D5-101158981DA2}"/>
              </a:ext>
            </a:extLst>
          </p:cNvPr>
          <p:cNvSpPr txBox="1"/>
          <p:nvPr/>
        </p:nvSpPr>
        <p:spPr>
          <a:xfrm>
            <a:off x="2720284" y="1003303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B100667-7547-78FD-9086-537EC7951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470" y="3601557"/>
            <a:ext cx="8816698" cy="138227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A2FDA50-6D84-2DA2-57BF-FA96E01B7221}"/>
              </a:ext>
            </a:extLst>
          </p:cNvPr>
          <p:cNvSpPr txBox="1"/>
          <p:nvPr/>
        </p:nvSpPr>
        <p:spPr>
          <a:xfrm>
            <a:off x="3076469" y="3416891"/>
            <a:ext cx="332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0E73FA-1834-4AAB-3A8D-1AEFB0250BC6}"/>
              </a:ext>
            </a:extLst>
          </p:cNvPr>
          <p:cNvSpPr txBox="1"/>
          <p:nvPr/>
        </p:nvSpPr>
        <p:spPr>
          <a:xfrm>
            <a:off x="2722745" y="3432150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CCFC4E-FE84-779F-3799-37DE4510FFB6}"/>
              </a:ext>
            </a:extLst>
          </p:cNvPr>
          <p:cNvSpPr txBox="1"/>
          <p:nvPr/>
        </p:nvSpPr>
        <p:spPr>
          <a:xfrm>
            <a:off x="3121367" y="5251454"/>
            <a:ext cx="73727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b="1" i="0" dirty="0">
              <a:effectLst/>
              <a:latin typeface="Inter"/>
            </a:endParaRPr>
          </a:p>
          <a:p>
            <a:endParaRPr lang="en-US" altLang="zh-CN" b="1" dirty="0"/>
          </a:p>
          <a:p>
            <a:endParaRPr lang="en-US" altLang="zh-CN" b="1" dirty="0"/>
          </a:p>
          <a:p>
            <a:endParaRPr lang="zh-CN" alt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56032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KeyGen: 长密钥链s0..sL+短密钥s_hat+Psi(重线性化)+Psi_hat(桥接)+pk=(A,b=As0+2e)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Enc: r&lt;-{0,1}^m, v=A^T*r, w=b^T*r+mu, 输出 ((v,w), tag=0)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Dec: mu* = (w_hat - &lt;v_hat,s_hat&gt; mod p) mod 2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同态评估不变量: w - &lt;v,s_ell&gt; = mu + 2e (mod q), |e| &lt; q/4 保证正确解密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加法Gate: c_add = ((Sum vi, Sum wi), ell) → 噪声线性增长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乘法Gate (3步):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1. 构造二次型 Phi(x) = (w-&lt;v,x&gt;)(w'-&lt;v',x&gt;) = Sum hij * x[i]x[j]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2. 比特分解 hij = Sum_tau hij,tau * 2^tau  (hij,tau in {0,1})</a:t>
            </a:r>
          </a:p>
          <a:p>
            <a:pPr>
              <a:lnSpc>
                <a:spcPts val="156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3. 重线性化: v_mult=Sum hij,tau*a; w_mult=Sum hij,tau*b → tag=ell+1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最后一步-维度模缩减: 使用Psi_hat将(n,q)密文转为(k,p)短密文</a:t>
            </a:r>
          </a:p>
        </p:txBody>
      </p:sp>
    </p:spTree>
    <p:extLst>
      <p:ext uri="{BB962C8B-B14F-4D97-AF65-F5344CB8AC3E}">
        <p14:creationId xmlns:p14="http://schemas.microsoft.com/office/powerpoint/2010/main" val="33781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F65E-496E-1580-7FE0-E519F83D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4E7FC07C-3A06-F349-C0D5-2AE97FA647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F3398D08-65E7-A89D-E547-7E1917113F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6995F25-B252-34CB-158F-AC8B24E1F812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0431B5E-BFC7-5503-10D9-3DFE854FC2CB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F853CDD-0B62-9CAF-E6A6-BF7EEC4B8D98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A600934-E0C9-410D-D223-DDD10F899FE6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05E56BE2-BA94-3925-9265-B19D0A45F8E6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06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3DE3C4A4-8CAD-59A1-D153-ACA536ECF044}"/>
              </a:ext>
            </a:extLst>
          </p:cNvPr>
          <p:cNvSpPr txBox="1"/>
          <p:nvPr/>
        </p:nvSpPr>
        <p:spPr>
          <a:xfrm>
            <a:off x="2330019" y="2805015"/>
            <a:ext cx="4314323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1B3A5C"/>
                </a:solidFill>
                <a:latin typeface="Calibri"/>
              </a:rPr>
              <a:t>Application:
Near-Optimal PIR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antGarde Md BT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361D4C-A108-A40F-DB4D-DEA196A5E63C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Part 4 - 应用：近最优私有信息检索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3958BA2A-AEF2-6295-719D-C23B13CB2E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4791-7EB1-9EF5-75C2-6E48FE08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0A9DA915-1BD1-06B2-88DF-815735387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F1036F3-155B-9E9E-1904-62D3939C2176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0FF407C-6520-96EF-85F3-0393C2CB2C09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11C45EB-6C5D-8AD8-DE32-5889820BDD6D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DDC26C4-E170-4ED8-D07A-9AD060964819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EA80FF8-27A3-8EC3-E267-D5DB81C54215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96B5FB12-34D9-8787-5390-0D72F7EDC703}"/>
                </a:ext>
              </a:extLst>
            </p:cNvPr>
            <p:cNvSpPr txBox="1"/>
            <p:nvPr/>
          </p:nvSpPr>
          <p:spPr>
            <a:xfrm>
              <a:off x="1163452" y="260648"/>
              <a:ext cx="4979184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sz="2600" b="1">
                  <a:solidFill>
                    <a:srgbClr val="1B3A5C"/>
                  </a:solidFill>
                  <a:latin typeface="Microsoft YaHei"/>
                </a:rPr>
                <a:t>Bootstrapping达成 + PIR应用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04A6A955-F93A-39D1-1906-AE25E8281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204923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6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C3680A8-33B9-07E1-A90E-660F2851DBEE}"/>
              </a:ext>
            </a:extLst>
          </p:cNvPr>
          <p:cNvSpPr txBox="1"/>
          <p:nvPr/>
        </p:nvSpPr>
        <p:spPr>
          <a:xfrm>
            <a:off x="2824856" y="1020541"/>
            <a:ext cx="3326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rgbClr val="7030A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001285-A823-5DE7-158B-D4984C724A1D}"/>
              </a:ext>
            </a:extLst>
          </p:cNvPr>
          <p:cNvSpPr txBox="1"/>
          <p:nvPr/>
        </p:nvSpPr>
        <p:spPr>
          <a:xfrm>
            <a:off x="3080324" y="1507897"/>
            <a:ext cx="75647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/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CBD001-836B-B56B-D79E-33A76B5B2F37}"/>
              </a:ext>
            </a:extLst>
          </p:cNvPr>
          <p:cNvSpPr txBox="1"/>
          <p:nvPr/>
        </p:nvSpPr>
        <p:spPr>
          <a:xfrm>
            <a:off x="2821867" y="1482206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6C4C3-EFA2-18E0-583A-BC6BF1AA31C0}"/>
              </a:ext>
            </a:extLst>
          </p:cNvPr>
          <p:cNvSpPr txBox="1"/>
          <p:nvPr/>
        </p:nvSpPr>
        <p:spPr>
          <a:xfrm>
            <a:off x="2821867" y="2044767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CB822D-FA61-4038-36E7-586463226096}"/>
              </a:ext>
            </a:extLst>
          </p:cNvPr>
          <p:cNvSpPr txBox="1"/>
          <p:nvPr/>
        </p:nvSpPr>
        <p:spPr>
          <a:xfrm>
            <a:off x="2821867" y="2607328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9FF7AA-4D45-363A-CC84-1AB0A56F5670}"/>
              </a:ext>
            </a:extLst>
          </p:cNvPr>
          <p:cNvSpPr txBox="1"/>
          <p:nvPr/>
        </p:nvSpPr>
        <p:spPr>
          <a:xfrm>
            <a:off x="2821867" y="3169890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382E9CC-D126-B7FD-CD46-BB9C88F6C6B5}"/>
              </a:ext>
            </a:extLst>
          </p:cNvPr>
          <p:cNvGrpSpPr/>
          <p:nvPr/>
        </p:nvGrpSpPr>
        <p:grpSpPr>
          <a:xfrm>
            <a:off x="2821867" y="4068587"/>
            <a:ext cx="8035675" cy="1530333"/>
            <a:chOff x="2821867" y="4068587"/>
            <a:chExt cx="8035675" cy="1530333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FF44AD4-1E46-8EB5-99B3-8C16F6403F91}"/>
                </a:ext>
              </a:extLst>
            </p:cNvPr>
            <p:cNvSpPr txBox="1"/>
            <p:nvPr/>
          </p:nvSpPr>
          <p:spPr>
            <a:xfrm>
              <a:off x="2821867" y="4649558"/>
              <a:ext cx="8035675" cy="949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000" b="1" i="0" dirty="0">
                  <a:solidFill>
                    <a:srgbClr val="000000"/>
                  </a:solidFill>
                  <a:effectLst/>
                  <a:latin typeface="Inter"/>
                </a:rPr>
                <a:t>动态工作负载需要动态调度，大语言模型也不例外。</a:t>
              </a:r>
              <a:endParaRPr lang="en-US" altLang="zh-CN" sz="2000" b="1" i="0" dirty="0">
                <a:solidFill>
                  <a:srgbClr val="000000"/>
                </a:solidFill>
                <a:effectLst/>
                <a:latin typeface="Inter"/>
              </a:endParaRPr>
            </a:p>
            <a:p>
              <a:pPr algn="l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000" b="1" i="0" dirty="0">
                  <a:solidFill>
                    <a:srgbClr val="000000"/>
                  </a:solidFill>
                  <a:effectLst/>
                  <a:latin typeface="Inter"/>
                </a:rPr>
                <a:t>本文的</a:t>
              </a:r>
              <a:r>
                <a:rPr lang="en-US" altLang="zh-CN" sz="2000" b="1" i="0" dirty="0">
                  <a:solidFill>
                    <a:srgbClr val="000000"/>
                  </a:solidFill>
                  <a:effectLst/>
                  <a:latin typeface="Inter"/>
                </a:rPr>
                <a:t>Llumnix </a:t>
              </a:r>
              <a:r>
                <a:rPr lang="zh-CN" altLang="en-US" sz="2000" b="1" i="0" dirty="0">
                  <a:solidFill>
                    <a:srgbClr val="000000"/>
                  </a:solidFill>
                  <a:effectLst/>
                  <a:latin typeface="Inter"/>
                </a:rPr>
                <a:t>借鉴了传统系统的经验，在当下最热门的场景下实现了创新性的突破。</a:t>
              </a:r>
              <a:endParaRPr lang="en-US" altLang="zh-CN" sz="2000" b="1" i="0" dirty="0">
                <a:solidFill>
                  <a:srgbClr val="000000"/>
                </a:solidFill>
                <a:effectLst/>
                <a:latin typeface="Inter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225D159-3F7E-211C-EF7C-60DAC9006C41}"/>
                </a:ext>
              </a:extLst>
            </p:cNvPr>
            <p:cNvSpPr txBox="1"/>
            <p:nvPr/>
          </p:nvSpPr>
          <p:spPr>
            <a:xfrm>
              <a:off x="2821867" y="4068587"/>
              <a:ext cx="33266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7030A0"/>
                  </a:solidFill>
                </a:rPr>
                <a:t>Conclusion</a:t>
              </a:r>
              <a:endParaRPr lang="zh-CN" altLang="en-US" sz="24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37744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27AE60"/>
                </a:solidFill>
                <a:latin typeface="Microsoft YaHei"/>
              </a:rPr>
              <a:t>Bootstrapping达成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000000"/>
                </a:solidFill>
                <a:latin typeface="Consolas"/>
              </a:rPr>
              <a:t>参数: k=kappa, n=k^4, q=2^sqrt(n)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000000"/>
                </a:solidFill>
                <a:latin typeface="Consolas"/>
              </a:rPr>
              <a:t>p=poly(k), L=(1/3)log n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解密电路: O(log k+log log p)深度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BTS能力: ~n^epsilon = k^{c*epsilon}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7AE60"/>
                </a:solidFill>
                <a:latin typeface="Microsoft YaHei"/>
              </a:rPr>
              <a:t>选c够大 → 可自举!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安全性: DLWE_{n,q} + DLWE_{k,p}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2C5F8A"/>
                </a:solidFill>
                <a:latin typeface="Microsoft YaHei"/>
              </a:rPr>
              <a:t>近最优PIR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对称加密索引 → O(logN)查询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BTS短密文: O(k log k)比特</a:t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7AE60"/>
                </a:solidFill>
                <a:latin typeface="Microsoft YaHei"/>
              </a:rPr>
              <a:t>响应: O(logN*polyloglogN)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2C5F8A"/>
                </a:solidFill>
                <a:latin typeface="Microsoft YaHei"/>
              </a:rPr>
              <a:t>首个基于LWE的polylog PIR!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接近理论下界Omega(logN)</a:t>
            </a:r>
          </a:p>
        </p:txBody>
      </p:sp>
    </p:spTree>
    <p:extLst>
      <p:ext uri="{BB962C8B-B14F-4D97-AF65-F5344CB8AC3E}">
        <p14:creationId xmlns:p14="http://schemas.microsoft.com/office/powerpoint/2010/main" val="19629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12AF61F-08DC-A6D9-5551-EA0A504B8A37}"/>
              </a:ext>
            </a:extLst>
          </p:cNvPr>
          <p:cNvGraphicFramePr>
            <a:graphicFrameLocks noGrp="1"/>
          </p:cNvGraphicFramePr>
          <p:nvPr/>
        </p:nvGraphicFramePr>
        <p:xfrm>
          <a:off x="0" y="1963287"/>
          <a:ext cx="12192000" cy="1958201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201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r>
                        <a:rPr lang="en-US" sz="39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             </a:t>
                      </a:r>
                      <a:r>
                        <a:rPr lang="en-US" sz="66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lang="en-US" altLang="zh-CN" sz="66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hank You !</a:t>
                      </a:r>
                      <a:endParaRPr sz="6600" b="1" kern="0" spc="-10" dirty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17A0F459-A22F-2508-6493-FEAD6F648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南开大学_中外合作办学网">
            <a:extLst>
              <a:ext uri="{FF2B5EF4-FFF2-40B4-BE49-F238E27FC236}">
                <a16:creationId xmlns:a16="http://schemas.microsoft.com/office/drawing/2014/main" id="{A7536F0A-8B3A-D213-045F-0ED156C6A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698"/>
            <a:ext cx="2700242" cy="77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774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2C5F8A"/>
                </a:solidFill>
                <a:latin typeface="Microsoft YaHei"/>
              </a:rPr>
              <a:t>贡献1: Re-linearization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→ SWHE from 标准LWE (去掉理想格) → 密钥切换范式 → BGV/GSW/CKKS等的基础</a:t>
            </a:r>
          </a:p>
          <a:p>
            <a:pPr>
              <a:lnSpc>
                <a:spcPts val="2340"/>
              </a:lnSpc>
            </a:pPr>
            <a:r>
              <a:rPr sz="1800" b="1">
                <a:solidFill>
                  <a:srgbClr val="2C5F8A"/>
                </a:solidFill>
                <a:latin typeface="Microsoft YaHei"/>
              </a:rPr>
              <a:t>贡献2: Dimension-Modulus Reduction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→ 替代Squashing (去掉稀疏子集和) → 纯LWE Bootstrapping → 短密文 → 近最优PIR</a:t>
            </a:r>
          </a:p>
          <a:p>
            <a:pPr>
              <a:lnSpc>
                <a:spcPts val="780"/>
              </a:lnSpc>
            </a:pPr>
            <a:r>
              <a:rPr sz="600" b="0">
                <a:solidFill>
                  <a:srgbClr val="000000"/>
                </a:solidFill>
                <a:latin typeface="Microsoft YaHei"/>
              </a:rPr>
              <a:t/>
            </a:r>
          </a:p>
          <a:p>
            <a:pPr>
              <a:lnSpc>
                <a:spcPts val="1820"/>
              </a:lnSpc>
            </a:pPr>
            <a:r>
              <a:rPr sz="1400" b="1">
                <a:solidFill>
                  <a:srgbClr val="1B3A5C"/>
                </a:solidFill>
                <a:latin typeface="Microsoft YaHei"/>
              </a:rPr>
              <a:t>开放问题：循环安全性(去最后额外假设) / 常数摊销PIR / 实际效率优化</a:t>
            </a:r>
          </a:p>
          <a:p>
            <a:pPr>
              <a:lnSpc>
                <a:spcPts val="1690"/>
              </a:lnSpc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后续影响：BGV(层次型FHE), GSW(矩阵型FHE), CKKS(浮点FHE), TFHE(快速自举) 等均基于本文技术</a:t>
            </a:r>
          </a:p>
        </p:txBody>
      </p:sp>
    </p:spTree>
    <p:extLst>
      <p:ext uri="{BB962C8B-B14F-4D97-AF65-F5344CB8AC3E}">
        <p14:creationId xmlns:p14="http://schemas.microsoft.com/office/powerpoint/2010/main" val="365075171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1227</Words>
  <Application>Microsoft Office PowerPoint</Application>
  <PresentationFormat>宽屏</PresentationFormat>
  <Paragraphs>408</Paragraphs>
  <Slides>17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-apple-system</vt:lpstr>
      <vt:lpstr>AvantGarde Md BT</vt:lpstr>
      <vt:lpstr>Inter</vt:lpstr>
      <vt:lpstr>ui-sans-serif</vt:lpstr>
      <vt:lpstr>等线</vt:lpstr>
      <vt:lpstr>等线 Light</vt:lpstr>
      <vt:lpstr>黑体</vt:lpstr>
      <vt:lpstr>华文行楷</vt:lpstr>
      <vt:lpstr>宋体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轩麟 刘</dc:creator>
  <cp:lastModifiedBy>轩麟 刘</cp:lastModifiedBy>
  <cp:revision>5</cp:revision>
  <dcterms:created xsi:type="dcterms:W3CDTF">2025-12-03T07:50:29Z</dcterms:created>
  <dcterms:modified xsi:type="dcterms:W3CDTF">2025-12-03T13:12:08Z</dcterms:modified>
</cp:coreProperties>
</file>