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7" r:id="rId2"/>
    <p:sldId id="271" r:id="rId3"/>
    <p:sldId id="275" r:id="rId4"/>
    <p:sldId id="281" r:id="rId5"/>
    <p:sldId id="276" r:id="rId6"/>
    <p:sldId id="282" r:id="rId7"/>
    <p:sldId id="277" r:id="rId8"/>
    <p:sldId id="283" r:id="rId9"/>
    <p:sldId id="278" r:id="rId10"/>
    <p:sldId id="284" r:id="rId11"/>
    <p:sldId id="287" r:id="rId12"/>
    <p:sldId id="288" r:id="rId13"/>
    <p:sldId id="279" r:id="rId14"/>
    <p:sldId id="285" r:id="rId15"/>
    <p:sldId id="280" r:id="rId16"/>
    <p:sldId id="286" r:id="rId17"/>
    <p:sldId id="262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66"/>
    <a:srgbClr val="F4B183"/>
    <a:srgbClr val="F7E1ED"/>
    <a:srgbClr val="A4A0B7"/>
    <a:srgbClr val="856699"/>
    <a:srgbClr val="EFF4FC"/>
    <a:srgbClr val="D9E8FC"/>
    <a:srgbClr val="AFE3E6"/>
    <a:srgbClr val="A8D18C"/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2" d="100"/>
          <a:sy n="132" d="100"/>
        </p:scale>
        <p:origin x="162" y="5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E62296-9383-4CE2-B089-9B1D81D14FA7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FEBF4B-D0C4-48FE-9E7C-4D60AB4D0B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03882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1AA76C2-5A4E-40EC-A96D-2FB86DA81015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7CFE3-B1A9-2263-63ED-BD995CE4B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4502005-8BCD-12CC-DE87-7A47C4A868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32B1634-046C-0DDE-D7CC-02D5A81B65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784D4A8-FCC1-A9D0-536C-77AE5B8375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1AA76C2-5A4E-40EC-A96D-2FB86DA81015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4544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2AF15-E79C-C0BA-6A66-8C44AD3BD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D0C90FB-C669-F719-CE4C-E44CD3096D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2894C11-1071-80CA-F84D-04A7F0303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F1DDAAD-E138-7158-C6EB-825EF2296E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1AA76C2-5A4E-40EC-A96D-2FB86DA81015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09192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42D6C-1E46-CF8D-7D53-24C5F0F30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39E59AB-19AB-29C8-B65B-DB511D6EFC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FFB8C3E-3823-7A9D-F28D-B4D3636924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6125B9E-2212-BA43-2AA1-AE1EC56160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1AA76C2-5A4E-40EC-A96D-2FB86DA81015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9448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7BBEE-5D36-E7E4-E26D-F77C72D2F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178029A-42CA-37BF-BC26-ECBFC82AEC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3D323FC-44BB-45A1-3075-29C4693FA9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A97EAAA-F870-CA78-BC8D-7BD65C4ED0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1AA76C2-5A4E-40EC-A96D-2FB86DA81015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54353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DA6A4-3884-4B81-B215-A6C72C454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9B07D48-CE61-02CE-98BB-828419FD40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33771D7-89F5-B8DF-F899-536FA0ED37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3006D47-CA6D-EF06-C193-C54ED5AF06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1AA76C2-5A4E-40EC-A96D-2FB86DA81015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44156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5947FD-F5D5-C7EC-9E4A-DAA14F71BA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55FE92A-2724-118A-5B6E-C29B19E6F3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862A92-ACCF-1D3D-8485-50AD3C76B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FDE0E-32F9-4681-B932-59D96D5EEB4E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501DB5E-5B48-0E8B-F307-DC9B249F2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05CBDD-B5A2-5598-23BD-2393154ED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D07E4-9D89-4E1F-829B-B8877DCCF9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5318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022A9B-E633-03AC-18AA-6BADC975E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305E11-651D-A9B2-79D4-7241E7A2FA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CC2773-5310-4B91-CFC7-681ADCBF5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FDE0E-32F9-4681-B932-59D96D5EEB4E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D86B453-015C-A37D-32F3-A470B531F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B4E8AA-D9E8-3C50-C0B0-664472D0F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D07E4-9D89-4E1F-829B-B8877DCCF9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6157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19A0E6-03DE-A7C8-36D2-BF82CB019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EBD5CDC-2DEA-8EFC-9CAF-353F443352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16E76A7-2057-C391-92A8-477CC2DB8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FDE0E-32F9-4681-B932-59D96D5EEB4E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0948630-873B-3FC8-5625-02EE6EAC2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D3433FD-0785-1B49-B444-F0E7F9BAA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D07E4-9D89-4E1F-829B-B8877DCCF9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8125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37AB8D-5FB8-5708-2F12-5FB388999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DFE0D82-1FAC-09DF-9C32-E5C6327BD3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7AF59A-BC31-86E2-4661-4338F3A5B8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1EA9611-78BB-1DD6-3E97-ABBE2C05C5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FDE0E-32F9-4681-B932-59D96D5EEB4E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900D176-9EBE-0D8A-0577-DF838CB68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6C59194-597D-246A-68EC-B5815F4B2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D07E4-9D89-4E1F-829B-B8877DCCF9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0936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41F9F6-5EEF-058E-C000-D614671F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68CA2FC-AF04-1B71-AEFF-4F62DA4CAB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E8FA7E-C192-4398-4776-80CF5D15AD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77D9C4E-4FEF-3C1C-193B-37E1F1F421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8EC3300-58A6-EC80-D18B-0972C39AF8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24FCA1F-CA7A-A8DB-F897-39055ADF0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FDE0E-32F9-4681-B932-59D96D5EEB4E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9483C87-61E7-5139-70F8-96B970617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1F5EB3F-6BCE-43E9-B93F-C36F92EB2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D07E4-9D89-4E1F-829B-B8877DCCF9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43461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50121E-DC8B-E646-0B15-F815032D1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0BDCE0D-D8A6-D412-1C51-07EE32237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FDE0E-32F9-4681-B932-59D96D5EEB4E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0B191B5-F41B-767E-FAA9-8582AD476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6C69216-8B08-D69B-0576-ED9FD5E14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D07E4-9D89-4E1F-829B-B8877DCCF9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34034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9C56CE3-9DBC-780B-4D61-48F0F6C41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FDE0E-32F9-4681-B932-59D96D5EEB4E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289AF25-2395-A35B-121A-C1441007F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EA4F959-964F-982C-80FE-6CC0BB29B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D07E4-9D89-4E1F-829B-B8877DCCF9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59871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FB4442-C7A7-887F-5CE5-080874F3D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CD1E77-5EE0-719B-A507-E3119D3046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574E068-3BFE-FA02-A2FA-1378363A74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F2DC7B8-24F3-B9A4-7CF2-361B7B2F8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FDE0E-32F9-4681-B932-59D96D5EEB4E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2986256-2492-D598-024B-51BD64D8F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BDCDEAF-CA6F-0BE6-E26A-EEF2BE2D0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D07E4-9D89-4E1F-829B-B8877DCCF9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69412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DC698D-4C50-C221-4739-DDA1E45F8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3193976-F69E-9A83-F405-338014EB7D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2248DE5-E712-F5F1-476B-180A8019D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740D8D7-210D-8103-6CA6-9552B233A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FDE0E-32F9-4681-B932-59D96D5EEB4E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F914829-B618-3BF2-BA91-DFA417C4C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0060273-73E6-E034-07FE-5F8C9C613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D07E4-9D89-4E1F-829B-B8877DCCF9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84070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7374E2-9C5E-35D5-C8DA-DB9732E97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29ACD6-C635-637C-2F43-74DE0F0F1F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B67DB-9D00-35C6-222C-BBBF56A03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FDE0E-32F9-4681-B932-59D96D5EEB4E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17E320-3063-4A6E-6D94-019D88190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5EC1A0-D965-8FF0-7317-6B68761C1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D07E4-9D89-4E1F-829B-B8877DCCF9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2035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9F93C66-CE1F-C411-021E-0B18D4923D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49AFB9-28DA-9B9A-1F94-2B14EB4198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6E14FC-8E6F-790B-48C0-9331355CA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FDE0E-32F9-4681-B932-59D96D5EEB4E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F6B459-FDB4-01A9-75C9-1A4D4D98D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A03E370-3EA6-4DA3-C26A-6CD8ACE8B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D07E4-9D89-4E1F-829B-B8877DCCF9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65254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5F4A75A-A297-2E66-C246-F6521D21B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469017-6CE4-1C87-C85C-8B197FCF39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60CB54-67AF-D77D-A7F3-0847616AB5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3FDE0E-32F9-4681-B932-59D96D5EEB4E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E02529-00B6-44C0-6DAB-7A500FBE81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794E703-E3A2-3C29-07B5-615775F46D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DD07E4-9D89-4E1F-829B-B8877DCCF9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9603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sv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656C7FCF-B7B5-E962-98B5-FE3828D73E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8022995"/>
              </p:ext>
            </p:extLst>
          </p:nvPr>
        </p:nvGraphicFramePr>
        <p:xfrm>
          <a:off x="0" y="1797590"/>
          <a:ext cx="12192000" cy="1958201"/>
        </p:xfrm>
        <a:graphic>
          <a:graphicData uri="http://schemas.openxmlformats.org/drawingml/2006/table">
            <a:tbl>
              <a:tblPr>
                <a:solidFill>
                  <a:srgbClr val="1F4E79"/>
                </a:solidFill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58201">
                <a:tc>
                  <a:txBody>
                    <a:bodyPr/>
                    <a:lstStyle/>
                    <a:p>
                      <a:pPr marL="3300095" algn="ctr" rtl="0" eaLnBrk="0">
                        <a:lnSpc>
                          <a:spcPct val="82000"/>
                        </a:lnSpc>
                        <a:spcBef>
                          <a:spcPts val="5"/>
                        </a:spcBef>
                      </a:pPr>
                      <a:endParaRPr lang="en-US" sz="1000" b="0" kern="1200" spc="0" dirty="0">
                        <a:solidFill>
                          <a:schemeClr val="tx1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3300095" algn="l" rtl="0" eaLnBrk="0">
                        <a:lnSpc>
                          <a:spcPct val="82000"/>
                        </a:lnSpc>
                        <a:spcBef>
                          <a:spcPts val="5"/>
                        </a:spcBef>
                      </a:pPr>
                      <a:endParaRPr lang="en-US" sz="1000" b="0" kern="1200" spc="0" dirty="0">
                        <a:solidFill>
                          <a:schemeClr val="tx1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28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19000"/>
                        </a:lnSpc>
                      </a:pPr>
                      <a:endParaRPr sz="3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2143125" algn="l" rtl="0" eaLnBrk="0">
                        <a:lnSpc>
                          <a:spcPct val="92000"/>
                        </a:lnSpc>
                        <a:spcBef>
                          <a:spcPts val="0"/>
                        </a:spcBef>
                      </a:pPr>
                      <a:r>
                        <a:rPr lang="en-US" sz="1400" b="1" kern="0" spc="-10" dirty="0">
                          <a:solidFill>
                            <a:srgbClr val="FFFFFF">
                              <a:alpha val="100000"/>
                            </a:srgbClr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                       </a:t>
                      </a:r>
                      <a:endParaRPr sz="2800" dirty="0">
                        <a:latin typeface="黑体" panose="02010609060101010101" pitchFamily="49" charset="-122"/>
                        <a:ea typeface="黑体" panose="02010609060101010101" pitchFamily="49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22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22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C17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6CFE4211-051C-D560-8E14-33E38C5D55AA}"/>
              </a:ext>
            </a:extLst>
          </p:cNvPr>
          <p:cNvSpPr txBox="1"/>
          <p:nvPr/>
        </p:nvSpPr>
        <p:spPr>
          <a:xfrm>
            <a:off x="2774265" y="4056123"/>
            <a:ext cx="66870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Microsoft YaHei Light" panose="020B0502040204020203" pitchFamily="34" charset="-122"/>
                <a:cs typeface="+mn-cs"/>
              </a:rPr>
              <a:t>密码与网络空间安全学院  李子恒   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Microsoft YaHei Light" panose="020B0502040204020203" pitchFamily="34" charset="-122"/>
                <a:cs typeface="+mn-cs"/>
              </a:rPr>
              <a:t>2312114    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Microsoft YaHei Light" panose="020B0502040204020203" pitchFamily="34" charset="-122"/>
                <a:cs typeface="+mn-cs"/>
              </a:rPr>
              <a:t>方法与创新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Microsoft YaHei Light" panose="020B0502040204020203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prstClr val="black"/>
                </a:solidFill>
                <a:latin typeface="等线" panose="020F0502020204030204"/>
                <a:ea typeface="Microsoft YaHei Light" panose="020B0502040204020203" pitchFamily="34" charset="-122"/>
              </a:rPr>
              <a:t>密码与网络空间安全学院  邓晓川    </a:t>
            </a:r>
            <a:r>
              <a:rPr lang="en-US" altLang="zh-CN" dirty="0">
                <a:solidFill>
                  <a:prstClr val="black"/>
                </a:solidFill>
                <a:latin typeface="等线" panose="020F0502020204030204"/>
                <a:ea typeface="Microsoft YaHei Light" panose="020B0502040204020203" pitchFamily="34" charset="-122"/>
              </a:rPr>
              <a:t>2310908     </a:t>
            </a:r>
            <a:r>
              <a:rPr lang="zh-CN" altLang="en-US" dirty="0">
                <a:solidFill>
                  <a:prstClr val="black"/>
                </a:solidFill>
                <a:latin typeface="等线" panose="020F0502020204030204"/>
                <a:ea typeface="Microsoft YaHei Light" panose="020B0502040204020203" pitchFamily="34" charset="-122"/>
              </a:rPr>
              <a:t>实验与结论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Microsoft YaHei Light" panose="020B0502040204020203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Microsoft YaHei Light" panose="020B0502040204020203" pitchFamily="34" charset="-122"/>
                <a:cs typeface="+mn-cs"/>
              </a:rPr>
              <a:t>           计算机学院             </a:t>
            </a:r>
            <a:r>
              <a:rPr lang="zh-CN" altLang="en-US" dirty="0">
                <a:solidFill>
                  <a:prstClr val="black"/>
                </a:solidFill>
                <a:latin typeface="等线" panose="020F0502020204030204"/>
                <a:ea typeface="Microsoft YaHei Light" panose="020B0502040204020203" pitchFamily="34" charset="-122"/>
              </a:rPr>
              <a:t>蔡梓涵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Microsoft YaHei Light" panose="020B0502040204020203" pitchFamily="34" charset="-122"/>
                <a:cs typeface="+mn-cs"/>
              </a:rPr>
              <a:t>   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Microsoft YaHei Light" panose="020B0502040204020203" pitchFamily="34" charset="-122"/>
                <a:cs typeface="+mn-cs"/>
              </a:rPr>
              <a:t>2313922     </a:t>
            </a:r>
            <a:r>
              <a:rPr lang="zh-CN" altLang="en-US" dirty="0">
                <a:solidFill>
                  <a:prstClr val="black"/>
                </a:solidFill>
                <a:latin typeface="等线" panose="020F0502020204030204"/>
                <a:ea typeface="Microsoft YaHei Light" panose="020B0502040204020203" pitchFamily="34" charset="-122"/>
              </a:rPr>
              <a:t>背景与动机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Microsoft YaHei Light" panose="020B0502040204020203" pitchFamily="34" charset="-122"/>
              <a:cs typeface="+mn-cs"/>
            </a:endParaRPr>
          </a:p>
        </p:txBody>
      </p:sp>
      <p:pic>
        <p:nvPicPr>
          <p:cNvPr id="1026" name="Picture 2" descr="南开大学_中外合作办学网">
            <a:extLst>
              <a:ext uri="{FF2B5EF4-FFF2-40B4-BE49-F238E27FC236}">
                <a16:creationId xmlns:a16="http://schemas.microsoft.com/office/drawing/2014/main" id="{A5AD16BF-AA31-D415-E2F3-E07DE88541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6698"/>
            <a:ext cx="2700242" cy="771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南开大学·校训">
            <a:extLst>
              <a:ext uri="{FF2B5EF4-FFF2-40B4-BE49-F238E27FC236}">
                <a16:creationId xmlns:a16="http://schemas.microsoft.com/office/drawing/2014/main" id="{859394AE-3839-AE58-EA95-DEC383E899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3168" y="6541075"/>
            <a:ext cx="2188832" cy="316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46D510AC-071C-0E63-161E-DCE903F531F5}"/>
              </a:ext>
            </a:extLst>
          </p:cNvPr>
          <p:cNvSpPr txBox="1"/>
          <p:nvPr/>
        </p:nvSpPr>
        <p:spPr>
          <a:xfrm>
            <a:off x="892629" y="1823458"/>
            <a:ext cx="986245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Bidaw</a:t>
            </a:r>
            <a:r>
              <a:rPr lang="en-US" altLang="zh-CN" sz="3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Enhancing Key-Value Caching for Interactive LLM Serving via Bidirectional Computation–Storage Awareness</a:t>
            </a:r>
            <a:endParaRPr lang="en-US" altLang="zh-CN" sz="28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系统前沿论文研读汇报</a:t>
            </a:r>
            <a:endParaRPr lang="en-US" altLang="zh-CN" sz="2400" b="1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69159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D:\360MoveData\Users\xiaoxiao\Desktop\logo2.pnglogo2"/>
          <p:cNvPicPr>
            <a:picLocks noChangeAspect="1"/>
          </p:cNvPicPr>
          <p:nvPr/>
        </p:nvPicPr>
        <p:blipFill rotWithShape="1"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>
          <a:xfrm>
            <a:off x="7439661" y="2687003"/>
            <a:ext cx="5551170" cy="5515610"/>
          </a:xfrm>
          <a:prstGeom prst="rect">
            <a:avLst/>
          </a:prstGeom>
        </p:spPr>
      </p:pic>
      <p:pic>
        <p:nvPicPr>
          <p:cNvPr id="3" name="图片 2" descr="D:\360MoveData\Users\xiaoxiao\Desktop\logo2.pnglogo2"/>
          <p:cNvPicPr>
            <a:picLocks noChangeAspect="1"/>
          </p:cNvPicPr>
          <p:nvPr/>
        </p:nvPicPr>
        <p:blipFill rotWithShape="1"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>
          <a:xfrm>
            <a:off x="-1129347" y="-918527"/>
            <a:ext cx="5375275" cy="5340985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-7152640" y="-211031"/>
            <a:ext cx="20522565" cy="10232390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任意多边形: 形状 5"/>
          <p:cNvSpPr/>
          <p:nvPr/>
        </p:nvSpPr>
        <p:spPr>
          <a:xfrm>
            <a:off x="0" y="1952835"/>
            <a:ext cx="10647949" cy="2952329"/>
          </a:xfrm>
          <a:custGeom>
            <a:avLst/>
            <a:gdLst>
              <a:gd name="connsiteX0" fmla="*/ 9181169 w 10647949"/>
              <a:gd name="connsiteY0" fmla="*/ 0 h 2952329"/>
              <a:gd name="connsiteX1" fmla="*/ 9181188 w 10647949"/>
              <a:gd name="connsiteY1" fmla="*/ 1 h 2952329"/>
              <a:gd name="connsiteX2" fmla="*/ 9223648 w 10647949"/>
              <a:gd name="connsiteY2" fmla="*/ 1 h 2952329"/>
              <a:gd name="connsiteX3" fmla="*/ 9223648 w 10647949"/>
              <a:gd name="connsiteY3" fmla="*/ 2159 h 2952329"/>
              <a:gd name="connsiteX4" fmla="*/ 9331139 w 10647949"/>
              <a:gd name="connsiteY4" fmla="*/ 7621 h 2952329"/>
              <a:gd name="connsiteX5" fmla="*/ 10647949 w 10647949"/>
              <a:gd name="connsiteY5" fmla="*/ 1476164 h 2952329"/>
              <a:gd name="connsiteX6" fmla="*/ 9331139 w 10647949"/>
              <a:gd name="connsiteY6" fmla="*/ 2944707 h 2952329"/>
              <a:gd name="connsiteX7" fmla="*/ 9223648 w 10647949"/>
              <a:gd name="connsiteY7" fmla="*/ 2950170 h 2952329"/>
              <a:gd name="connsiteX8" fmla="*/ 9223648 w 10647949"/>
              <a:gd name="connsiteY8" fmla="*/ 2952329 h 2952329"/>
              <a:gd name="connsiteX9" fmla="*/ 0 w 10647949"/>
              <a:gd name="connsiteY9" fmla="*/ 2952329 h 2952329"/>
              <a:gd name="connsiteX10" fmla="*/ 0 w 10647949"/>
              <a:gd name="connsiteY10" fmla="*/ 1 h 2952329"/>
              <a:gd name="connsiteX11" fmla="*/ 9181150 w 10647949"/>
              <a:gd name="connsiteY11" fmla="*/ 1 h 2952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647949" h="2952329">
                <a:moveTo>
                  <a:pt x="9181169" y="0"/>
                </a:moveTo>
                <a:lnTo>
                  <a:pt x="9181188" y="1"/>
                </a:lnTo>
                <a:lnTo>
                  <a:pt x="9223648" y="1"/>
                </a:lnTo>
                <a:lnTo>
                  <a:pt x="9223648" y="2159"/>
                </a:lnTo>
                <a:lnTo>
                  <a:pt x="9331139" y="7621"/>
                </a:lnTo>
                <a:cubicBezTo>
                  <a:pt x="10070771" y="83216"/>
                  <a:pt x="10647949" y="711855"/>
                  <a:pt x="10647949" y="1476164"/>
                </a:cubicBezTo>
                <a:cubicBezTo>
                  <a:pt x="10647949" y="2240473"/>
                  <a:pt x="10070771" y="2869113"/>
                  <a:pt x="9331139" y="2944707"/>
                </a:cubicBezTo>
                <a:lnTo>
                  <a:pt x="9223648" y="2950170"/>
                </a:lnTo>
                <a:lnTo>
                  <a:pt x="9223648" y="2952329"/>
                </a:lnTo>
                <a:lnTo>
                  <a:pt x="0" y="2952329"/>
                </a:lnTo>
                <a:lnTo>
                  <a:pt x="0" y="1"/>
                </a:lnTo>
                <a:lnTo>
                  <a:pt x="9181150" y="1"/>
                </a:lnTo>
                <a:close/>
              </a:path>
            </a:pathLst>
          </a:custGeom>
          <a:solidFill>
            <a:srgbClr val="7E0C6E"/>
          </a:solidFill>
          <a:ln>
            <a:solidFill>
              <a:srgbClr val="7E0C6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grpSp>
        <p:nvGrpSpPr>
          <p:cNvPr id="10" name="组合 9"/>
          <p:cNvGrpSpPr/>
          <p:nvPr/>
        </p:nvGrpSpPr>
        <p:grpSpPr>
          <a:xfrm>
            <a:off x="7612481" y="2061490"/>
            <a:ext cx="3168995" cy="2664296"/>
            <a:chOff x="5878074" y="2244876"/>
            <a:chExt cx="2826401" cy="2376264"/>
          </a:xfrm>
        </p:grpSpPr>
        <p:sp>
          <p:nvSpPr>
            <p:cNvPr id="8" name="椭圆 7"/>
            <p:cNvSpPr/>
            <p:nvPr/>
          </p:nvSpPr>
          <p:spPr>
            <a:xfrm>
              <a:off x="6103143" y="2244876"/>
              <a:ext cx="2376264" cy="2376264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9" name="TextBox 21"/>
            <p:cNvSpPr txBox="1"/>
            <p:nvPr/>
          </p:nvSpPr>
          <p:spPr>
            <a:xfrm>
              <a:off x="5878074" y="2743319"/>
              <a:ext cx="2826401" cy="1379379"/>
            </a:xfrm>
            <a:prstGeom prst="rect">
              <a:avLst/>
            </a:prstGeom>
            <a:noFill/>
          </p:spPr>
          <p:txBody>
            <a:bodyPr wrap="square" lIns="68580" tIns="34290" rIns="68580" bIns="34290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600" b="1" i="0" u="none" strike="noStrike" kern="1200" cap="none" spc="0" normalizeH="0" baseline="0" noProof="0" dirty="0">
                  <a:ln>
                    <a:noFill/>
                  </a:ln>
                  <a:solidFill>
                    <a:srgbClr val="750909"/>
                  </a:solidFill>
                  <a:effectLst/>
                  <a:uLnTx/>
                  <a:uFillTx/>
                  <a:latin typeface="AvantGarde Md BT" pitchFamily="34" charset="0"/>
                  <a:ea typeface="微软雅黑" panose="020B0503020204020204" pitchFamily="34" charset="-122"/>
                  <a:cs typeface="+mn-cs"/>
                </a:rPr>
                <a:t>01</a:t>
              </a:r>
            </a:p>
          </p:txBody>
        </p:sp>
      </p:grpSp>
      <p:sp>
        <p:nvSpPr>
          <p:cNvPr id="11" name="TextBox 4"/>
          <p:cNvSpPr txBox="1"/>
          <p:nvPr/>
        </p:nvSpPr>
        <p:spPr>
          <a:xfrm>
            <a:off x="2330019" y="2805015"/>
            <a:ext cx="4922823" cy="1177245"/>
          </a:xfrm>
          <a:prstGeom prst="rect">
            <a:avLst/>
          </a:prstGeom>
          <a:noFill/>
        </p:spPr>
        <p:txBody>
          <a:bodyPr wrap="none" lIns="68580" tIns="34290" rIns="68580" bIns="3429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7200" b="1" dirty="0">
                <a:solidFill>
                  <a:prstClr val="white"/>
                </a:solidFill>
                <a:latin typeface="AvantGarde Md BT" pitchFamily="34" charset="0"/>
                <a:ea typeface="微软雅黑" panose="020B0503020204020204" pitchFamily="34" charset="-122"/>
              </a:rPr>
              <a:t>Introduction</a:t>
            </a:r>
            <a:endParaRPr kumimoji="0" lang="en-US" altLang="zh-CN" sz="7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antGarde Md BT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04140" y="6316345"/>
            <a:ext cx="310832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7E0C6E"/>
                </a:solidFill>
                <a:effectLst/>
                <a:uLnTx/>
                <a:uFillTx/>
                <a:latin typeface="华文行楷" panose="02010800040101010101" pitchFamily="2" charset="-122"/>
                <a:ea typeface="华文行楷" panose="02010800040101010101" pitchFamily="2" charset="-122"/>
                <a:cs typeface="+mn-cs"/>
              </a:rPr>
              <a:t>允公允能 日新月异</a:t>
            </a:r>
          </a:p>
        </p:txBody>
      </p:sp>
      <p:pic>
        <p:nvPicPr>
          <p:cNvPr id="12" name="图片 11" descr="D:\360MoveData\Users\xiaoxiao\Desktop\微信图片_20230609200656.png微信图片_20230609200656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580438" y="99235"/>
            <a:ext cx="3269615" cy="11995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729E0-9888-DEC5-01AA-2F553F979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南开大学·校训">
            <a:extLst>
              <a:ext uri="{FF2B5EF4-FFF2-40B4-BE49-F238E27FC236}">
                <a16:creationId xmlns:a16="http://schemas.microsoft.com/office/drawing/2014/main" id="{35F4D319-24A3-EA08-D959-B99DC984C5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3168" y="6541075"/>
            <a:ext cx="2188832" cy="316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组合 3">
            <a:extLst>
              <a:ext uri="{FF2B5EF4-FFF2-40B4-BE49-F238E27FC236}">
                <a16:creationId xmlns:a16="http://schemas.microsoft.com/office/drawing/2014/main" id="{B5BE810C-C520-9E1E-B767-04C5BF01351A}"/>
              </a:ext>
            </a:extLst>
          </p:cNvPr>
          <p:cNvGrpSpPr/>
          <p:nvPr/>
        </p:nvGrpSpPr>
        <p:grpSpPr>
          <a:xfrm>
            <a:off x="2216228" y="269008"/>
            <a:ext cx="6372708" cy="682262"/>
            <a:chOff x="299356" y="260648"/>
            <a:chExt cx="6372708" cy="682262"/>
          </a:xfrm>
        </p:grpSpPr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2BBD079A-783B-34D0-20B3-D2A38465AEF3}"/>
                </a:ext>
              </a:extLst>
            </p:cNvPr>
            <p:cNvGrpSpPr/>
            <p:nvPr/>
          </p:nvGrpSpPr>
          <p:grpSpPr>
            <a:xfrm>
              <a:off x="299356" y="260648"/>
              <a:ext cx="684076" cy="682262"/>
              <a:chOff x="637139" y="467280"/>
              <a:chExt cx="684076" cy="682262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7EDEB7BA-638B-CF18-1CA1-15C3D7AB0478}"/>
                  </a:ext>
                </a:extLst>
              </p:cNvPr>
              <p:cNvSpPr/>
              <p:nvPr/>
            </p:nvSpPr>
            <p:spPr>
              <a:xfrm>
                <a:off x="637139" y="467280"/>
                <a:ext cx="432048" cy="432048"/>
              </a:xfrm>
              <a:prstGeom prst="rect">
                <a:avLst/>
              </a:prstGeom>
              <a:solidFill>
                <a:srgbClr val="7E0C6E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53E1C575-1AD4-70D8-4CD8-BFE3459B37FA}"/>
                  </a:ext>
                </a:extLst>
              </p:cNvPr>
              <p:cNvSpPr/>
              <p:nvPr/>
            </p:nvSpPr>
            <p:spPr>
              <a:xfrm>
                <a:off x="817159" y="645486"/>
                <a:ext cx="504056" cy="504056"/>
              </a:xfrm>
              <a:prstGeom prst="rect">
                <a:avLst/>
              </a:prstGeom>
              <a:solidFill>
                <a:srgbClr val="7E0C6E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4E442AFD-2FB9-BD6D-4C58-E5898635E5F0}"/>
                </a:ext>
              </a:extLst>
            </p:cNvPr>
            <p:cNvCxnSpPr/>
            <p:nvPr/>
          </p:nvCxnSpPr>
          <p:spPr>
            <a:xfrm>
              <a:off x="1055440" y="899328"/>
              <a:ext cx="5616624" cy="0"/>
            </a:xfrm>
            <a:prstGeom prst="line">
              <a:avLst/>
            </a:prstGeom>
            <a:ln w="28575">
              <a:solidFill>
                <a:srgbClr val="7E0C6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36">
              <a:extLst>
                <a:ext uri="{FF2B5EF4-FFF2-40B4-BE49-F238E27FC236}">
                  <a16:creationId xmlns:a16="http://schemas.microsoft.com/office/drawing/2014/main" id="{0F34B0B1-0EA5-CC12-78FD-EF84FAAC36C9}"/>
                </a:ext>
              </a:extLst>
            </p:cNvPr>
            <p:cNvSpPr txBox="1"/>
            <p:nvPr/>
          </p:nvSpPr>
          <p:spPr>
            <a:xfrm>
              <a:off x="1163452" y="260648"/>
              <a:ext cx="3792770" cy="500137"/>
            </a:xfrm>
            <a:prstGeom prst="rect">
              <a:avLst/>
            </a:prstGeom>
            <a:noFill/>
          </p:spPr>
          <p:txBody>
            <a:bodyPr wrap="none" lIns="68580" tIns="34290" rIns="68580" bIns="34290" rtlCol="0">
              <a:spAutoFit/>
            </a:bodyPr>
            <a:lstStyle/>
            <a:p>
              <a:pPr lvl="0"/>
              <a:r>
                <a:rPr lang="en-US" altLang="zh-CN" sz="2800" b="1" dirty="0">
                  <a:solidFill>
                    <a:srgbClr val="7E0C6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LLM Serving System</a:t>
              </a:r>
            </a:p>
          </p:txBody>
        </p:sp>
      </p:grpSp>
      <p:graphicFrame>
        <p:nvGraphicFramePr>
          <p:cNvPr id="10" name="table 482">
            <a:extLst>
              <a:ext uri="{FF2B5EF4-FFF2-40B4-BE49-F238E27FC236}">
                <a16:creationId xmlns:a16="http://schemas.microsoft.com/office/drawing/2014/main" id="{AC00A4C7-EACF-280D-FB91-FF43037794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612700"/>
              </p:ext>
            </p:extLst>
          </p:nvPr>
        </p:nvGraphicFramePr>
        <p:xfrm>
          <a:off x="0" y="0"/>
          <a:ext cx="1963560" cy="6858000"/>
        </p:xfrm>
        <a:graphic>
          <a:graphicData uri="http://schemas.openxmlformats.org/drawingml/2006/table">
            <a:tbl>
              <a:tblPr>
                <a:solidFill>
                  <a:srgbClr val="1F4E79"/>
                </a:solidFill>
              </a:tblPr>
              <a:tblGrid>
                <a:gridCol w="1963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858000">
                <a:tc>
                  <a:txBody>
                    <a:bodyPr/>
                    <a:lstStyle/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1000" b="0" kern="1200" spc="0" dirty="0">
                          <a:solidFill>
                            <a:srgbClr val="7030A0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</a:t>
                      </a: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1000" b="0" kern="1200" spc="0" dirty="0">
                          <a:solidFill>
                            <a:srgbClr val="7030A0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 </a:t>
                      </a:r>
                      <a:r>
                        <a:rPr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1. </a:t>
                      </a:r>
                      <a:r>
                        <a:rPr lang="en-US"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I</a:t>
                      </a:r>
                      <a:r>
                        <a:rPr lang="en-US" altLang="zh-CN"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ntroduction</a:t>
                      </a:r>
                      <a:endParaRPr sz="2000" b="1" kern="0" spc="-30" dirty="0">
                        <a:solidFill>
                          <a:schemeClr val="bg1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solidFill>
                          <a:srgbClr val="7030A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2. 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M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otivation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3. O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verview</a:t>
                      </a: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endParaRPr lang="en-US"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endParaRPr lang="en-US"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4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M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ethod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5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E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valuation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7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18000"/>
                        </a:lnSpc>
                      </a:pPr>
                      <a:endParaRPr sz="3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6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 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C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onclusion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22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C17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55" name="组合 54">
            <a:extLst>
              <a:ext uri="{FF2B5EF4-FFF2-40B4-BE49-F238E27FC236}">
                <a16:creationId xmlns:a16="http://schemas.microsoft.com/office/drawing/2014/main" id="{ED989DCD-B79C-A6E2-4C04-204B8EE8FD41}"/>
              </a:ext>
            </a:extLst>
          </p:cNvPr>
          <p:cNvGrpSpPr/>
          <p:nvPr/>
        </p:nvGrpSpPr>
        <p:grpSpPr>
          <a:xfrm>
            <a:off x="2900304" y="1289845"/>
            <a:ext cx="8497946" cy="3783794"/>
            <a:chOff x="2900304" y="1289845"/>
            <a:chExt cx="8497946" cy="3783794"/>
          </a:xfrm>
        </p:grpSpPr>
        <p:pic>
          <p:nvPicPr>
            <p:cNvPr id="13" name="图形 12" descr="用户 纯色填充">
              <a:extLst>
                <a:ext uri="{FF2B5EF4-FFF2-40B4-BE49-F238E27FC236}">
                  <a16:creationId xmlns:a16="http://schemas.microsoft.com/office/drawing/2014/main" id="{E2C5BF59-FF81-23F0-99E3-247FF376805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900304" y="2972881"/>
              <a:ext cx="914400" cy="914400"/>
            </a:xfrm>
            <a:prstGeom prst="rect">
              <a:avLst/>
            </a:prstGeom>
          </p:spPr>
        </p:pic>
        <p:pic>
          <p:nvPicPr>
            <p:cNvPr id="14" name="图形 13" descr="用户 纯色填充">
              <a:extLst>
                <a:ext uri="{FF2B5EF4-FFF2-40B4-BE49-F238E27FC236}">
                  <a16:creationId xmlns:a16="http://schemas.microsoft.com/office/drawing/2014/main" id="{68A5D415-D351-5406-06CC-0A24296089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900304" y="2131363"/>
              <a:ext cx="914400" cy="914400"/>
            </a:xfrm>
            <a:prstGeom prst="rect">
              <a:avLst/>
            </a:prstGeom>
          </p:spPr>
        </p:pic>
        <p:pic>
          <p:nvPicPr>
            <p:cNvPr id="15" name="图形 14" descr="用户 纯色填充">
              <a:extLst>
                <a:ext uri="{FF2B5EF4-FFF2-40B4-BE49-F238E27FC236}">
                  <a16:creationId xmlns:a16="http://schemas.microsoft.com/office/drawing/2014/main" id="{793ABDA7-77E3-A243-2D11-1CF1D7EAA6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900304" y="3814400"/>
              <a:ext cx="914400" cy="914400"/>
            </a:xfrm>
            <a:prstGeom prst="rect">
              <a:avLst/>
            </a:prstGeom>
          </p:spPr>
        </p:pic>
        <p:pic>
          <p:nvPicPr>
            <p:cNvPr id="16" name="图形 15" descr="用户 纯色填充">
              <a:extLst>
                <a:ext uri="{FF2B5EF4-FFF2-40B4-BE49-F238E27FC236}">
                  <a16:creationId xmlns:a16="http://schemas.microsoft.com/office/drawing/2014/main" id="{E70623A0-D7FA-D12F-944E-F7F6AD79A1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900304" y="1289845"/>
              <a:ext cx="914400" cy="914400"/>
            </a:xfrm>
            <a:prstGeom prst="rect">
              <a:avLst/>
            </a:prstGeom>
          </p:spPr>
        </p:pic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6C2714D1-EC5F-26B6-632F-2278B0339329}"/>
                </a:ext>
              </a:extLst>
            </p:cNvPr>
            <p:cNvCxnSpPr>
              <a:cxnSpLocks/>
            </p:cNvCxnSpPr>
            <p:nvPr/>
          </p:nvCxnSpPr>
          <p:spPr>
            <a:xfrm>
              <a:off x="3814704" y="1797050"/>
              <a:ext cx="1265296" cy="9428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5FA6DE02-0FBB-4B85-C726-43758DE6D81B}"/>
                </a:ext>
              </a:extLst>
            </p:cNvPr>
            <p:cNvCxnSpPr>
              <a:cxnSpLocks/>
            </p:cNvCxnSpPr>
            <p:nvPr/>
          </p:nvCxnSpPr>
          <p:spPr>
            <a:xfrm>
              <a:off x="3743208" y="2690306"/>
              <a:ext cx="1233501" cy="2258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356496AC-3A65-7E63-5D71-C79914154A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19454" y="3125281"/>
              <a:ext cx="1257255" cy="3037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B00BE944-7ED3-6F16-B057-337F5CBC96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19454" y="3380076"/>
              <a:ext cx="1290696" cy="9170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FDCD54E1-9198-2EF7-5DD3-ACE329FA161E}"/>
                </a:ext>
              </a:extLst>
            </p:cNvPr>
            <p:cNvSpPr txBox="1"/>
            <p:nvPr/>
          </p:nvSpPr>
          <p:spPr>
            <a:xfrm rot="2291414">
              <a:off x="4128428" y="1984854"/>
              <a:ext cx="11476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742521B2-23D6-3D9A-A5DF-7A89F213107B}"/>
                </a:ext>
              </a:extLst>
            </p:cNvPr>
            <p:cNvSpPr/>
            <p:nvPr/>
          </p:nvSpPr>
          <p:spPr>
            <a:xfrm>
              <a:off x="5043126" y="2551174"/>
              <a:ext cx="1562626" cy="999837"/>
            </a:xfrm>
            <a:prstGeom prst="ellipse">
              <a:avLst/>
            </a:prstGeom>
            <a:solidFill>
              <a:srgbClr val="F4B18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Scheduler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矩形: 圆角 31">
              <a:extLst>
                <a:ext uri="{FF2B5EF4-FFF2-40B4-BE49-F238E27FC236}">
                  <a16:creationId xmlns:a16="http://schemas.microsoft.com/office/drawing/2014/main" id="{546DBD29-50F3-A7EB-B7F9-4A79F2896CE7}"/>
                </a:ext>
              </a:extLst>
            </p:cNvPr>
            <p:cNvSpPr/>
            <p:nvPr/>
          </p:nvSpPr>
          <p:spPr>
            <a:xfrm>
              <a:off x="7789759" y="1452205"/>
              <a:ext cx="3608491" cy="3621434"/>
            </a:xfrm>
            <a:prstGeom prst="roundRect">
              <a:avLst/>
            </a:prstGeom>
            <a:solidFill>
              <a:srgbClr val="FFEFB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箭头: 右 33">
              <a:extLst>
                <a:ext uri="{FF2B5EF4-FFF2-40B4-BE49-F238E27FC236}">
                  <a16:creationId xmlns:a16="http://schemas.microsoft.com/office/drawing/2014/main" id="{B01F9992-B7A4-85E8-1BFC-E2B9B5665952}"/>
                </a:ext>
              </a:extLst>
            </p:cNvPr>
            <p:cNvSpPr/>
            <p:nvPr/>
          </p:nvSpPr>
          <p:spPr>
            <a:xfrm>
              <a:off x="6648886" y="2890928"/>
              <a:ext cx="983814" cy="309667"/>
            </a:xfrm>
            <a:prstGeom prst="rightArrow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AC82270B-F9D1-5000-A926-0F953CE0AA2D}"/>
                </a:ext>
              </a:extLst>
            </p:cNvPr>
            <p:cNvSpPr txBox="1"/>
            <p:nvPr/>
          </p:nvSpPr>
          <p:spPr>
            <a:xfrm>
              <a:off x="6594313" y="2555215"/>
              <a:ext cx="114548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Dispatch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B103F748-4792-BA64-1489-E17733601588}"/>
                </a:ext>
              </a:extLst>
            </p:cNvPr>
            <p:cNvGrpSpPr/>
            <p:nvPr/>
          </p:nvGrpSpPr>
          <p:grpSpPr>
            <a:xfrm>
              <a:off x="8074389" y="1657692"/>
              <a:ext cx="1294190" cy="1376164"/>
              <a:chOff x="8096250" y="1669599"/>
              <a:chExt cx="1294190" cy="1376164"/>
            </a:xfrm>
          </p:grpSpPr>
          <p:sp>
            <p:nvSpPr>
              <p:cNvPr id="36" name="矩形: 圆角 35">
                <a:extLst>
                  <a:ext uri="{FF2B5EF4-FFF2-40B4-BE49-F238E27FC236}">
                    <a16:creationId xmlns:a16="http://schemas.microsoft.com/office/drawing/2014/main" id="{8957DC28-84FE-EC53-760C-588756F8B289}"/>
                  </a:ext>
                </a:extLst>
              </p:cNvPr>
              <p:cNvSpPr/>
              <p:nvPr/>
            </p:nvSpPr>
            <p:spPr>
              <a:xfrm>
                <a:off x="8096250" y="1669599"/>
                <a:ext cx="1294190" cy="1376164"/>
              </a:xfrm>
              <a:prstGeom prst="roundRect">
                <a:avLst/>
              </a:prstGeom>
              <a:solidFill>
                <a:srgbClr val="FFD966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34DC1B12-9A20-4CE5-A753-9670380DCEDF}"/>
                  </a:ext>
                </a:extLst>
              </p:cNvPr>
              <p:cNvSpPr/>
              <p:nvPr/>
            </p:nvSpPr>
            <p:spPr>
              <a:xfrm>
                <a:off x="8223250" y="1797050"/>
                <a:ext cx="1019233" cy="748794"/>
              </a:xfrm>
              <a:prstGeom prst="rect">
                <a:avLst/>
              </a:prstGeom>
              <a:solidFill>
                <a:srgbClr val="F4B18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Model</a:t>
                </a:r>
              </a:p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Instance</a:t>
                </a:r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2A49BB2F-D1E5-6B9D-CE6F-FF379940CC21}"/>
                  </a:ext>
                </a:extLst>
              </p:cNvPr>
              <p:cNvSpPr txBox="1"/>
              <p:nvPr/>
            </p:nvSpPr>
            <p:spPr>
              <a:xfrm>
                <a:off x="8198643" y="2460986"/>
                <a:ext cx="106844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Inference</a:t>
                </a:r>
              </a:p>
              <a:p>
                <a:pPr algn="ctr"/>
                <a:r>
                  <a:rPr lang="en-US" altLang="zh-C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Engine</a:t>
                </a:r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58251541-5C43-9678-EEF3-AA751A1217DE}"/>
                </a:ext>
              </a:extLst>
            </p:cNvPr>
            <p:cNvGrpSpPr/>
            <p:nvPr/>
          </p:nvGrpSpPr>
          <p:grpSpPr>
            <a:xfrm>
              <a:off x="8059540" y="3161307"/>
              <a:ext cx="1294190" cy="1376164"/>
              <a:chOff x="8096250" y="1669599"/>
              <a:chExt cx="1294190" cy="1376164"/>
            </a:xfrm>
          </p:grpSpPr>
          <p:sp>
            <p:nvSpPr>
              <p:cNvPr id="40" name="矩形: 圆角 39">
                <a:extLst>
                  <a:ext uri="{FF2B5EF4-FFF2-40B4-BE49-F238E27FC236}">
                    <a16:creationId xmlns:a16="http://schemas.microsoft.com/office/drawing/2014/main" id="{8B31955D-BF01-6536-0CFF-C67A5C28C9B4}"/>
                  </a:ext>
                </a:extLst>
              </p:cNvPr>
              <p:cNvSpPr/>
              <p:nvPr/>
            </p:nvSpPr>
            <p:spPr>
              <a:xfrm>
                <a:off x="8096250" y="1669599"/>
                <a:ext cx="1294190" cy="1376164"/>
              </a:xfrm>
              <a:prstGeom prst="roundRect">
                <a:avLst/>
              </a:prstGeom>
              <a:solidFill>
                <a:srgbClr val="FFD966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28564C9F-5495-4C44-0EF6-B112F5FB0B3C}"/>
                  </a:ext>
                </a:extLst>
              </p:cNvPr>
              <p:cNvSpPr/>
              <p:nvPr/>
            </p:nvSpPr>
            <p:spPr>
              <a:xfrm>
                <a:off x="8223250" y="1797050"/>
                <a:ext cx="1019233" cy="748794"/>
              </a:xfrm>
              <a:prstGeom prst="rect">
                <a:avLst/>
              </a:prstGeom>
              <a:solidFill>
                <a:srgbClr val="F4B18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Model</a:t>
                </a:r>
              </a:p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Instance</a:t>
                </a:r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9ECABC57-B4D3-9347-C6C9-68B87FFCE2F0}"/>
                  </a:ext>
                </a:extLst>
              </p:cNvPr>
              <p:cNvSpPr txBox="1"/>
              <p:nvPr/>
            </p:nvSpPr>
            <p:spPr>
              <a:xfrm>
                <a:off x="8198643" y="2460986"/>
                <a:ext cx="106844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Inference</a:t>
                </a:r>
              </a:p>
              <a:p>
                <a:pPr algn="ctr"/>
                <a:r>
                  <a:rPr lang="en-US" altLang="zh-C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Engine</a:t>
                </a:r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1730ED3E-973D-FC92-6B37-6D9B8DA58491}"/>
                </a:ext>
              </a:extLst>
            </p:cNvPr>
            <p:cNvGrpSpPr/>
            <p:nvPr/>
          </p:nvGrpSpPr>
          <p:grpSpPr>
            <a:xfrm>
              <a:off x="9803394" y="3182626"/>
              <a:ext cx="1294190" cy="1376164"/>
              <a:chOff x="8096250" y="1669599"/>
              <a:chExt cx="1294190" cy="1376164"/>
            </a:xfrm>
          </p:grpSpPr>
          <p:sp>
            <p:nvSpPr>
              <p:cNvPr id="44" name="矩形: 圆角 43">
                <a:extLst>
                  <a:ext uri="{FF2B5EF4-FFF2-40B4-BE49-F238E27FC236}">
                    <a16:creationId xmlns:a16="http://schemas.microsoft.com/office/drawing/2014/main" id="{235C1832-0A2C-2BF2-A0B0-CF8BBCD79148}"/>
                  </a:ext>
                </a:extLst>
              </p:cNvPr>
              <p:cNvSpPr/>
              <p:nvPr/>
            </p:nvSpPr>
            <p:spPr>
              <a:xfrm>
                <a:off x="8096250" y="1669599"/>
                <a:ext cx="1294190" cy="1376164"/>
              </a:xfrm>
              <a:prstGeom prst="roundRect">
                <a:avLst/>
              </a:prstGeom>
              <a:solidFill>
                <a:srgbClr val="FFD966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0A86FC45-D7A6-6024-333B-36B492873859}"/>
                  </a:ext>
                </a:extLst>
              </p:cNvPr>
              <p:cNvSpPr/>
              <p:nvPr/>
            </p:nvSpPr>
            <p:spPr>
              <a:xfrm>
                <a:off x="8223250" y="1797050"/>
                <a:ext cx="1019233" cy="748794"/>
              </a:xfrm>
              <a:prstGeom prst="rect">
                <a:avLst/>
              </a:prstGeom>
              <a:solidFill>
                <a:srgbClr val="F4B18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Model</a:t>
                </a:r>
              </a:p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Instance</a:t>
                </a:r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FF92D8EC-97B2-142B-958A-299C259D026D}"/>
                  </a:ext>
                </a:extLst>
              </p:cNvPr>
              <p:cNvSpPr txBox="1"/>
              <p:nvPr/>
            </p:nvSpPr>
            <p:spPr>
              <a:xfrm>
                <a:off x="8198643" y="2460986"/>
                <a:ext cx="106844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Inference</a:t>
                </a:r>
              </a:p>
              <a:p>
                <a:pPr algn="ctr"/>
                <a:r>
                  <a:rPr lang="en-US" altLang="zh-C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Engine</a:t>
                </a:r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6D12C5F6-A2E6-B23E-E287-A23A93302982}"/>
                </a:ext>
              </a:extLst>
            </p:cNvPr>
            <p:cNvGrpSpPr/>
            <p:nvPr/>
          </p:nvGrpSpPr>
          <p:grpSpPr>
            <a:xfrm>
              <a:off x="9791427" y="1657692"/>
              <a:ext cx="1294190" cy="1376164"/>
              <a:chOff x="8096250" y="1669599"/>
              <a:chExt cx="1294190" cy="1376164"/>
            </a:xfrm>
          </p:grpSpPr>
          <p:sp>
            <p:nvSpPr>
              <p:cNvPr id="48" name="矩形: 圆角 47">
                <a:extLst>
                  <a:ext uri="{FF2B5EF4-FFF2-40B4-BE49-F238E27FC236}">
                    <a16:creationId xmlns:a16="http://schemas.microsoft.com/office/drawing/2014/main" id="{DC872B82-DC2B-D37A-BCAD-DC58BCA323FC}"/>
                  </a:ext>
                </a:extLst>
              </p:cNvPr>
              <p:cNvSpPr/>
              <p:nvPr/>
            </p:nvSpPr>
            <p:spPr>
              <a:xfrm>
                <a:off x="8096250" y="1669599"/>
                <a:ext cx="1294190" cy="1376164"/>
              </a:xfrm>
              <a:prstGeom prst="roundRect">
                <a:avLst/>
              </a:prstGeom>
              <a:solidFill>
                <a:srgbClr val="FFD966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17C25CD1-1371-7D7D-7F56-C778C3F780E0}"/>
                  </a:ext>
                </a:extLst>
              </p:cNvPr>
              <p:cNvSpPr/>
              <p:nvPr/>
            </p:nvSpPr>
            <p:spPr>
              <a:xfrm>
                <a:off x="8223250" y="1797050"/>
                <a:ext cx="1019233" cy="748794"/>
              </a:xfrm>
              <a:prstGeom prst="rect">
                <a:avLst/>
              </a:prstGeom>
              <a:solidFill>
                <a:srgbClr val="F4B18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Model</a:t>
                </a:r>
              </a:p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Instance</a:t>
                </a:r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FF534C3A-FD68-E2E8-5B6E-09F9E807557D}"/>
                  </a:ext>
                </a:extLst>
              </p:cNvPr>
              <p:cNvSpPr txBox="1"/>
              <p:nvPr/>
            </p:nvSpPr>
            <p:spPr>
              <a:xfrm>
                <a:off x="8198643" y="2460986"/>
                <a:ext cx="106844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Inference</a:t>
                </a:r>
              </a:p>
              <a:p>
                <a:pPr algn="ctr"/>
                <a:r>
                  <a:rPr lang="en-US" altLang="zh-C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Engine</a:t>
                </a:r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pic>
          <p:nvPicPr>
            <p:cNvPr id="52" name="图形 51">
              <a:extLst>
                <a:ext uri="{FF2B5EF4-FFF2-40B4-BE49-F238E27FC236}">
                  <a16:creationId xmlns:a16="http://schemas.microsoft.com/office/drawing/2014/main" id="{BA120222-00D8-F63C-E371-1DE042631D5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522375" y="4630492"/>
              <a:ext cx="371445" cy="371445"/>
            </a:xfrm>
            <a:prstGeom prst="rect">
              <a:avLst/>
            </a:prstGeom>
          </p:spPr>
        </p:pic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F0F92BCC-3F9E-8427-4E1B-6F012B081EC3}"/>
                </a:ext>
              </a:extLst>
            </p:cNvPr>
            <p:cNvSpPr txBox="1"/>
            <p:nvPr/>
          </p:nvSpPr>
          <p:spPr>
            <a:xfrm>
              <a:off x="9864806" y="4632605"/>
              <a:ext cx="11474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 dirty="0"/>
                <a:t>GPU</a:t>
              </a:r>
              <a:r>
                <a:rPr lang="zh-CN" altLang="en-US" b="1" dirty="0"/>
                <a:t>集群</a:t>
              </a:r>
            </a:p>
          </p:txBody>
        </p:sp>
      </p:grpSp>
      <p:sp>
        <p:nvSpPr>
          <p:cNvPr id="54" name="爆炸形: 8 pt  53">
            <a:extLst>
              <a:ext uri="{FF2B5EF4-FFF2-40B4-BE49-F238E27FC236}">
                <a16:creationId xmlns:a16="http://schemas.microsoft.com/office/drawing/2014/main" id="{9C86E57D-DC9A-E624-103B-06D3AAF97498}"/>
              </a:ext>
            </a:extLst>
          </p:cNvPr>
          <p:cNvSpPr/>
          <p:nvPr/>
        </p:nvSpPr>
        <p:spPr>
          <a:xfrm>
            <a:off x="6084148" y="3241210"/>
            <a:ext cx="998315" cy="760779"/>
          </a:xfrm>
          <a:prstGeom prst="irregularSeal1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2E86AF98-41A5-AF1C-7857-2ABD0044A8CF}"/>
              </a:ext>
            </a:extLst>
          </p:cNvPr>
          <p:cNvGrpSpPr/>
          <p:nvPr/>
        </p:nvGrpSpPr>
        <p:grpSpPr>
          <a:xfrm>
            <a:off x="2790464" y="5252774"/>
            <a:ext cx="6096000" cy="646331"/>
            <a:chOff x="2790464" y="5252774"/>
            <a:chExt cx="6096000" cy="646331"/>
          </a:xfrm>
        </p:grpSpPr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DFC4615C-64DC-9563-B04D-98653994CB8F}"/>
                </a:ext>
              </a:extLst>
            </p:cNvPr>
            <p:cNvSpPr txBox="1"/>
            <p:nvPr/>
          </p:nvSpPr>
          <p:spPr>
            <a:xfrm>
              <a:off x="3080264" y="5252774"/>
              <a:ext cx="58062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/>
                <a:t>受限于资源（如</a:t>
              </a:r>
              <a:r>
                <a:rPr lang="en-US" altLang="zh-CN" b="1" dirty="0"/>
                <a:t>GPU</a:t>
              </a:r>
              <a:r>
                <a:rPr lang="zh-CN" altLang="en-US" b="1" dirty="0"/>
                <a:t>内存），用户的请求需要被合理      调度，从而提供更高效的</a:t>
              </a:r>
              <a:r>
                <a:rPr lang="en-US" altLang="zh-CN" b="1" dirty="0"/>
                <a:t>LLM</a:t>
              </a:r>
              <a:r>
                <a:rPr lang="zh-CN" altLang="en-US" b="1" dirty="0"/>
                <a:t>服务，提升用户的体验</a:t>
              </a:r>
            </a:p>
          </p:txBody>
        </p: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59C6B0FE-7B63-7135-2EAD-2D29275336B1}"/>
                </a:ext>
              </a:extLst>
            </p:cNvPr>
            <p:cNvSpPr txBox="1"/>
            <p:nvPr/>
          </p:nvSpPr>
          <p:spPr>
            <a:xfrm>
              <a:off x="2790464" y="5260113"/>
              <a:ext cx="6096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1" dirty="0">
                  <a:solidFill>
                    <a:srgbClr val="7030A0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●</a:t>
              </a:r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484007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6D4B3-9650-0C16-5589-E497895EE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南开大学·校训">
            <a:extLst>
              <a:ext uri="{FF2B5EF4-FFF2-40B4-BE49-F238E27FC236}">
                <a16:creationId xmlns:a16="http://schemas.microsoft.com/office/drawing/2014/main" id="{55E053AC-1B4C-E58C-F436-8C0A6BD3DC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3168" y="6541075"/>
            <a:ext cx="2188832" cy="316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组合 3">
            <a:extLst>
              <a:ext uri="{FF2B5EF4-FFF2-40B4-BE49-F238E27FC236}">
                <a16:creationId xmlns:a16="http://schemas.microsoft.com/office/drawing/2014/main" id="{A181A0AD-6691-381B-07A4-2FDADA362BC8}"/>
              </a:ext>
            </a:extLst>
          </p:cNvPr>
          <p:cNvGrpSpPr/>
          <p:nvPr/>
        </p:nvGrpSpPr>
        <p:grpSpPr>
          <a:xfrm>
            <a:off x="2216228" y="269008"/>
            <a:ext cx="6372708" cy="682262"/>
            <a:chOff x="299356" y="260648"/>
            <a:chExt cx="6372708" cy="682262"/>
          </a:xfrm>
        </p:grpSpPr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63F525D8-E804-4EA0-E8BC-0D99D8E2EEF6}"/>
                </a:ext>
              </a:extLst>
            </p:cNvPr>
            <p:cNvGrpSpPr/>
            <p:nvPr/>
          </p:nvGrpSpPr>
          <p:grpSpPr>
            <a:xfrm>
              <a:off x="299356" y="260648"/>
              <a:ext cx="684076" cy="682262"/>
              <a:chOff x="637139" y="467280"/>
              <a:chExt cx="684076" cy="682262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18F21A5A-FFAB-C329-55BD-583B1D880E1F}"/>
                  </a:ext>
                </a:extLst>
              </p:cNvPr>
              <p:cNvSpPr/>
              <p:nvPr/>
            </p:nvSpPr>
            <p:spPr>
              <a:xfrm>
                <a:off x="637139" y="467280"/>
                <a:ext cx="432048" cy="432048"/>
              </a:xfrm>
              <a:prstGeom prst="rect">
                <a:avLst/>
              </a:prstGeom>
              <a:solidFill>
                <a:srgbClr val="7E0C6E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62A84B21-7117-30D7-BC6B-2F8C39AA7974}"/>
                  </a:ext>
                </a:extLst>
              </p:cNvPr>
              <p:cNvSpPr/>
              <p:nvPr/>
            </p:nvSpPr>
            <p:spPr>
              <a:xfrm>
                <a:off x="817159" y="645486"/>
                <a:ext cx="504056" cy="504056"/>
              </a:xfrm>
              <a:prstGeom prst="rect">
                <a:avLst/>
              </a:prstGeom>
              <a:solidFill>
                <a:srgbClr val="7E0C6E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0942911C-C2F8-A00B-17FE-BDDFF1F412FA}"/>
                </a:ext>
              </a:extLst>
            </p:cNvPr>
            <p:cNvCxnSpPr/>
            <p:nvPr/>
          </p:nvCxnSpPr>
          <p:spPr>
            <a:xfrm>
              <a:off x="1055440" y="899328"/>
              <a:ext cx="5616624" cy="0"/>
            </a:xfrm>
            <a:prstGeom prst="line">
              <a:avLst/>
            </a:prstGeom>
            <a:ln w="28575">
              <a:solidFill>
                <a:srgbClr val="7E0C6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36">
              <a:extLst>
                <a:ext uri="{FF2B5EF4-FFF2-40B4-BE49-F238E27FC236}">
                  <a16:creationId xmlns:a16="http://schemas.microsoft.com/office/drawing/2014/main" id="{1F6FB10E-F365-33AD-A589-29F5B0EDCE30}"/>
                </a:ext>
              </a:extLst>
            </p:cNvPr>
            <p:cNvSpPr txBox="1"/>
            <p:nvPr/>
          </p:nvSpPr>
          <p:spPr>
            <a:xfrm>
              <a:off x="1163452" y="260648"/>
              <a:ext cx="1919436" cy="500137"/>
            </a:xfrm>
            <a:prstGeom prst="rect">
              <a:avLst/>
            </a:prstGeom>
            <a:noFill/>
          </p:spPr>
          <p:txBody>
            <a:bodyPr wrap="none" lIns="68580" tIns="34290" rIns="68580" bIns="34290" rtlCol="0">
              <a:spAutoFit/>
            </a:bodyPr>
            <a:lstStyle/>
            <a:p>
              <a:pPr lvl="0"/>
              <a:r>
                <a:rPr lang="en-US" altLang="zh-CN" sz="2800" b="1" dirty="0">
                  <a:solidFill>
                    <a:srgbClr val="7E0C6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Challenge</a:t>
              </a:r>
            </a:p>
          </p:txBody>
        </p:sp>
      </p:grpSp>
      <p:graphicFrame>
        <p:nvGraphicFramePr>
          <p:cNvPr id="10" name="table 482">
            <a:extLst>
              <a:ext uri="{FF2B5EF4-FFF2-40B4-BE49-F238E27FC236}">
                <a16:creationId xmlns:a16="http://schemas.microsoft.com/office/drawing/2014/main" id="{CF79ADFE-8E96-7930-8D1E-12E530AF53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622453"/>
              </p:ext>
            </p:extLst>
          </p:nvPr>
        </p:nvGraphicFramePr>
        <p:xfrm>
          <a:off x="0" y="0"/>
          <a:ext cx="1963560" cy="6858000"/>
        </p:xfrm>
        <a:graphic>
          <a:graphicData uri="http://schemas.openxmlformats.org/drawingml/2006/table">
            <a:tbl>
              <a:tblPr>
                <a:solidFill>
                  <a:srgbClr val="1F4E79"/>
                </a:solidFill>
              </a:tblPr>
              <a:tblGrid>
                <a:gridCol w="1963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858000">
                <a:tc>
                  <a:txBody>
                    <a:bodyPr/>
                    <a:lstStyle/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1000" b="0" kern="1200" spc="0" dirty="0">
                          <a:solidFill>
                            <a:srgbClr val="7030A0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</a:t>
                      </a: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1000" b="0" kern="1200" spc="0" dirty="0">
                          <a:solidFill>
                            <a:srgbClr val="7030A0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 </a:t>
                      </a:r>
                      <a:r>
                        <a:rPr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1. </a:t>
                      </a:r>
                      <a:r>
                        <a:rPr lang="en-US"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I</a:t>
                      </a:r>
                      <a:r>
                        <a:rPr lang="en-US" altLang="zh-CN"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ntroduction</a:t>
                      </a:r>
                      <a:endParaRPr sz="2000" b="1" kern="0" spc="-30" dirty="0">
                        <a:solidFill>
                          <a:schemeClr val="bg1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solidFill>
                          <a:srgbClr val="7030A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</a:t>
                      </a:r>
                      <a:r>
                        <a:rPr sz="2000" b="1" kern="0" spc="-30" dirty="0">
                          <a:solidFill>
                            <a:schemeClr val="bg2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2. </a:t>
                      </a:r>
                      <a:r>
                        <a:rPr lang="en-US" sz="2000" b="1" kern="0" spc="-30" dirty="0">
                          <a:solidFill>
                            <a:schemeClr val="bg2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M</a:t>
                      </a:r>
                      <a:r>
                        <a:rPr lang="en-US" altLang="zh-CN" sz="2000" b="1" kern="0" spc="-30" dirty="0">
                          <a:solidFill>
                            <a:schemeClr val="bg2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otivation</a:t>
                      </a:r>
                      <a:endParaRPr sz="2000" b="1" kern="0" spc="-30" dirty="0">
                        <a:solidFill>
                          <a:schemeClr val="bg2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3. O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verview</a:t>
                      </a: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endParaRPr lang="en-US"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endParaRPr lang="en-US"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4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M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ethod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5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E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valuation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7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18000"/>
                        </a:lnSpc>
                      </a:pPr>
                      <a:endParaRPr sz="3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6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 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C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onclusion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22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C17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8" name="组合 17">
            <a:extLst>
              <a:ext uri="{FF2B5EF4-FFF2-40B4-BE49-F238E27FC236}">
                <a16:creationId xmlns:a16="http://schemas.microsoft.com/office/drawing/2014/main" id="{EDD3817F-139A-A25E-CB64-686223C46A05}"/>
              </a:ext>
            </a:extLst>
          </p:cNvPr>
          <p:cNvGrpSpPr/>
          <p:nvPr/>
        </p:nvGrpSpPr>
        <p:grpSpPr>
          <a:xfrm>
            <a:off x="2576268" y="1182630"/>
            <a:ext cx="4040432" cy="1843660"/>
            <a:chOff x="2576268" y="1182630"/>
            <a:chExt cx="4040432" cy="1843660"/>
          </a:xfrm>
        </p:grpSpPr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7657D274-9C91-CC24-CCBA-650258EA3F1B}"/>
                </a:ext>
              </a:extLst>
            </p:cNvPr>
            <p:cNvGrpSpPr/>
            <p:nvPr/>
          </p:nvGrpSpPr>
          <p:grpSpPr>
            <a:xfrm>
              <a:off x="2900304" y="1804630"/>
              <a:ext cx="3716396" cy="1221660"/>
              <a:chOff x="2900304" y="1804630"/>
              <a:chExt cx="3716396" cy="1221660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4DFA4C9F-1F4E-FEA7-15DE-7FA84704876C}"/>
                  </a:ext>
                </a:extLst>
              </p:cNvPr>
              <p:cNvSpPr/>
              <p:nvPr/>
            </p:nvSpPr>
            <p:spPr>
              <a:xfrm>
                <a:off x="2900304" y="1804630"/>
                <a:ext cx="1041400" cy="368300"/>
              </a:xfrm>
              <a:prstGeom prst="rect">
                <a:avLst/>
              </a:prstGeom>
              <a:solidFill>
                <a:srgbClr val="A8D18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59DD6B0B-F11C-840A-6FE0-E8E5DBE57C29}"/>
                  </a:ext>
                </a:extLst>
              </p:cNvPr>
              <p:cNvSpPr/>
              <p:nvPr/>
            </p:nvSpPr>
            <p:spPr>
              <a:xfrm>
                <a:off x="2900304" y="2231310"/>
                <a:ext cx="1041400" cy="368300"/>
              </a:xfrm>
              <a:prstGeom prst="rect">
                <a:avLst/>
              </a:prstGeom>
              <a:solidFill>
                <a:srgbClr val="A8D18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1D23376D-2F86-A771-EC04-E60DAAB6FDD6}"/>
                  </a:ext>
                </a:extLst>
              </p:cNvPr>
              <p:cNvSpPr/>
              <p:nvPr/>
            </p:nvSpPr>
            <p:spPr>
              <a:xfrm>
                <a:off x="2900304" y="2657990"/>
                <a:ext cx="1041400" cy="368300"/>
              </a:xfrm>
              <a:prstGeom prst="rect">
                <a:avLst/>
              </a:prstGeom>
              <a:solidFill>
                <a:srgbClr val="A8D18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8FBDFDC9-0AAD-C931-C426-9F4C35BD51BE}"/>
                  </a:ext>
                </a:extLst>
              </p:cNvPr>
              <p:cNvSpPr/>
              <p:nvPr/>
            </p:nvSpPr>
            <p:spPr>
              <a:xfrm>
                <a:off x="5575300" y="1804630"/>
                <a:ext cx="1041400" cy="368300"/>
              </a:xfrm>
              <a:prstGeom prst="rect">
                <a:avLst/>
              </a:prstGeom>
              <a:solidFill>
                <a:srgbClr val="F4B18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CBC04881-3FD7-C7B2-5AD7-9BBFCB8D3506}"/>
                  </a:ext>
                </a:extLst>
              </p:cNvPr>
              <p:cNvSpPr/>
              <p:nvPr/>
            </p:nvSpPr>
            <p:spPr>
              <a:xfrm>
                <a:off x="5575300" y="2231310"/>
                <a:ext cx="1041400" cy="368300"/>
              </a:xfrm>
              <a:prstGeom prst="rect">
                <a:avLst/>
              </a:prstGeom>
              <a:solidFill>
                <a:srgbClr val="F4B18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B4F3821D-0150-B48C-A3E6-7324DDDBD0EA}"/>
                  </a:ext>
                </a:extLst>
              </p:cNvPr>
              <p:cNvSpPr/>
              <p:nvPr/>
            </p:nvSpPr>
            <p:spPr>
              <a:xfrm>
                <a:off x="5575300" y="2657990"/>
                <a:ext cx="1041400" cy="368300"/>
              </a:xfrm>
              <a:prstGeom prst="rect">
                <a:avLst/>
              </a:prstGeom>
              <a:solidFill>
                <a:srgbClr val="F4B18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7" name="直接箭头连接符 16">
                <a:extLst>
                  <a:ext uri="{FF2B5EF4-FFF2-40B4-BE49-F238E27FC236}">
                    <a16:creationId xmlns:a16="http://schemas.microsoft.com/office/drawing/2014/main" id="{0B79F155-6429-90F1-E8B1-85959636754E}"/>
                  </a:ext>
                </a:extLst>
              </p:cNvPr>
              <p:cNvCxnSpPr>
                <a:cxnSpLocks/>
                <a:stCxn id="11" idx="3"/>
              </p:cNvCxnSpPr>
              <p:nvPr/>
            </p:nvCxnSpPr>
            <p:spPr>
              <a:xfrm>
                <a:off x="3941704" y="2415460"/>
                <a:ext cx="414396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EE5100EE-4660-9749-83BE-B1D3775A22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60904" y="2417920"/>
                <a:ext cx="414396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21" name="图形 20">
                <a:extLst>
                  <a:ext uri="{FF2B5EF4-FFF2-40B4-BE49-F238E27FC236}">
                    <a16:creationId xmlns:a16="http://schemas.microsoft.com/office/drawing/2014/main" id="{402C379A-A68C-1EC3-13A5-4677317D4C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411903" y="2080855"/>
                <a:ext cx="669210" cy="669210"/>
              </a:xfrm>
              <a:prstGeom prst="rect">
                <a:avLst/>
              </a:prstGeom>
            </p:spPr>
          </p:pic>
        </p:grp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89B068A8-EED4-9A98-2323-F4AA3EAF4607}"/>
                </a:ext>
              </a:extLst>
            </p:cNvPr>
            <p:cNvSpPr txBox="1"/>
            <p:nvPr/>
          </p:nvSpPr>
          <p:spPr>
            <a:xfrm>
              <a:off x="2900304" y="1182630"/>
              <a:ext cx="3329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/>
                <a:t>传统</a:t>
              </a:r>
              <a:r>
                <a:rPr lang="en-US" altLang="zh-CN" sz="2400" b="1" dirty="0"/>
                <a:t>DNN</a:t>
              </a:r>
              <a:r>
                <a:rPr lang="zh-CN" altLang="en-US" sz="2400" b="1" dirty="0"/>
                <a:t>模型</a:t>
              </a: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AED40128-06FC-4C04-CE0F-425D7810C88E}"/>
                </a:ext>
              </a:extLst>
            </p:cNvPr>
            <p:cNvSpPr txBox="1"/>
            <p:nvPr/>
          </p:nvSpPr>
          <p:spPr>
            <a:xfrm>
              <a:off x="2576268" y="1253173"/>
              <a:ext cx="50405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1" dirty="0">
                  <a:solidFill>
                    <a:srgbClr val="7030A0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●</a:t>
              </a:r>
              <a:endParaRPr lang="zh-CN" altLang="en-US" dirty="0"/>
            </a:p>
          </p:txBody>
        </p:sp>
      </p:grpSp>
      <p:sp>
        <p:nvSpPr>
          <p:cNvPr id="26" name="文本框 25">
            <a:extLst>
              <a:ext uri="{FF2B5EF4-FFF2-40B4-BE49-F238E27FC236}">
                <a16:creationId xmlns:a16="http://schemas.microsoft.com/office/drawing/2014/main" id="{C3E1B0C6-1AA0-ACC2-8B57-941799E81954}"/>
              </a:ext>
            </a:extLst>
          </p:cNvPr>
          <p:cNvSpPr txBox="1"/>
          <p:nvPr/>
        </p:nvSpPr>
        <p:spPr>
          <a:xfrm>
            <a:off x="7715250" y="1880355"/>
            <a:ext cx="4368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1. </a:t>
            </a:r>
            <a:r>
              <a:rPr lang="zh-CN" altLang="en-US" b="1" dirty="0"/>
              <a:t>请求是同构的；</a:t>
            </a:r>
            <a:endParaRPr lang="en-US" altLang="zh-CN" b="1" dirty="0"/>
          </a:p>
          <a:p>
            <a:r>
              <a:rPr lang="en-US" altLang="zh-CN" b="1" dirty="0"/>
              <a:t>2. </a:t>
            </a:r>
            <a:r>
              <a:rPr lang="zh-CN" altLang="en-US" b="1" dirty="0"/>
              <a:t>执行是一次性的、无状态的和确定性的；</a:t>
            </a:r>
            <a:endParaRPr lang="en-US" altLang="zh-CN" b="1" dirty="0"/>
          </a:p>
          <a:p>
            <a:r>
              <a:rPr lang="en-US" altLang="zh-CN" b="1" dirty="0"/>
              <a:t>3.</a:t>
            </a:r>
            <a:r>
              <a:rPr lang="zh-CN" altLang="en-US" b="1" dirty="0"/>
              <a:t>简单来讲就是输入输出长度固定；</a:t>
            </a:r>
            <a:endParaRPr lang="en-US" altLang="zh-CN" b="1" dirty="0"/>
          </a:p>
          <a:p>
            <a:endParaRPr lang="zh-CN" altLang="en-US" b="1" dirty="0"/>
          </a:p>
        </p:txBody>
      </p: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0831A20A-9276-8A62-A9BC-354DE99AA3E8}"/>
              </a:ext>
            </a:extLst>
          </p:cNvPr>
          <p:cNvGrpSpPr/>
          <p:nvPr/>
        </p:nvGrpSpPr>
        <p:grpSpPr>
          <a:xfrm>
            <a:off x="2576268" y="3290397"/>
            <a:ext cx="4618282" cy="1808933"/>
            <a:chOff x="2576268" y="3290397"/>
            <a:chExt cx="4618282" cy="1808933"/>
          </a:xfrm>
        </p:grpSpPr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06C65516-A2BB-534B-8C5E-DCDC65B54E02}"/>
                </a:ext>
              </a:extLst>
            </p:cNvPr>
            <p:cNvSpPr txBox="1"/>
            <p:nvPr/>
          </p:nvSpPr>
          <p:spPr>
            <a:xfrm>
              <a:off x="2900304" y="3290397"/>
              <a:ext cx="3329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400" b="1" dirty="0"/>
                <a:t>LLM</a:t>
              </a:r>
              <a:r>
                <a:rPr lang="zh-CN" altLang="en-US" sz="2400" b="1" dirty="0"/>
                <a:t>场景</a:t>
              </a: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B1A7338A-0141-7AFE-07CE-08A73DEF61C7}"/>
                </a:ext>
              </a:extLst>
            </p:cNvPr>
            <p:cNvSpPr txBox="1"/>
            <p:nvPr/>
          </p:nvSpPr>
          <p:spPr>
            <a:xfrm>
              <a:off x="2576268" y="3360940"/>
              <a:ext cx="50405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1" dirty="0">
                  <a:solidFill>
                    <a:srgbClr val="7030A0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●</a:t>
              </a:r>
              <a:endParaRPr lang="zh-CN" altLang="en-US" dirty="0"/>
            </a:p>
          </p:txBody>
        </p: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F38BA5BE-374D-9096-E0E7-1F38A0C0B6A0}"/>
                </a:ext>
              </a:extLst>
            </p:cNvPr>
            <p:cNvGrpSpPr/>
            <p:nvPr/>
          </p:nvGrpSpPr>
          <p:grpSpPr>
            <a:xfrm>
              <a:off x="2900304" y="3877670"/>
              <a:ext cx="4294246" cy="1221660"/>
              <a:chOff x="2900304" y="3877670"/>
              <a:chExt cx="4294246" cy="1221660"/>
            </a:xfrm>
          </p:grpSpPr>
          <p:grpSp>
            <p:nvGrpSpPr>
              <p:cNvPr id="30" name="组合 29">
                <a:extLst>
                  <a:ext uri="{FF2B5EF4-FFF2-40B4-BE49-F238E27FC236}">
                    <a16:creationId xmlns:a16="http://schemas.microsoft.com/office/drawing/2014/main" id="{A1D69E92-EE9B-EBD7-4FAC-FD70178D5DB0}"/>
                  </a:ext>
                </a:extLst>
              </p:cNvPr>
              <p:cNvGrpSpPr/>
              <p:nvPr/>
            </p:nvGrpSpPr>
            <p:grpSpPr>
              <a:xfrm>
                <a:off x="2900304" y="3877670"/>
                <a:ext cx="4294246" cy="1221660"/>
                <a:chOff x="2900304" y="1804630"/>
                <a:chExt cx="4294246" cy="1221660"/>
              </a:xfrm>
            </p:grpSpPr>
            <p:sp>
              <p:nvSpPr>
                <p:cNvPr id="31" name="矩形 30">
                  <a:extLst>
                    <a:ext uri="{FF2B5EF4-FFF2-40B4-BE49-F238E27FC236}">
                      <a16:creationId xmlns:a16="http://schemas.microsoft.com/office/drawing/2014/main" id="{5A08C3D5-94EF-F41A-3D47-8F07F619690F}"/>
                    </a:ext>
                  </a:extLst>
                </p:cNvPr>
                <p:cNvSpPr/>
                <p:nvPr/>
              </p:nvSpPr>
              <p:spPr>
                <a:xfrm>
                  <a:off x="2900304" y="1804630"/>
                  <a:ext cx="300096" cy="368300"/>
                </a:xfrm>
                <a:prstGeom prst="rect">
                  <a:avLst/>
                </a:prstGeom>
                <a:solidFill>
                  <a:srgbClr val="A8D18C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2" name="矩形 31">
                  <a:extLst>
                    <a:ext uri="{FF2B5EF4-FFF2-40B4-BE49-F238E27FC236}">
                      <a16:creationId xmlns:a16="http://schemas.microsoft.com/office/drawing/2014/main" id="{D2055931-B4D8-7862-B563-463E88472E65}"/>
                    </a:ext>
                  </a:extLst>
                </p:cNvPr>
                <p:cNvSpPr/>
                <p:nvPr/>
              </p:nvSpPr>
              <p:spPr>
                <a:xfrm>
                  <a:off x="2900304" y="2231310"/>
                  <a:ext cx="1041400" cy="368300"/>
                </a:xfrm>
                <a:prstGeom prst="rect">
                  <a:avLst/>
                </a:prstGeom>
                <a:solidFill>
                  <a:srgbClr val="A8D18C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71F1F2EA-9CDD-B935-89BF-1EC8E834F38F}"/>
                    </a:ext>
                  </a:extLst>
                </p:cNvPr>
                <p:cNvSpPr/>
                <p:nvPr/>
              </p:nvSpPr>
              <p:spPr>
                <a:xfrm>
                  <a:off x="2900304" y="2657990"/>
                  <a:ext cx="789046" cy="368300"/>
                </a:xfrm>
                <a:prstGeom prst="rect">
                  <a:avLst/>
                </a:prstGeom>
                <a:solidFill>
                  <a:srgbClr val="A8D18C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4" name="矩形 33">
                  <a:extLst>
                    <a:ext uri="{FF2B5EF4-FFF2-40B4-BE49-F238E27FC236}">
                      <a16:creationId xmlns:a16="http://schemas.microsoft.com/office/drawing/2014/main" id="{2D93F3A4-EE21-5D0F-A423-91621D9441AA}"/>
                    </a:ext>
                  </a:extLst>
                </p:cNvPr>
                <p:cNvSpPr/>
                <p:nvPr/>
              </p:nvSpPr>
              <p:spPr>
                <a:xfrm>
                  <a:off x="5575300" y="1804630"/>
                  <a:ext cx="520700" cy="368300"/>
                </a:xfrm>
                <a:prstGeom prst="rect">
                  <a:avLst/>
                </a:prstGeom>
                <a:solidFill>
                  <a:srgbClr val="F4B18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5" name="矩形 34">
                  <a:extLst>
                    <a:ext uri="{FF2B5EF4-FFF2-40B4-BE49-F238E27FC236}">
                      <a16:creationId xmlns:a16="http://schemas.microsoft.com/office/drawing/2014/main" id="{93E33072-E359-A44C-1687-212E37A2C8BB}"/>
                    </a:ext>
                  </a:extLst>
                </p:cNvPr>
                <p:cNvSpPr/>
                <p:nvPr/>
              </p:nvSpPr>
              <p:spPr>
                <a:xfrm>
                  <a:off x="5575300" y="2231310"/>
                  <a:ext cx="1619250" cy="368300"/>
                </a:xfrm>
                <a:prstGeom prst="rect">
                  <a:avLst/>
                </a:prstGeom>
                <a:solidFill>
                  <a:srgbClr val="F4B18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6" name="矩形 35">
                  <a:extLst>
                    <a:ext uri="{FF2B5EF4-FFF2-40B4-BE49-F238E27FC236}">
                      <a16:creationId xmlns:a16="http://schemas.microsoft.com/office/drawing/2014/main" id="{53E91708-E245-5436-96B3-B7D56EE2FDE3}"/>
                    </a:ext>
                  </a:extLst>
                </p:cNvPr>
                <p:cNvSpPr/>
                <p:nvPr/>
              </p:nvSpPr>
              <p:spPr>
                <a:xfrm>
                  <a:off x="5575300" y="2657990"/>
                  <a:ext cx="1041400" cy="368300"/>
                </a:xfrm>
                <a:prstGeom prst="rect">
                  <a:avLst/>
                </a:prstGeom>
                <a:solidFill>
                  <a:srgbClr val="F4B18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37" name="直接箭头连接符 36">
                  <a:extLst>
                    <a:ext uri="{FF2B5EF4-FFF2-40B4-BE49-F238E27FC236}">
                      <a16:creationId xmlns:a16="http://schemas.microsoft.com/office/drawing/2014/main" id="{95F90944-0CE9-4780-0085-6CD0D9C0451D}"/>
                    </a:ext>
                  </a:extLst>
                </p:cNvPr>
                <p:cNvCxnSpPr>
                  <a:cxnSpLocks/>
                  <a:stCxn id="32" idx="3"/>
                </p:cNvCxnSpPr>
                <p:nvPr/>
              </p:nvCxnSpPr>
              <p:spPr>
                <a:xfrm>
                  <a:off x="3941704" y="2415460"/>
                  <a:ext cx="414396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直接箭头连接符 37">
                  <a:extLst>
                    <a:ext uri="{FF2B5EF4-FFF2-40B4-BE49-F238E27FC236}">
                      <a16:creationId xmlns:a16="http://schemas.microsoft.com/office/drawing/2014/main" id="{D7789635-6C1B-27AF-A02F-A7E4EF05F6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60904" y="2417920"/>
                  <a:ext cx="414396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41" name="图形 40">
                <a:extLst>
                  <a:ext uri="{FF2B5EF4-FFF2-40B4-BE49-F238E27FC236}">
                    <a16:creationId xmlns:a16="http://schemas.microsoft.com/office/drawing/2014/main" id="{E80E386E-11F5-D0ED-3696-C5E8EE036F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4424554" y="4163672"/>
                <a:ext cx="691883" cy="649656"/>
              </a:xfrm>
              <a:prstGeom prst="rect">
                <a:avLst/>
              </a:prstGeom>
            </p:spPr>
          </p:pic>
        </p:grpSp>
      </p:grpSp>
      <p:sp>
        <p:nvSpPr>
          <p:cNvPr id="44" name="文本框 43">
            <a:extLst>
              <a:ext uri="{FF2B5EF4-FFF2-40B4-BE49-F238E27FC236}">
                <a16:creationId xmlns:a16="http://schemas.microsoft.com/office/drawing/2014/main" id="{FF85EE72-80D7-2B0C-EA6E-B091D6B5F50C}"/>
              </a:ext>
            </a:extLst>
          </p:cNvPr>
          <p:cNvSpPr txBox="1"/>
          <p:nvPr/>
        </p:nvSpPr>
        <p:spPr>
          <a:xfrm>
            <a:off x="7715250" y="3737182"/>
            <a:ext cx="399885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1. </a:t>
            </a:r>
            <a:r>
              <a:rPr lang="zh-CN" altLang="en-US" b="1" dirty="0"/>
              <a:t>请求是异构的；</a:t>
            </a:r>
            <a:endParaRPr lang="en-US" altLang="zh-CN" b="1" dirty="0"/>
          </a:p>
          <a:p>
            <a:r>
              <a:rPr lang="en-US" altLang="zh-CN" b="1" dirty="0"/>
              <a:t>2. </a:t>
            </a:r>
            <a:r>
              <a:rPr lang="zh-CN" altLang="en-US" b="1" dirty="0"/>
              <a:t>执行是不可预测的；</a:t>
            </a:r>
            <a:endParaRPr lang="en-US" altLang="zh-CN" b="1" dirty="0"/>
          </a:p>
          <a:p>
            <a:r>
              <a:rPr lang="en-US" altLang="zh-CN" b="1" dirty="0"/>
              <a:t>3. </a:t>
            </a:r>
            <a:r>
              <a:rPr lang="zh-CN" altLang="en-US" b="1" dirty="0"/>
              <a:t>也就是说用户输入的</a:t>
            </a:r>
            <a:r>
              <a:rPr lang="en-US" altLang="zh-CN" b="1" dirty="0"/>
              <a:t>token</a:t>
            </a:r>
            <a:r>
              <a:rPr lang="zh-CN" altLang="en-US" b="1" dirty="0"/>
              <a:t>和</a:t>
            </a:r>
            <a:r>
              <a:rPr lang="en-US" altLang="zh-CN" b="1" dirty="0"/>
              <a:t>LLM</a:t>
            </a:r>
            <a:r>
              <a:rPr lang="zh-CN" altLang="en-US" b="1" dirty="0"/>
              <a:t>返 回的</a:t>
            </a:r>
            <a:r>
              <a:rPr lang="en-US" altLang="zh-CN" b="1" dirty="0"/>
              <a:t>token</a:t>
            </a:r>
            <a:r>
              <a:rPr lang="zh-CN" altLang="en-US" b="1" dirty="0"/>
              <a:t>数不确定；</a:t>
            </a:r>
            <a:endParaRPr lang="en-US" altLang="zh-CN" b="1" dirty="0"/>
          </a:p>
          <a:p>
            <a:r>
              <a:rPr lang="en-US" altLang="zh-CN" b="1" dirty="0"/>
              <a:t>4. </a:t>
            </a:r>
            <a:r>
              <a:rPr lang="zh-CN" altLang="en-US" b="1" dirty="0"/>
              <a:t>因此请求的执行时间和资源需求都是不可预测的；</a:t>
            </a:r>
          </a:p>
        </p:txBody>
      </p: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AE126634-7751-60AF-9FE8-8BFB26EF0697}"/>
              </a:ext>
            </a:extLst>
          </p:cNvPr>
          <p:cNvGrpSpPr/>
          <p:nvPr/>
        </p:nvGrpSpPr>
        <p:grpSpPr>
          <a:xfrm>
            <a:off x="2900304" y="5710078"/>
            <a:ext cx="7265146" cy="830997"/>
            <a:chOff x="2900304" y="5710078"/>
            <a:chExt cx="7265146" cy="830997"/>
          </a:xfrm>
        </p:grpSpPr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B2CD7AD2-274C-6208-4132-7131EF7E3610}"/>
                </a:ext>
              </a:extLst>
            </p:cNvPr>
            <p:cNvSpPr txBox="1"/>
            <p:nvPr/>
          </p:nvSpPr>
          <p:spPr>
            <a:xfrm>
              <a:off x="3689350" y="5710078"/>
              <a:ext cx="647610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2400" b="1" i="0" dirty="0">
                  <a:solidFill>
                    <a:srgbClr val="C00000"/>
                  </a:solidFill>
                  <a:effectLst/>
                  <a:latin typeface="-apple-system"/>
                </a:rPr>
                <a:t>LLM</a:t>
              </a:r>
              <a:r>
                <a:rPr lang="zh-CN" altLang="en-US" sz="2400" b="1" i="0" dirty="0">
                  <a:solidFill>
                    <a:srgbClr val="C00000"/>
                  </a:solidFill>
                  <a:effectLst/>
                  <a:latin typeface="-apple-system"/>
                </a:rPr>
                <a:t>的多样化应用和动态执行特性</a:t>
              </a:r>
              <a:endParaRPr lang="en-US" altLang="zh-CN" sz="2400" b="1" i="0" dirty="0">
                <a:solidFill>
                  <a:srgbClr val="C00000"/>
                </a:solidFill>
                <a:effectLst/>
                <a:latin typeface="-apple-system"/>
              </a:endParaRPr>
            </a:p>
            <a:p>
              <a:r>
                <a:rPr lang="en-US" altLang="zh-CN" sz="2400" b="1" i="0" dirty="0">
                  <a:solidFill>
                    <a:srgbClr val="C00000"/>
                  </a:solidFill>
                  <a:effectLst/>
                  <a:latin typeface="-apple-system"/>
                  <a:sym typeface="Wingdings" panose="05000000000000000000" pitchFamily="2" charset="2"/>
                </a:rPr>
                <a:t></a:t>
              </a:r>
              <a:r>
                <a:rPr lang="zh-CN" altLang="en-US" sz="2400" b="1" dirty="0">
                  <a:solidFill>
                    <a:srgbClr val="C00000"/>
                  </a:solidFill>
                </a:rPr>
                <a:t>严重排队延迟、尾部延迟较差和违背</a:t>
              </a:r>
              <a:r>
                <a:rPr lang="en-US" altLang="zh-CN" sz="2400" b="1" dirty="0">
                  <a:solidFill>
                    <a:srgbClr val="C00000"/>
                  </a:solidFill>
                </a:rPr>
                <a:t>SLO</a:t>
              </a:r>
              <a:endParaRPr lang="zh-CN" altLang="en-US" sz="2400" b="1" dirty="0">
                <a:solidFill>
                  <a:srgbClr val="C00000"/>
                </a:solidFill>
              </a:endParaRPr>
            </a:p>
          </p:txBody>
        </p:sp>
        <p:pic>
          <p:nvPicPr>
            <p:cNvPr id="49" name="图形 48" descr="警告 纯色填充">
              <a:extLst>
                <a:ext uri="{FF2B5EF4-FFF2-40B4-BE49-F238E27FC236}">
                  <a16:creationId xmlns:a16="http://schemas.microsoft.com/office/drawing/2014/main" id="{02E0D24E-AB0B-4942-D552-BBE0154C0CE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900304" y="5725436"/>
              <a:ext cx="685350" cy="6853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00192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4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DEDFC-91CE-A749-B180-B28C0169D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D:\360MoveData\Users\xiaoxiao\Desktop\logo2.pnglogo2">
            <a:extLst>
              <a:ext uri="{FF2B5EF4-FFF2-40B4-BE49-F238E27FC236}">
                <a16:creationId xmlns:a16="http://schemas.microsoft.com/office/drawing/2014/main" id="{188DD8B5-5B9F-E72B-3AF9-15F2477982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>
          <a:xfrm>
            <a:off x="7439661" y="2687003"/>
            <a:ext cx="5551170" cy="5515610"/>
          </a:xfrm>
          <a:prstGeom prst="rect">
            <a:avLst/>
          </a:prstGeom>
        </p:spPr>
      </p:pic>
      <p:pic>
        <p:nvPicPr>
          <p:cNvPr id="3" name="图片 2" descr="D:\360MoveData\Users\xiaoxiao\Desktop\logo2.pnglogo2">
            <a:extLst>
              <a:ext uri="{FF2B5EF4-FFF2-40B4-BE49-F238E27FC236}">
                <a16:creationId xmlns:a16="http://schemas.microsoft.com/office/drawing/2014/main" id="{35A72C57-7974-7E87-8ACE-EF98B61E17D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>
          <a:xfrm>
            <a:off x="-1129347" y="-918527"/>
            <a:ext cx="5375275" cy="534098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CFDACC41-8F71-ACFB-F623-DA0294D4F6F5}"/>
              </a:ext>
            </a:extLst>
          </p:cNvPr>
          <p:cNvSpPr/>
          <p:nvPr/>
        </p:nvSpPr>
        <p:spPr>
          <a:xfrm>
            <a:off x="-7152640" y="-211031"/>
            <a:ext cx="20522565" cy="10232390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9468E3DE-3B9A-817B-2EA0-14B6EA6BF4E8}"/>
              </a:ext>
            </a:extLst>
          </p:cNvPr>
          <p:cNvSpPr/>
          <p:nvPr/>
        </p:nvSpPr>
        <p:spPr>
          <a:xfrm>
            <a:off x="0" y="1952835"/>
            <a:ext cx="10647949" cy="2952329"/>
          </a:xfrm>
          <a:custGeom>
            <a:avLst/>
            <a:gdLst>
              <a:gd name="connsiteX0" fmla="*/ 9181169 w 10647949"/>
              <a:gd name="connsiteY0" fmla="*/ 0 h 2952329"/>
              <a:gd name="connsiteX1" fmla="*/ 9181188 w 10647949"/>
              <a:gd name="connsiteY1" fmla="*/ 1 h 2952329"/>
              <a:gd name="connsiteX2" fmla="*/ 9223648 w 10647949"/>
              <a:gd name="connsiteY2" fmla="*/ 1 h 2952329"/>
              <a:gd name="connsiteX3" fmla="*/ 9223648 w 10647949"/>
              <a:gd name="connsiteY3" fmla="*/ 2159 h 2952329"/>
              <a:gd name="connsiteX4" fmla="*/ 9331139 w 10647949"/>
              <a:gd name="connsiteY4" fmla="*/ 7621 h 2952329"/>
              <a:gd name="connsiteX5" fmla="*/ 10647949 w 10647949"/>
              <a:gd name="connsiteY5" fmla="*/ 1476164 h 2952329"/>
              <a:gd name="connsiteX6" fmla="*/ 9331139 w 10647949"/>
              <a:gd name="connsiteY6" fmla="*/ 2944707 h 2952329"/>
              <a:gd name="connsiteX7" fmla="*/ 9223648 w 10647949"/>
              <a:gd name="connsiteY7" fmla="*/ 2950170 h 2952329"/>
              <a:gd name="connsiteX8" fmla="*/ 9223648 w 10647949"/>
              <a:gd name="connsiteY8" fmla="*/ 2952329 h 2952329"/>
              <a:gd name="connsiteX9" fmla="*/ 0 w 10647949"/>
              <a:gd name="connsiteY9" fmla="*/ 2952329 h 2952329"/>
              <a:gd name="connsiteX10" fmla="*/ 0 w 10647949"/>
              <a:gd name="connsiteY10" fmla="*/ 1 h 2952329"/>
              <a:gd name="connsiteX11" fmla="*/ 9181150 w 10647949"/>
              <a:gd name="connsiteY11" fmla="*/ 1 h 2952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647949" h="2952329">
                <a:moveTo>
                  <a:pt x="9181169" y="0"/>
                </a:moveTo>
                <a:lnTo>
                  <a:pt x="9181188" y="1"/>
                </a:lnTo>
                <a:lnTo>
                  <a:pt x="9223648" y="1"/>
                </a:lnTo>
                <a:lnTo>
                  <a:pt x="9223648" y="2159"/>
                </a:lnTo>
                <a:lnTo>
                  <a:pt x="9331139" y="7621"/>
                </a:lnTo>
                <a:cubicBezTo>
                  <a:pt x="10070771" y="83216"/>
                  <a:pt x="10647949" y="711855"/>
                  <a:pt x="10647949" y="1476164"/>
                </a:cubicBezTo>
                <a:cubicBezTo>
                  <a:pt x="10647949" y="2240473"/>
                  <a:pt x="10070771" y="2869113"/>
                  <a:pt x="9331139" y="2944707"/>
                </a:cubicBezTo>
                <a:lnTo>
                  <a:pt x="9223648" y="2950170"/>
                </a:lnTo>
                <a:lnTo>
                  <a:pt x="9223648" y="2952329"/>
                </a:lnTo>
                <a:lnTo>
                  <a:pt x="0" y="2952329"/>
                </a:lnTo>
                <a:lnTo>
                  <a:pt x="0" y="1"/>
                </a:lnTo>
                <a:lnTo>
                  <a:pt x="9181150" y="1"/>
                </a:lnTo>
                <a:close/>
              </a:path>
            </a:pathLst>
          </a:custGeom>
          <a:solidFill>
            <a:srgbClr val="7E0C6E"/>
          </a:solidFill>
          <a:ln>
            <a:solidFill>
              <a:srgbClr val="7E0C6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4A9BA502-A207-394A-E4E6-CF1FCA098175}"/>
              </a:ext>
            </a:extLst>
          </p:cNvPr>
          <p:cNvGrpSpPr/>
          <p:nvPr/>
        </p:nvGrpSpPr>
        <p:grpSpPr>
          <a:xfrm>
            <a:off x="7612481" y="2061490"/>
            <a:ext cx="3168995" cy="2664296"/>
            <a:chOff x="5878074" y="2244876"/>
            <a:chExt cx="2826401" cy="2376264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6EABB27D-738A-ACFF-DC1F-4F67BC3D0142}"/>
                </a:ext>
              </a:extLst>
            </p:cNvPr>
            <p:cNvSpPr/>
            <p:nvPr/>
          </p:nvSpPr>
          <p:spPr>
            <a:xfrm>
              <a:off x="6103143" y="2244876"/>
              <a:ext cx="2376264" cy="2376264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9" name="TextBox 21">
              <a:extLst>
                <a:ext uri="{FF2B5EF4-FFF2-40B4-BE49-F238E27FC236}">
                  <a16:creationId xmlns:a16="http://schemas.microsoft.com/office/drawing/2014/main" id="{DCD92FD1-DE4B-3C32-D3E2-1583161B28B9}"/>
                </a:ext>
              </a:extLst>
            </p:cNvPr>
            <p:cNvSpPr txBox="1"/>
            <p:nvPr/>
          </p:nvSpPr>
          <p:spPr>
            <a:xfrm>
              <a:off x="5878074" y="2743319"/>
              <a:ext cx="2826401" cy="1379379"/>
            </a:xfrm>
            <a:prstGeom prst="rect">
              <a:avLst/>
            </a:prstGeom>
            <a:noFill/>
          </p:spPr>
          <p:txBody>
            <a:bodyPr wrap="square" lIns="68580" tIns="34290" rIns="68580" bIns="34290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600" b="1" i="0" u="none" strike="noStrike" kern="1200" cap="none" spc="0" normalizeH="0" baseline="0" noProof="0" dirty="0">
                  <a:ln>
                    <a:noFill/>
                  </a:ln>
                  <a:solidFill>
                    <a:srgbClr val="750909"/>
                  </a:solidFill>
                  <a:effectLst/>
                  <a:uLnTx/>
                  <a:uFillTx/>
                  <a:latin typeface="AvantGarde Md BT" pitchFamily="34" charset="0"/>
                  <a:ea typeface="微软雅黑" panose="020B0503020204020204" pitchFamily="34" charset="-122"/>
                  <a:cs typeface="+mn-cs"/>
                </a:rPr>
                <a:t>02</a:t>
              </a:r>
            </a:p>
          </p:txBody>
        </p:sp>
      </p:grpSp>
      <p:sp>
        <p:nvSpPr>
          <p:cNvPr id="11" name="TextBox 4">
            <a:extLst>
              <a:ext uri="{FF2B5EF4-FFF2-40B4-BE49-F238E27FC236}">
                <a16:creationId xmlns:a16="http://schemas.microsoft.com/office/drawing/2014/main" id="{431AC347-3B46-1E5A-3639-81CDEE428938}"/>
              </a:ext>
            </a:extLst>
          </p:cNvPr>
          <p:cNvSpPr txBox="1"/>
          <p:nvPr/>
        </p:nvSpPr>
        <p:spPr>
          <a:xfrm>
            <a:off x="2330019" y="2805015"/>
            <a:ext cx="4397999" cy="1177245"/>
          </a:xfrm>
          <a:prstGeom prst="rect">
            <a:avLst/>
          </a:prstGeom>
          <a:noFill/>
        </p:spPr>
        <p:txBody>
          <a:bodyPr wrap="none" lIns="68580" tIns="34290" rIns="68580" bIns="3429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7200" b="1" dirty="0">
                <a:solidFill>
                  <a:prstClr val="white"/>
                </a:solidFill>
                <a:latin typeface="AvantGarde Md BT" pitchFamily="34" charset="0"/>
                <a:ea typeface="微软雅黑" panose="020B0503020204020204" pitchFamily="34" charset="-122"/>
              </a:rPr>
              <a:t>Motivation</a:t>
            </a:r>
            <a:endParaRPr kumimoji="0" lang="en-US" altLang="zh-CN" sz="7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antGarde Md BT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1B05A1D-8E25-06FE-1F75-436C3073006D}"/>
              </a:ext>
            </a:extLst>
          </p:cNvPr>
          <p:cNvSpPr txBox="1"/>
          <p:nvPr/>
        </p:nvSpPr>
        <p:spPr>
          <a:xfrm>
            <a:off x="104140" y="6316345"/>
            <a:ext cx="310832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7E0C6E"/>
                </a:solidFill>
                <a:effectLst/>
                <a:uLnTx/>
                <a:uFillTx/>
                <a:latin typeface="华文行楷" panose="02010800040101010101" pitchFamily="2" charset="-122"/>
                <a:ea typeface="华文行楷" panose="02010800040101010101" pitchFamily="2" charset="-122"/>
                <a:cs typeface="+mn-cs"/>
              </a:rPr>
              <a:t>允公允能 日新月异</a:t>
            </a:r>
          </a:p>
        </p:txBody>
      </p:sp>
      <p:pic>
        <p:nvPicPr>
          <p:cNvPr id="12" name="图片 11" descr="D:\360MoveData\Users\xiaoxiao\Desktop\微信图片_20230609200656.png微信图片_20230609200656">
            <a:extLst>
              <a:ext uri="{FF2B5EF4-FFF2-40B4-BE49-F238E27FC236}">
                <a16:creationId xmlns:a16="http://schemas.microsoft.com/office/drawing/2014/main" id="{01AF8AE1-5666-F29B-EB4B-E9187B0C4D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580438" y="99235"/>
            <a:ext cx="3269615" cy="1199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54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B18AD-5E9A-5E0F-0278-527051599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南开大学·校训">
            <a:extLst>
              <a:ext uri="{FF2B5EF4-FFF2-40B4-BE49-F238E27FC236}">
                <a16:creationId xmlns:a16="http://schemas.microsoft.com/office/drawing/2014/main" id="{01ED54E3-6F4B-FDD1-EFAB-5527E815EE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3168" y="6541075"/>
            <a:ext cx="2188832" cy="316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组合 3">
            <a:extLst>
              <a:ext uri="{FF2B5EF4-FFF2-40B4-BE49-F238E27FC236}">
                <a16:creationId xmlns:a16="http://schemas.microsoft.com/office/drawing/2014/main" id="{EF1225E5-896B-3022-E1E2-79EFF2866BB7}"/>
              </a:ext>
            </a:extLst>
          </p:cNvPr>
          <p:cNvGrpSpPr/>
          <p:nvPr/>
        </p:nvGrpSpPr>
        <p:grpSpPr>
          <a:xfrm>
            <a:off x="2216228" y="269008"/>
            <a:ext cx="6372708" cy="682262"/>
            <a:chOff x="299356" y="260648"/>
            <a:chExt cx="6372708" cy="682262"/>
          </a:xfrm>
        </p:grpSpPr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BE28B7E0-AFEB-78B7-9693-3794C06C9E67}"/>
                </a:ext>
              </a:extLst>
            </p:cNvPr>
            <p:cNvGrpSpPr/>
            <p:nvPr/>
          </p:nvGrpSpPr>
          <p:grpSpPr>
            <a:xfrm>
              <a:off x="299356" y="260648"/>
              <a:ext cx="684076" cy="682262"/>
              <a:chOff x="637139" y="467280"/>
              <a:chExt cx="684076" cy="682262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9E555D7D-9CEC-5024-9D52-7EEDD7D620EA}"/>
                  </a:ext>
                </a:extLst>
              </p:cNvPr>
              <p:cNvSpPr/>
              <p:nvPr/>
            </p:nvSpPr>
            <p:spPr>
              <a:xfrm>
                <a:off x="637139" y="467280"/>
                <a:ext cx="432048" cy="432048"/>
              </a:xfrm>
              <a:prstGeom prst="rect">
                <a:avLst/>
              </a:prstGeom>
              <a:solidFill>
                <a:srgbClr val="7E0C6E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DFAF0E6B-9EFE-41A5-7FD2-F29761609016}"/>
                  </a:ext>
                </a:extLst>
              </p:cNvPr>
              <p:cNvSpPr/>
              <p:nvPr/>
            </p:nvSpPr>
            <p:spPr>
              <a:xfrm>
                <a:off x="817159" y="645486"/>
                <a:ext cx="504056" cy="504056"/>
              </a:xfrm>
              <a:prstGeom prst="rect">
                <a:avLst/>
              </a:prstGeom>
              <a:solidFill>
                <a:srgbClr val="7E0C6E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C47B49CD-8698-790C-C7E9-B37ADC62C3CC}"/>
                </a:ext>
              </a:extLst>
            </p:cNvPr>
            <p:cNvCxnSpPr/>
            <p:nvPr/>
          </p:nvCxnSpPr>
          <p:spPr>
            <a:xfrm>
              <a:off x="1055440" y="899328"/>
              <a:ext cx="5616624" cy="0"/>
            </a:xfrm>
            <a:prstGeom prst="line">
              <a:avLst/>
            </a:prstGeom>
            <a:ln w="28575">
              <a:solidFill>
                <a:srgbClr val="7E0C6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36">
              <a:extLst>
                <a:ext uri="{FF2B5EF4-FFF2-40B4-BE49-F238E27FC236}">
                  <a16:creationId xmlns:a16="http://schemas.microsoft.com/office/drawing/2014/main" id="{A5820D9B-3F10-87CD-D627-0B3E1D55BDA6}"/>
                </a:ext>
              </a:extLst>
            </p:cNvPr>
            <p:cNvSpPr txBox="1"/>
            <p:nvPr/>
          </p:nvSpPr>
          <p:spPr>
            <a:xfrm>
              <a:off x="1163452" y="260648"/>
              <a:ext cx="2128275" cy="500137"/>
            </a:xfrm>
            <a:prstGeom prst="rect">
              <a:avLst/>
            </a:prstGeom>
            <a:noFill/>
          </p:spPr>
          <p:txBody>
            <a:bodyPr wrap="none" lIns="68580" tIns="34290" rIns="68580" bIns="34290" rtlCol="0">
              <a:spAutoFit/>
            </a:bodyPr>
            <a:lstStyle/>
            <a:p>
              <a:pPr lvl="0"/>
              <a:r>
                <a:rPr lang="en-US" altLang="zh-CN" sz="2800" b="1" dirty="0">
                  <a:solidFill>
                    <a:srgbClr val="7E0C6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Motivation</a:t>
              </a:r>
            </a:p>
          </p:txBody>
        </p:sp>
      </p:grpSp>
      <p:graphicFrame>
        <p:nvGraphicFramePr>
          <p:cNvPr id="10" name="table 482">
            <a:extLst>
              <a:ext uri="{FF2B5EF4-FFF2-40B4-BE49-F238E27FC236}">
                <a16:creationId xmlns:a16="http://schemas.microsoft.com/office/drawing/2014/main" id="{235A33A2-F6EA-0584-FDE8-72B65B7FE575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963560" cy="6858000"/>
        </p:xfrm>
        <a:graphic>
          <a:graphicData uri="http://schemas.openxmlformats.org/drawingml/2006/table">
            <a:tbl>
              <a:tblPr>
                <a:solidFill>
                  <a:srgbClr val="1F4E79"/>
                </a:solidFill>
              </a:tblPr>
              <a:tblGrid>
                <a:gridCol w="1963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858000">
                <a:tc>
                  <a:txBody>
                    <a:bodyPr/>
                    <a:lstStyle/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1000" b="0" kern="1200" spc="0" dirty="0">
                          <a:solidFill>
                            <a:srgbClr val="7030A0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</a:t>
                      </a: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1000" b="0" kern="1200" spc="0" dirty="0">
                          <a:solidFill>
                            <a:srgbClr val="7030A0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 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1. 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I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ntroduction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solidFill>
                          <a:srgbClr val="7030A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</a:t>
                      </a:r>
                      <a:r>
                        <a:rPr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2. </a:t>
                      </a:r>
                      <a:r>
                        <a:rPr lang="en-US"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M</a:t>
                      </a:r>
                      <a:r>
                        <a:rPr lang="en-US" altLang="zh-CN"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otivation</a:t>
                      </a:r>
                      <a:endParaRPr sz="2000" b="1" kern="0" spc="-30" dirty="0">
                        <a:solidFill>
                          <a:schemeClr val="bg1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3. O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verview</a:t>
                      </a: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endParaRPr lang="en-US"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endParaRPr lang="en-US"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4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M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ethod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5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E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valuation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7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18000"/>
                        </a:lnSpc>
                      </a:pPr>
                      <a:endParaRPr sz="3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6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 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C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onclusion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22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C17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11" name="图片 10">
            <a:extLst>
              <a:ext uri="{FF2B5EF4-FFF2-40B4-BE49-F238E27FC236}">
                <a16:creationId xmlns:a16="http://schemas.microsoft.com/office/drawing/2014/main" id="{4C5B48C9-F5CF-4549-F0BA-B0FCCD4C44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632" y="3033347"/>
            <a:ext cx="6737350" cy="3507728"/>
          </a:xfrm>
          <a:prstGeom prst="rect">
            <a:avLst/>
          </a:prstGeom>
        </p:spPr>
      </p:pic>
      <p:grpSp>
        <p:nvGrpSpPr>
          <p:cNvPr id="2" name="组合 1">
            <a:extLst>
              <a:ext uri="{FF2B5EF4-FFF2-40B4-BE49-F238E27FC236}">
                <a16:creationId xmlns:a16="http://schemas.microsoft.com/office/drawing/2014/main" id="{5730C6DE-FFD1-8BA1-52E4-12222FE0827D}"/>
              </a:ext>
            </a:extLst>
          </p:cNvPr>
          <p:cNvGrpSpPr/>
          <p:nvPr/>
        </p:nvGrpSpPr>
        <p:grpSpPr>
          <a:xfrm>
            <a:off x="2718312" y="1212623"/>
            <a:ext cx="4164689" cy="2031325"/>
            <a:chOff x="2718312" y="1212623"/>
            <a:chExt cx="4164689" cy="2031325"/>
          </a:xfrm>
        </p:grpSpPr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49DC186-9CE2-8294-512C-9F625746C0C7}"/>
                </a:ext>
              </a:extLst>
            </p:cNvPr>
            <p:cNvSpPr txBox="1"/>
            <p:nvPr/>
          </p:nvSpPr>
          <p:spPr>
            <a:xfrm>
              <a:off x="2718312" y="1212623"/>
              <a:ext cx="3803138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AutoNum type="alphaLcParenR"/>
              </a:pPr>
              <a:r>
                <a:rPr lang="zh-CN" altLang="en-US" b="1" dirty="0"/>
                <a:t>负载不均导致任务间抢占和干扰</a:t>
              </a:r>
              <a:endParaRPr lang="en-US" altLang="zh-CN" b="1" dirty="0"/>
            </a:p>
            <a:p>
              <a:pPr marL="342900" indent="-342900">
                <a:buAutoNum type="alphaLcParenR"/>
              </a:pPr>
              <a:endParaRPr lang="en-US" altLang="zh-CN" b="1" dirty="0"/>
            </a:p>
            <a:p>
              <a:r>
                <a:rPr lang="en-US" altLang="zh-CN" b="1" dirty="0"/>
                <a:t>b)  </a:t>
              </a:r>
              <a:r>
                <a:rPr lang="zh-CN" altLang="en-US" b="1" dirty="0"/>
                <a:t>内存碎片造成排队等待</a:t>
              </a:r>
              <a:endParaRPr lang="en-US" altLang="zh-CN" b="1" dirty="0"/>
            </a:p>
            <a:p>
              <a:endParaRPr lang="en-US" altLang="zh-CN" b="1" dirty="0"/>
            </a:p>
            <a:p>
              <a:r>
                <a:rPr lang="en-US" altLang="zh-CN" b="1" dirty="0"/>
                <a:t>c)   </a:t>
              </a:r>
              <a:r>
                <a:rPr lang="zh-CN" altLang="en-US" b="1" dirty="0"/>
                <a:t>高优先级的请求受到干扰</a:t>
              </a:r>
              <a:endParaRPr lang="en-US" altLang="zh-CN" b="1" dirty="0"/>
            </a:p>
            <a:p>
              <a:endParaRPr lang="en-US" altLang="zh-CN" b="1" dirty="0"/>
            </a:p>
            <a:p>
              <a:r>
                <a:rPr lang="en-US" altLang="zh-CN" b="1" dirty="0"/>
                <a:t>d)  </a:t>
              </a:r>
              <a:r>
                <a:rPr lang="zh-CN" altLang="en-US" b="1" dirty="0"/>
                <a:t>资源浪费、难以保障服务质量</a:t>
              </a:r>
            </a:p>
          </p:txBody>
        </p:sp>
        <p:pic>
          <p:nvPicPr>
            <p:cNvPr id="15" name="图形 14">
              <a:extLst>
                <a:ext uri="{FF2B5EF4-FFF2-40B4-BE49-F238E27FC236}">
                  <a16:creationId xmlns:a16="http://schemas.microsoft.com/office/drawing/2014/main" id="{3C48A2BA-046C-68CA-6E21-006039D824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464698" y="1212623"/>
              <a:ext cx="418303" cy="418303"/>
            </a:xfrm>
            <a:prstGeom prst="rect">
              <a:avLst/>
            </a:prstGeom>
          </p:spPr>
        </p:pic>
        <p:pic>
          <p:nvPicPr>
            <p:cNvPr id="16" name="图形 15">
              <a:extLst>
                <a:ext uri="{FF2B5EF4-FFF2-40B4-BE49-F238E27FC236}">
                  <a16:creationId xmlns:a16="http://schemas.microsoft.com/office/drawing/2014/main" id="{996AA9F6-39BA-3E25-9965-9B73823B9F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464698" y="1736936"/>
              <a:ext cx="418303" cy="418303"/>
            </a:xfrm>
            <a:prstGeom prst="rect">
              <a:avLst/>
            </a:prstGeom>
          </p:spPr>
        </p:pic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FFB6FFC2-2326-B565-E6DF-661071A8B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464698" y="2261249"/>
              <a:ext cx="418303" cy="418303"/>
            </a:xfrm>
            <a:prstGeom prst="rect">
              <a:avLst/>
            </a:prstGeom>
          </p:spPr>
        </p:pic>
        <p:pic>
          <p:nvPicPr>
            <p:cNvPr id="18" name="图形 17">
              <a:extLst>
                <a:ext uri="{FF2B5EF4-FFF2-40B4-BE49-F238E27FC236}">
                  <a16:creationId xmlns:a16="http://schemas.microsoft.com/office/drawing/2014/main" id="{19AA6237-DC2F-C333-1429-CA36798DD1C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464698" y="2785563"/>
              <a:ext cx="418303" cy="418303"/>
            </a:xfrm>
            <a:prstGeom prst="rect">
              <a:avLst/>
            </a:prstGeom>
          </p:spPr>
        </p:pic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8198E953-906E-546C-6098-10E3FADD5E5A}"/>
              </a:ext>
            </a:extLst>
          </p:cNvPr>
          <p:cNvGrpSpPr/>
          <p:nvPr/>
        </p:nvGrpSpPr>
        <p:grpSpPr>
          <a:xfrm>
            <a:off x="7276202" y="1123312"/>
            <a:ext cx="4362064" cy="2129783"/>
            <a:chOff x="7276202" y="1123312"/>
            <a:chExt cx="4362064" cy="2129783"/>
          </a:xfrm>
        </p:grpSpPr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1AFD5837-EE12-35CE-B39C-CB652F86DC73}"/>
                </a:ext>
              </a:extLst>
            </p:cNvPr>
            <p:cNvSpPr txBox="1"/>
            <p:nvPr/>
          </p:nvSpPr>
          <p:spPr>
            <a:xfrm>
              <a:off x="7276202" y="1172541"/>
              <a:ext cx="4032762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/>
                <a:t>负载均衡，减少抢占和干扰</a:t>
              </a:r>
              <a:endParaRPr lang="en-US" altLang="zh-CN" b="1" dirty="0"/>
            </a:p>
            <a:p>
              <a:pPr marL="342900" indent="-342900">
                <a:buAutoNum type="alphaLcParenR"/>
              </a:pPr>
              <a:endParaRPr lang="en-US" altLang="zh-CN" b="1" dirty="0"/>
            </a:p>
            <a:p>
              <a:r>
                <a:rPr lang="zh-CN" altLang="en-US" b="1" dirty="0"/>
                <a:t>碎片整理创建连续空间，减少等待</a:t>
              </a:r>
              <a:endParaRPr lang="en-US" altLang="zh-CN" b="1" dirty="0"/>
            </a:p>
            <a:p>
              <a:endParaRPr lang="en-US" altLang="zh-CN" b="1" dirty="0"/>
            </a:p>
            <a:p>
              <a:r>
                <a:rPr lang="zh-CN" altLang="en-US" b="1" dirty="0"/>
                <a:t>通过“隔离”保障特定请求的服务质量</a:t>
              </a:r>
              <a:endParaRPr lang="en-US" altLang="zh-CN" b="1" dirty="0"/>
            </a:p>
            <a:p>
              <a:endParaRPr lang="en-US" altLang="zh-CN" b="1" dirty="0"/>
            </a:p>
            <a:p>
              <a:r>
                <a:rPr lang="zh-CN" altLang="en-US" b="1" dirty="0"/>
                <a:t>自动缩容、扩容，高效利用资源</a:t>
              </a:r>
            </a:p>
          </p:txBody>
        </p:sp>
        <p:pic>
          <p:nvPicPr>
            <p:cNvPr id="20" name="图形 19">
              <a:extLst>
                <a:ext uri="{FF2B5EF4-FFF2-40B4-BE49-F238E27FC236}">
                  <a16:creationId xmlns:a16="http://schemas.microsoft.com/office/drawing/2014/main" id="{41249FDB-935F-658C-45C6-7A353EC0E3E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130652" y="1123312"/>
              <a:ext cx="507614" cy="507614"/>
            </a:xfrm>
            <a:prstGeom prst="rect">
              <a:avLst/>
            </a:prstGeom>
          </p:spPr>
        </p:pic>
        <p:pic>
          <p:nvPicPr>
            <p:cNvPr id="21" name="图形 20">
              <a:extLst>
                <a:ext uri="{FF2B5EF4-FFF2-40B4-BE49-F238E27FC236}">
                  <a16:creationId xmlns:a16="http://schemas.microsoft.com/office/drawing/2014/main" id="{F61A92C4-B8B3-509B-419C-1A7A644CB59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130652" y="1664035"/>
              <a:ext cx="507614" cy="507614"/>
            </a:xfrm>
            <a:prstGeom prst="rect">
              <a:avLst/>
            </a:prstGeom>
          </p:spPr>
        </p:pic>
        <p:pic>
          <p:nvPicPr>
            <p:cNvPr id="22" name="图形 21">
              <a:extLst>
                <a:ext uri="{FF2B5EF4-FFF2-40B4-BE49-F238E27FC236}">
                  <a16:creationId xmlns:a16="http://schemas.microsoft.com/office/drawing/2014/main" id="{74A230C8-B21D-77FE-7900-C26E5AF612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130652" y="2204758"/>
              <a:ext cx="507614" cy="507614"/>
            </a:xfrm>
            <a:prstGeom prst="rect">
              <a:avLst/>
            </a:prstGeom>
          </p:spPr>
        </p:pic>
        <p:pic>
          <p:nvPicPr>
            <p:cNvPr id="23" name="图形 22">
              <a:extLst>
                <a:ext uri="{FF2B5EF4-FFF2-40B4-BE49-F238E27FC236}">
                  <a16:creationId xmlns:a16="http://schemas.microsoft.com/office/drawing/2014/main" id="{40FF19C9-E252-2472-40A3-2068573512D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130652" y="2745481"/>
              <a:ext cx="507614" cy="50761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40924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8C233-E635-4E2C-1D19-5F5D42F7F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D:\360MoveData\Users\xiaoxiao\Desktop\logo2.pnglogo2">
            <a:extLst>
              <a:ext uri="{FF2B5EF4-FFF2-40B4-BE49-F238E27FC236}">
                <a16:creationId xmlns:a16="http://schemas.microsoft.com/office/drawing/2014/main" id="{A0B1E00E-7DEA-6DCC-59F3-3053F704E16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>
          <a:xfrm>
            <a:off x="7439661" y="2687003"/>
            <a:ext cx="5551170" cy="5515610"/>
          </a:xfrm>
          <a:prstGeom prst="rect">
            <a:avLst/>
          </a:prstGeom>
        </p:spPr>
      </p:pic>
      <p:pic>
        <p:nvPicPr>
          <p:cNvPr id="3" name="图片 2" descr="D:\360MoveData\Users\xiaoxiao\Desktop\logo2.pnglogo2">
            <a:extLst>
              <a:ext uri="{FF2B5EF4-FFF2-40B4-BE49-F238E27FC236}">
                <a16:creationId xmlns:a16="http://schemas.microsoft.com/office/drawing/2014/main" id="{1E6776A8-185F-8CD8-4400-A6F3885ECA4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>
          <a:xfrm>
            <a:off x="-1129347" y="-918527"/>
            <a:ext cx="5375275" cy="534098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A2F5508B-B33D-673B-1D28-B615A217CE6C}"/>
              </a:ext>
            </a:extLst>
          </p:cNvPr>
          <p:cNvSpPr/>
          <p:nvPr/>
        </p:nvSpPr>
        <p:spPr>
          <a:xfrm>
            <a:off x="-7152640" y="-211031"/>
            <a:ext cx="20522565" cy="10232390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20CC285A-7D11-1D0C-A7D4-5EAC6021319F}"/>
              </a:ext>
            </a:extLst>
          </p:cNvPr>
          <p:cNvSpPr/>
          <p:nvPr/>
        </p:nvSpPr>
        <p:spPr>
          <a:xfrm>
            <a:off x="0" y="1952835"/>
            <a:ext cx="10647949" cy="2952329"/>
          </a:xfrm>
          <a:custGeom>
            <a:avLst/>
            <a:gdLst>
              <a:gd name="connsiteX0" fmla="*/ 9181169 w 10647949"/>
              <a:gd name="connsiteY0" fmla="*/ 0 h 2952329"/>
              <a:gd name="connsiteX1" fmla="*/ 9181188 w 10647949"/>
              <a:gd name="connsiteY1" fmla="*/ 1 h 2952329"/>
              <a:gd name="connsiteX2" fmla="*/ 9223648 w 10647949"/>
              <a:gd name="connsiteY2" fmla="*/ 1 h 2952329"/>
              <a:gd name="connsiteX3" fmla="*/ 9223648 w 10647949"/>
              <a:gd name="connsiteY3" fmla="*/ 2159 h 2952329"/>
              <a:gd name="connsiteX4" fmla="*/ 9331139 w 10647949"/>
              <a:gd name="connsiteY4" fmla="*/ 7621 h 2952329"/>
              <a:gd name="connsiteX5" fmla="*/ 10647949 w 10647949"/>
              <a:gd name="connsiteY5" fmla="*/ 1476164 h 2952329"/>
              <a:gd name="connsiteX6" fmla="*/ 9331139 w 10647949"/>
              <a:gd name="connsiteY6" fmla="*/ 2944707 h 2952329"/>
              <a:gd name="connsiteX7" fmla="*/ 9223648 w 10647949"/>
              <a:gd name="connsiteY7" fmla="*/ 2950170 h 2952329"/>
              <a:gd name="connsiteX8" fmla="*/ 9223648 w 10647949"/>
              <a:gd name="connsiteY8" fmla="*/ 2952329 h 2952329"/>
              <a:gd name="connsiteX9" fmla="*/ 0 w 10647949"/>
              <a:gd name="connsiteY9" fmla="*/ 2952329 h 2952329"/>
              <a:gd name="connsiteX10" fmla="*/ 0 w 10647949"/>
              <a:gd name="connsiteY10" fmla="*/ 1 h 2952329"/>
              <a:gd name="connsiteX11" fmla="*/ 9181150 w 10647949"/>
              <a:gd name="connsiteY11" fmla="*/ 1 h 2952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647949" h="2952329">
                <a:moveTo>
                  <a:pt x="9181169" y="0"/>
                </a:moveTo>
                <a:lnTo>
                  <a:pt x="9181188" y="1"/>
                </a:lnTo>
                <a:lnTo>
                  <a:pt x="9223648" y="1"/>
                </a:lnTo>
                <a:lnTo>
                  <a:pt x="9223648" y="2159"/>
                </a:lnTo>
                <a:lnTo>
                  <a:pt x="9331139" y="7621"/>
                </a:lnTo>
                <a:cubicBezTo>
                  <a:pt x="10070771" y="83216"/>
                  <a:pt x="10647949" y="711855"/>
                  <a:pt x="10647949" y="1476164"/>
                </a:cubicBezTo>
                <a:cubicBezTo>
                  <a:pt x="10647949" y="2240473"/>
                  <a:pt x="10070771" y="2869113"/>
                  <a:pt x="9331139" y="2944707"/>
                </a:cubicBezTo>
                <a:lnTo>
                  <a:pt x="9223648" y="2950170"/>
                </a:lnTo>
                <a:lnTo>
                  <a:pt x="9223648" y="2952329"/>
                </a:lnTo>
                <a:lnTo>
                  <a:pt x="0" y="2952329"/>
                </a:lnTo>
                <a:lnTo>
                  <a:pt x="0" y="1"/>
                </a:lnTo>
                <a:lnTo>
                  <a:pt x="9181150" y="1"/>
                </a:lnTo>
                <a:close/>
              </a:path>
            </a:pathLst>
          </a:custGeom>
          <a:solidFill>
            <a:srgbClr val="7E0C6E"/>
          </a:solidFill>
          <a:ln>
            <a:solidFill>
              <a:srgbClr val="7E0C6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B46C7AF1-86FE-6922-B036-0FEE7773F113}"/>
              </a:ext>
            </a:extLst>
          </p:cNvPr>
          <p:cNvGrpSpPr/>
          <p:nvPr/>
        </p:nvGrpSpPr>
        <p:grpSpPr>
          <a:xfrm>
            <a:off x="7612481" y="2061490"/>
            <a:ext cx="3168995" cy="2664296"/>
            <a:chOff x="5878074" y="2244876"/>
            <a:chExt cx="2826401" cy="2376264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08D10C5B-818A-5ECA-ED4E-9CF0360EF6AD}"/>
                </a:ext>
              </a:extLst>
            </p:cNvPr>
            <p:cNvSpPr/>
            <p:nvPr/>
          </p:nvSpPr>
          <p:spPr>
            <a:xfrm>
              <a:off x="6103143" y="2244876"/>
              <a:ext cx="2376264" cy="2376264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9" name="TextBox 21">
              <a:extLst>
                <a:ext uri="{FF2B5EF4-FFF2-40B4-BE49-F238E27FC236}">
                  <a16:creationId xmlns:a16="http://schemas.microsoft.com/office/drawing/2014/main" id="{ACD61F3C-4DB9-7720-B5D1-6B8585ECF1A6}"/>
                </a:ext>
              </a:extLst>
            </p:cNvPr>
            <p:cNvSpPr txBox="1"/>
            <p:nvPr/>
          </p:nvSpPr>
          <p:spPr>
            <a:xfrm>
              <a:off x="5878074" y="2743319"/>
              <a:ext cx="2826401" cy="1379379"/>
            </a:xfrm>
            <a:prstGeom prst="rect">
              <a:avLst/>
            </a:prstGeom>
            <a:noFill/>
          </p:spPr>
          <p:txBody>
            <a:bodyPr wrap="square" lIns="68580" tIns="34290" rIns="68580" bIns="34290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600" b="1" i="0" u="none" strike="noStrike" kern="1200" cap="none" spc="0" normalizeH="0" baseline="0" noProof="0" dirty="0">
                  <a:ln>
                    <a:noFill/>
                  </a:ln>
                  <a:solidFill>
                    <a:srgbClr val="750909"/>
                  </a:solidFill>
                  <a:effectLst/>
                  <a:uLnTx/>
                  <a:uFillTx/>
                  <a:latin typeface="AvantGarde Md BT" pitchFamily="34" charset="0"/>
                  <a:ea typeface="微软雅黑" panose="020B0503020204020204" pitchFamily="34" charset="-122"/>
                  <a:cs typeface="+mn-cs"/>
                </a:rPr>
                <a:t>03</a:t>
              </a:r>
            </a:p>
          </p:txBody>
        </p:sp>
      </p:grpSp>
      <p:sp>
        <p:nvSpPr>
          <p:cNvPr id="11" name="TextBox 4">
            <a:extLst>
              <a:ext uri="{FF2B5EF4-FFF2-40B4-BE49-F238E27FC236}">
                <a16:creationId xmlns:a16="http://schemas.microsoft.com/office/drawing/2014/main" id="{BFB81308-48A2-BBCE-4FD9-B80C43676B6F}"/>
              </a:ext>
            </a:extLst>
          </p:cNvPr>
          <p:cNvSpPr txBox="1"/>
          <p:nvPr/>
        </p:nvSpPr>
        <p:spPr>
          <a:xfrm>
            <a:off x="2330019" y="2805015"/>
            <a:ext cx="3806042" cy="1177245"/>
          </a:xfrm>
          <a:prstGeom prst="rect">
            <a:avLst/>
          </a:prstGeom>
          <a:noFill/>
        </p:spPr>
        <p:txBody>
          <a:bodyPr wrap="none" lIns="68580" tIns="34290" rIns="68580" bIns="3429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antGarde Md BT" pitchFamily="34" charset="0"/>
                <a:ea typeface="微软雅黑" panose="020B0503020204020204" pitchFamily="34" charset="-122"/>
                <a:cs typeface="+mn-cs"/>
              </a:rPr>
              <a:t>Overview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EF9C44D-A9E7-CA37-B4F1-6961F0DAF3F7}"/>
              </a:ext>
            </a:extLst>
          </p:cNvPr>
          <p:cNvSpPr txBox="1"/>
          <p:nvPr/>
        </p:nvSpPr>
        <p:spPr>
          <a:xfrm>
            <a:off x="104140" y="6316345"/>
            <a:ext cx="310832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7E0C6E"/>
                </a:solidFill>
                <a:effectLst/>
                <a:uLnTx/>
                <a:uFillTx/>
                <a:latin typeface="华文行楷" panose="02010800040101010101" pitchFamily="2" charset="-122"/>
                <a:ea typeface="华文行楷" panose="02010800040101010101" pitchFamily="2" charset="-122"/>
                <a:cs typeface="+mn-cs"/>
              </a:rPr>
              <a:t>允公允能 日新月异</a:t>
            </a:r>
          </a:p>
        </p:txBody>
      </p:sp>
      <p:pic>
        <p:nvPicPr>
          <p:cNvPr id="12" name="图片 11" descr="D:\360MoveData\Users\xiaoxiao\Desktop\微信图片_20230609200656.png微信图片_20230609200656">
            <a:extLst>
              <a:ext uri="{FF2B5EF4-FFF2-40B4-BE49-F238E27FC236}">
                <a16:creationId xmlns:a16="http://schemas.microsoft.com/office/drawing/2014/main" id="{1DA34757-7A04-652E-3548-91B7702A93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580438" y="99235"/>
            <a:ext cx="3269615" cy="1199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38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D0165-F5ED-7A77-3D86-347BC49F1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南开大学·校训">
            <a:extLst>
              <a:ext uri="{FF2B5EF4-FFF2-40B4-BE49-F238E27FC236}">
                <a16:creationId xmlns:a16="http://schemas.microsoft.com/office/drawing/2014/main" id="{CEFE28D8-C6D1-29EA-5D0D-423B576EBB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3168" y="6541075"/>
            <a:ext cx="2188832" cy="316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组合 3">
            <a:extLst>
              <a:ext uri="{FF2B5EF4-FFF2-40B4-BE49-F238E27FC236}">
                <a16:creationId xmlns:a16="http://schemas.microsoft.com/office/drawing/2014/main" id="{A75BF572-3008-E070-7028-14397545B291}"/>
              </a:ext>
            </a:extLst>
          </p:cNvPr>
          <p:cNvGrpSpPr/>
          <p:nvPr/>
        </p:nvGrpSpPr>
        <p:grpSpPr>
          <a:xfrm>
            <a:off x="2216228" y="269008"/>
            <a:ext cx="6372708" cy="682262"/>
            <a:chOff x="299356" y="260648"/>
            <a:chExt cx="6372708" cy="682262"/>
          </a:xfrm>
        </p:grpSpPr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F95EECAF-23E1-7F4B-9B81-448E8B7432A6}"/>
                </a:ext>
              </a:extLst>
            </p:cNvPr>
            <p:cNvGrpSpPr/>
            <p:nvPr/>
          </p:nvGrpSpPr>
          <p:grpSpPr>
            <a:xfrm>
              <a:off x="299356" y="260648"/>
              <a:ext cx="684076" cy="682262"/>
              <a:chOff x="637139" y="467280"/>
              <a:chExt cx="684076" cy="682262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0FD391F5-D983-78B4-AA03-50FEBCDECAC3}"/>
                  </a:ext>
                </a:extLst>
              </p:cNvPr>
              <p:cNvSpPr/>
              <p:nvPr/>
            </p:nvSpPr>
            <p:spPr>
              <a:xfrm>
                <a:off x="637139" y="467280"/>
                <a:ext cx="432048" cy="432048"/>
              </a:xfrm>
              <a:prstGeom prst="rect">
                <a:avLst/>
              </a:prstGeom>
              <a:solidFill>
                <a:srgbClr val="7E0C6E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0BCB8B85-388D-65D1-979D-B03B603A3048}"/>
                  </a:ext>
                </a:extLst>
              </p:cNvPr>
              <p:cNvSpPr/>
              <p:nvPr/>
            </p:nvSpPr>
            <p:spPr>
              <a:xfrm>
                <a:off x="817159" y="645486"/>
                <a:ext cx="504056" cy="504056"/>
              </a:xfrm>
              <a:prstGeom prst="rect">
                <a:avLst/>
              </a:prstGeom>
              <a:solidFill>
                <a:srgbClr val="7E0C6E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9B18BC91-7F20-EEA8-5625-01B6A20C6DD9}"/>
                </a:ext>
              </a:extLst>
            </p:cNvPr>
            <p:cNvCxnSpPr/>
            <p:nvPr/>
          </p:nvCxnSpPr>
          <p:spPr>
            <a:xfrm>
              <a:off x="1055440" y="899328"/>
              <a:ext cx="5616624" cy="0"/>
            </a:xfrm>
            <a:prstGeom prst="line">
              <a:avLst/>
            </a:prstGeom>
            <a:ln w="28575">
              <a:solidFill>
                <a:srgbClr val="7E0C6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36">
              <a:extLst>
                <a:ext uri="{FF2B5EF4-FFF2-40B4-BE49-F238E27FC236}">
                  <a16:creationId xmlns:a16="http://schemas.microsoft.com/office/drawing/2014/main" id="{406564CD-93A8-DEC0-1780-7FB7660B6F2C}"/>
                </a:ext>
              </a:extLst>
            </p:cNvPr>
            <p:cNvSpPr txBox="1"/>
            <p:nvPr/>
          </p:nvSpPr>
          <p:spPr>
            <a:xfrm>
              <a:off x="1163452" y="260648"/>
              <a:ext cx="3948581" cy="500137"/>
            </a:xfrm>
            <a:prstGeom prst="rect">
              <a:avLst/>
            </a:prstGeom>
            <a:noFill/>
          </p:spPr>
          <p:txBody>
            <a:bodyPr wrap="none" lIns="68580" tIns="34290" rIns="68580" bIns="34290" rtlCol="0">
              <a:spAutoFit/>
            </a:bodyPr>
            <a:lstStyle/>
            <a:p>
              <a:pPr lvl="0"/>
              <a:r>
                <a:rPr lang="en-US" altLang="zh-CN" sz="2800" b="1" dirty="0">
                  <a:solidFill>
                    <a:srgbClr val="7E0C6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Llumnix architecture</a:t>
              </a:r>
            </a:p>
          </p:txBody>
        </p:sp>
      </p:grpSp>
      <p:graphicFrame>
        <p:nvGraphicFramePr>
          <p:cNvPr id="10" name="table 482">
            <a:extLst>
              <a:ext uri="{FF2B5EF4-FFF2-40B4-BE49-F238E27FC236}">
                <a16:creationId xmlns:a16="http://schemas.microsoft.com/office/drawing/2014/main" id="{78C85675-6E01-EB24-20B7-3A636BBD9C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6341000"/>
              </p:ext>
            </p:extLst>
          </p:nvPr>
        </p:nvGraphicFramePr>
        <p:xfrm>
          <a:off x="0" y="0"/>
          <a:ext cx="1963560" cy="6858000"/>
        </p:xfrm>
        <a:graphic>
          <a:graphicData uri="http://schemas.openxmlformats.org/drawingml/2006/table">
            <a:tbl>
              <a:tblPr>
                <a:solidFill>
                  <a:srgbClr val="1F4E79"/>
                </a:solidFill>
              </a:tblPr>
              <a:tblGrid>
                <a:gridCol w="1963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858000">
                <a:tc>
                  <a:txBody>
                    <a:bodyPr/>
                    <a:lstStyle/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1000" b="0" kern="1200" spc="0" dirty="0">
                          <a:solidFill>
                            <a:srgbClr val="7030A0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</a:t>
                      </a: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1000" b="0" kern="1200" spc="0" dirty="0">
                          <a:solidFill>
                            <a:srgbClr val="7030A0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 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1. 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I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ntroduction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solidFill>
                          <a:srgbClr val="7030A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2. 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M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otivation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</a:t>
                      </a:r>
                      <a:r>
                        <a:rPr lang="en-US"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3. O</a:t>
                      </a:r>
                      <a:r>
                        <a:rPr lang="en-US" altLang="zh-CN"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verview</a:t>
                      </a: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endParaRPr lang="en-US"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endParaRPr lang="en-US"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4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M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ethod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5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E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valuation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7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18000"/>
                        </a:lnSpc>
                      </a:pPr>
                      <a:endParaRPr sz="3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6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 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C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onclusion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22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C17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11" name="图片 10">
            <a:extLst>
              <a:ext uri="{FF2B5EF4-FFF2-40B4-BE49-F238E27FC236}">
                <a16:creationId xmlns:a16="http://schemas.microsoft.com/office/drawing/2014/main" id="{2BCB4CC6-7D08-0514-D6BB-541158E840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6578" y="1394968"/>
            <a:ext cx="5931293" cy="4314256"/>
          </a:xfrm>
          <a:prstGeom prst="rect">
            <a:avLst/>
          </a:prstGeom>
        </p:spPr>
      </p:pic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80193AA5-BC81-F9F6-F70B-1BEDF810D223}"/>
              </a:ext>
            </a:extLst>
          </p:cNvPr>
          <p:cNvCxnSpPr/>
          <p:nvPr/>
        </p:nvCxnSpPr>
        <p:spPr>
          <a:xfrm flipH="1" flipV="1">
            <a:off x="3346450" y="2393950"/>
            <a:ext cx="1270000" cy="8636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361E764B-9799-6C5C-5D59-C8C48B8F3BBC}"/>
              </a:ext>
            </a:extLst>
          </p:cNvPr>
          <p:cNvSpPr txBox="1"/>
          <p:nvPr/>
        </p:nvSpPr>
        <p:spPr>
          <a:xfrm>
            <a:off x="2022475" y="2055396"/>
            <a:ext cx="2647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/>
              <a:t>实例级调度器：</a:t>
            </a:r>
            <a:r>
              <a:rPr lang="en-US" altLang="zh-CN" sz="1600" b="1" dirty="0" err="1"/>
              <a:t>llumlet</a:t>
            </a:r>
            <a:endParaRPr lang="zh-CN" altLang="en-US" sz="1600" b="1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3FC1D8C-9324-18C2-EB0B-7E9EACE74660}"/>
              </a:ext>
            </a:extLst>
          </p:cNvPr>
          <p:cNvSpPr txBox="1"/>
          <p:nvPr/>
        </p:nvSpPr>
        <p:spPr>
          <a:xfrm>
            <a:off x="4234943" y="964037"/>
            <a:ext cx="373853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b="1" dirty="0"/>
              <a:t>全局调度程序根据负载对源和目标实例进行配对，从而触发实例间迁移</a:t>
            </a: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B599A9AB-83A6-7F08-32B0-4C2F479F216C}"/>
              </a:ext>
            </a:extLst>
          </p:cNvPr>
          <p:cNvCxnSpPr>
            <a:cxnSpLocks/>
          </p:cNvCxnSpPr>
          <p:nvPr/>
        </p:nvCxnSpPr>
        <p:spPr>
          <a:xfrm flipV="1">
            <a:off x="5715000" y="1473200"/>
            <a:ext cx="65624" cy="26049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C457AD1F-37D1-8711-CB8D-A287ADBCD9E0}"/>
              </a:ext>
            </a:extLst>
          </p:cNvPr>
          <p:cNvCxnSpPr>
            <a:cxnSpLocks/>
          </p:cNvCxnSpPr>
          <p:nvPr/>
        </p:nvCxnSpPr>
        <p:spPr>
          <a:xfrm flipH="1">
            <a:off x="3944270" y="3744830"/>
            <a:ext cx="925673" cy="26202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0816A9C0-3F9D-BDEF-D898-F08EA572A9FF}"/>
              </a:ext>
            </a:extLst>
          </p:cNvPr>
          <p:cNvSpPr txBox="1"/>
          <p:nvPr/>
        </p:nvSpPr>
        <p:spPr>
          <a:xfrm>
            <a:off x="2263601" y="4028073"/>
            <a:ext cx="196356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/>
              <a:t>本地调度器除了完成基本的排队、批处理和块管理，还要</a:t>
            </a:r>
            <a:r>
              <a:rPr lang="zh-CN" altLang="en-US" sz="1600" b="1" dirty="0">
                <a:solidFill>
                  <a:srgbClr val="FF0000"/>
                </a:solidFill>
              </a:rPr>
              <a:t>计算实例负载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E68DD42-2196-C031-5D6B-3DE20E185262}"/>
              </a:ext>
            </a:extLst>
          </p:cNvPr>
          <p:cNvSpPr txBox="1"/>
          <p:nvPr/>
        </p:nvSpPr>
        <p:spPr>
          <a:xfrm>
            <a:off x="9615850" y="3044843"/>
            <a:ext cx="2126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b="1" dirty="0"/>
              <a:t>迁移协调器和其他实例协调，并指示模型执行器执行内存复制</a:t>
            </a: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0AB098B1-F3EA-B022-8EE5-05F59B50AE3F}"/>
              </a:ext>
            </a:extLst>
          </p:cNvPr>
          <p:cNvCxnSpPr>
            <a:cxnSpLocks/>
          </p:cNvCxnSpPr>
          <p:nvPr/>
        </p:nvCxnSpPr>
        <p:spPr>
          <a:xfrm flipV="1">
            <a:off x="7484414" y="3257550"/>
            <a:ext cx="2161236" cy="50850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 29">
            <a:extLst>
              <a:ext uri="{FF2B5EF4-FFF2-40B4-BE49-F238E27FC236}">
                <a16:creationId xmlns:a16="http://schemas.microsoft.com/office/drawing/2014/main" id="{7B5EFC56-223C-87B9-EBAE-D7C102C59A12}"/>
              </a:ext>
            </a:extLst>
          </p:cNvPr>
          <p:cNvSpPr/>
          <p:nvPr/>
        </p:nvSpPr>
        <p:spPr>
          <a:xfrm>
            <a:off x="7484413" y="4296018"/>
            <a:ext cx="821029" cy="4918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878DBA6D-2750-6264-8142-B6A0A1F45E61}"/>
              </a:ext>
            </a:extLst>
          </p:cNvPr>
          <p:cNvCxnSpPr>
            <a:cxnSpLocks/>
          </p:cNvCxnSpPr>
          <p:nvPr/>
        </p:nvCxnSpPr>
        <p:spPr>
          <a:xfrm>
            <a:off x="7969067" y="4816158"/>
            <a:ext cx="1320983" cy="88587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3923C872-8B62-0854-AA51-DFA3AA120C6A}"/>
              </a:ext>
            </a:extLst>
          </p:cNvPr>
          <p:cNvSpPr txBox="1"/>
          <p:nvPr/>
        </p:nvSpPr>
        <p:spPr>
          <a:xfrm>
            <a:off x="8501013" y="5737542"/>
            <a:ext cx="21261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b="1" dirty="0"/>
              <a:t>内存“迁移”过程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10C9E94-B306-5EFD-E948-23D8300D3F8A}"/>
              </a:ext>
            </a:extLst>
          </p:cNvPr>
          <p:cNvSpPr/>
          <p:nvPr/>
        </p:nvSpPr>
        <p:spPr>
          <a:xfrm>
            <a:off x="7678119" y="2641599"/>
            <a:ext cx="1254649" cy="2620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54C77D45-8F97-1C3B-2178-8F422BD8DA19}"/>
              </a:ext>
            </a:extLst>
          </p:cNvPr>
          <p:cNvCxnSpPr>
            <a:cxnSpLocks/>
          </p:cNvCxnSpPr>
          <p:nvPr/>
        </p:nvCxnSpPr>
        <p:spPr>
          <a:xfrm flipH="1" flipV="1">
            <a:off x="7028905" y="1473200"/>
            <a:ext cx="1276538" cy="117788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416B8FA1-CBDD-1CEB-DADF-E1A5C9550CD3}"/>
              </a:ext>
            </a:extLst>
          </p:cNvPr>
          <p:cNvCxnSpPr>
            <a:cxnSpLocks/>
          </p:cNvCxnSpPr>
          <p:nvPr/>
        </p:nvCxnSpPr>
        <p:spPr>
          <a:xfrm flipV="1">
            <a:off x="7733642" y="1511006"/>
            <a:ext cx="1703790" cy="25911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D2C27EDC-C018-64F0-4D66-5AD326C92674}"/>
              </a:ext>
            </a:extLst>
          </p:cNvPr>
          <p:cNvCxnSpPr>
            <a:cxnSpLocks/>
          </p:cNvCxnSpPr>
          <p:nvPr/>
        </p:nvCxnSpPr>
        <p:spPr>
          <a:xfrm flipV="1">
            <a:off x="9054153" y="1603446"/>
            <a:ext cx="591497" cy="85272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19E63101-B69C-A512-8AB2-08D4B8597F38}"/>
              </a:ext>
            </a:extLst>
          </p:cNvPr>
          <p:cNvSpPr/>
          <p:nvPr/>
        </p:nvSpPr>
        <p:spPr>
          <a:xfrm>
            <a:off x="8712200" y="2456173"/>
            <a:ext cx="641350" cy="1763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1D95D80-7623-3BBE-3CAF-57A37B7A7AC2}"/>
              </a:ext>
            </a:extLst>
          </p:cNvPr>
          <p:cNvSpPr txBox="1"/>
          <p:nvPr/>
        </p:nvSpPr>
        <p:spPr>
          <a:xfrm>
            <a:off x="9512300" y="990353"/>
            <a:ext cx="222967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b="1" dirty="0"/>
              <a:t>全局调度器还负责实例的</a:t>
            </a:r>
            <a:r>
              <a:rPr lang="en-US" altLang="zh-CN" sz="1600" b="1" dirty="0"/>
              <a:t>Auto-Scaling</a:t>
            </a:r>
            <a:endParaRPr lang="zh-CN" altLang="en-US" sz="1600" b="1" dirty="0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0BF7514-6FDE-CC2E-FA93-36352CD2A69C}"/>
              </a:ext>
            </a:extLst>
          </p:cNvPr>
          <p:cNvSpPr/>
          <p:nvPr/>
        </p:nvSpPr>
        <p:spPr>
          <a:xfrm>
            <a:off x="5981700" y="3306185"/>
            <a:ext cx="260350" cy="3133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40FF35D1-15C2-39C4-7ED8-480E6AC2CD19}"/>
              </a:ext>
            </a:extLst>
          </p:cNvPr>
          <p:cNvCxnSpPr>
            <a:cxnSpLocks/>
          </p:cNvCxnSpPr>
          <p:nvPr/>
        </p:nvCxnSpPr>
        <p:spPr>
          <a:xfrm flipH="1">
            <a:off x="4578031" y="3638550"/>
            <a:ext cx="1526178" cy="214890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6FDB759D-A7E9-B80A-AAF6-B7C588F975BF}"/>
              </a:ext>
            </a:extLst>
          </p:cNvPr>
          <p:cNvSpPr txBox="1"/>
          <p:nvPr/>
        </p:nvSpPr>
        <p:spPr>
          <a:xfrm>
            <a:off x="3346450" y="5806506"/>
            <a:ext cx="230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/>
              <a:t>本地调度器负责在触发迁移时决定迁移的请求</a:t>
            </a:r>
            <a:endParaRPr lang="zh-CN" altLang="en-US" sz="1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0842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5B56E-4775-1AAA-2807-993CCABAB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D:\360MoveData\Users\xiaoxiao\Desktop\logo2.pnglogo2">
            <a:extLst>
              <a:ext uri="{FF2B5EF4-FFF2-40B4-BE49-F238E27FC236}">
                <a16:creationId xmlns:a16="http://schemas.microsoft.com/office/drawing/2014/main" id="{0F6A049C-DFB3-B481-03CA-ABBACBD3D65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>
          <a:xfrm>
            <a:off x="7439661" y="2687003"/>
            <a:ext cx="5551170" cy="5515610"/>
          </a:xfrm>
          <a:prstGeom prst="rect">
            <a:avLst/>
          </a:prstGeom>
        </p:spPr>
      </p:pic>
      <p:pic>
        <p:nvPicPr>
          <p:cNvPr id="3" name="图片 2" descr="D:\360MoveData\Users\xiaoxiao\Desktop\logo2.pnglogo2">
            <a:extLst>
              <a:ext uri="{FF2B5EF4-FFF2-40B4-BE49-F238E27FC236}">
                <a16:creationId xmlns:a16="http://schemas.microsoft.com/office/drawing/2014/main" id="{8DF9BF81-D146-9454-4E31-F05D4F91DE8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>
          <a:xfrm>
            <a:off x="-1129347" y="-918527"/>
            <a:ext cx="5375275" cy="534098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83C5B196-77AA-9AB1-EA75-5CF7FEEEFCD5}"/>
              </a:ext>
            </a:extLst>
          </p:cNvPr>
          <p:cNvSpPr/>
          <p:nvPr/>
        </p:nvSpPr>
        <p:spPr>
          <a:xfrm>
            <a:off x="-7152640" y="-211031"/>
            <a:ext cx="20522565" cy="10232390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1763A551-AB52-5A75-11E2-E7ACC1BF6509}"/>
              </a:ext>
            </a:extLst>
          </p:cNvPr>
          <p:cNvSpPr/>
          <p:nvPr/>
        </p:nvSpPr>
        <p:spPr>
          <a:xfrm>
            <a:off x="0" y="1952835"/>
            <a:ext cx="10647949" cy="2952329"/>
          </a:xfrm>
          <a:custGeom>
            <a:avLst/>
            <a:gdLst>
              <a:gd name="connsiteX0" fmla="*/ 9181169 w 10647949"/>
              <a:gd name="connsiteY0" fmla="*/ 0 h 2952329"/>
              <a:gd name="connsiteX1" fmla="*/ 9181188 w 10647949"/>
              <a:gd name="connsiteY1" fmla="*/ 1 h 2952329"/>
              <a:gd name="connsiteX2" fmla="*/ 9223648 w 10647949"/>
              <a:gd name="connsiteY2" fmla="*/ 1 h 2952329"/>
              <a:gd name="connsiteX3" fmla="*/ 9223648 w 10647949"/>
              <a:gd name="connsiteY3" fmla="*/ 2159 h 2952329"/>
              <a:gd name="connsiteX4" fmla="*/ 9331139 w 10647949"/>
              <a:gd name="connsiteY4" fmla="*/ 7621 h 2952329"/>
              <a:gd name="connsiteX5" fmla="*/ 10647949 w 10647949"/>
              <a:gd name="connsiteY5" fmla="*/ 1476164 h 2952329"/>
              <a:gd name="connsiteX6" fmla="*/ 9331139 w 10647949"/>
              <a:gd name="connsiteY6" fmla="*/ 2944707 h 2952329"/>
              <a:gd name="connsiteX7" fmla="*/ 9223648 w 10647949"/>
              <a:gd name="connsiteY7" fmla="*/ 2950170 h 2952329"/>
              <a:gd name="connsiteX8" fmla="*/ 9223648 w 10647949"/>
              <a:gd name="connsiteY8" fmla="*/ 2952329 h 2952329"/>
              <a:gd name="connsiteX9" fmla="*/ 0 w 10647949"/>
              <a:gd name="connsiteY9" fmla="*/ 2952329 h 2952329"/>
              <a:gd name="connsiteX10" fmla="*/ 0 w 10647949"/>
              <a:gd name="connsiteY10" fmla="*/ 1 h 2952329"/>
              <a:gd name="connsiteX11" fmla="*/ 9181150 w 10647949"/>
              <a:gd name="connsiteY11" fmla="*/ 1 h 2952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647949" h="2952329">
                <a:moveTo>
                  <a:pt x="9181169" y="0"/>
                </a:moveTo>
                <a:lnTo>
                  <a:pt x="9181188" y="1"/>
                </a:lnTo>
                <a:lnTo>
                  <a:pt x="9223648" y="1"/>
                </a:lnTo>
                <a:lnTo>
                  <a:pt x="9223648" y="2159"/>
                </a:lnTo>
                <a:lnTo>
                  <a:pt x="9331139" y="7621"/>
                </a:lnTo>
                <a:cubicBezTo>
                  <a:pt x="10070771" y="83216"/>
                  <a:pt x="10647949" y="711855"/>
                  <a:pt x="10647949" y="1476164"/>
                </a:cubicBezTo>
                <a:cubicBezTo>
                  <a:pt x="10647949" y="2240473"/>
                  <a:pt x="10070771" y="2869113"/>
                  <a:pt x="9331139" y="2944707"/>
                </a:cubicBezTo>
                <a:lnTo>
                  <a:pt x="9223648" y="2950170"/>
                </a:lnTo>
                <a:lnTo>
                  <a:pt x="9223648" y="2952329"/>
                </a:lnTo>
                <a:lnTo>
                  <a:pt x="0" y="2952329"/>
                </a:lnTo>
                <a:lnTo>
                  <a:pt x="0" y="1"/>
                </a:lnTo>
                <a:lnTo>
                  <a:pt x="9181150" y="1"/>
                </a:lnTo>
                <a:close/>
              </a:path>
            </a:pathLst>
          </a:custGeom>
          <a:solidFill>
            <a:srgbClr val="7E0C6E"/>
          </a:solidFill>
          <a:ln>
            <a:solidFill>
              <a:srgbClr val="7E0C6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A9F57FC3-28DC-912B-F981-8E2AD8814634}"/>
              </a:ext>
            </a:extLst>
          </p:cNvPr>
          <p:cNvGrpSpPr/>
          <p:nvPr/>
        </p:nvGrpSpPr>
        <p:grpSpPr>
          <a:xfrm>
            <a:off x="7612481" y="2061490"/>
            <a:ext cx="3168995" cy="2664296"/>
            <a:chOff x="5878074" y="2244876"/>
            <a:chExt cx="2826401" cy="2376264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20E4F3BE-8F65-967C-A024-BD8FE86A440F}"/>
                </a:ext>
              </a:extLst>
            </p:cNvPr>
            <p:cNvSpPr/>
            <p:nvPr/>
          </p:nvSpPr>
          <p:spPr>
            <a:xfrm>
              <a:off x="6103143" y="2244876"/>
              <a:ext cx="2376264" cy="2376264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9" name="TextBox 21">
              <a:extLst>
                <a:ext uri="{FF2B5EF4-FFF2-40B4-BE49-F238E27FC236}">
                  <a16:creationId xmlns:a16="http://schemas.microsoft.com/office/drawing/2014/main" id="{2BB70D53-484F-E372-146D-2D02D92E81D7}"/>
                </a:ext>
              </a:extLst>
            </p:cNvPr>
            <p:cNvSpPr txBox="1"/>
            <p:nvPr/>
          </p:nvSpPr>
          <p:spPr>
            <a:xfrm>
              <a:off x="5878074" y="2743319"/>
              <a:ext cx="2826401" cy="1379379"/>
            </a:xfrm>
            <a:prstGeom prst="rect">
              <a:avLst/>
            </a:prstGeom>
            <a:noFill/>
          </p:spPr>
          <p:txBody>
            <a:bodyPr wrap="square" lIns="68580" tIns="34290" rIns="68580" bIns="34290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600" b="1" i="0" u="none" strike="noStrike" kern="1200" cap="none" spc="0" normalizeH="0" baseline="0" noProof="0" dirty="0">
                  <a:ln>
                    <a:noFill/>
                  </a:ln>
                  <a:solidFill>
                    <a:srgbClr val="750909"/>
                  </a:solidFill>
                  <a:effectLst/>
                  <a:uLnTx/>
                  <a:uFillTx/>
                  <a:latin typeface="AvantGarde Md BT" pitchFamily="34" charset="0"/>
                  <a:ea typeface="微软雅黑" panose="020B0503020204020204" pitchFamily="34" charset="-122"/>
                  <a:cs typeface="+mn-cs"/>
                </a:rPr>
                <a:t>04</a:t>
              </a:r>
            </a:p>
          </p:txBody>
        </p:sp>
      </p:grpSp>
      <p:sp>
        <p:nvSpPr>
          <p:cNvPr id="11" name="TextBox 4">
            <a:extLst>
              <a:ext uri="{FF2B5EF4-FFF2-40B4-BE49-F238E27FC236}">
                <a16:creationId xmlns:a16="http://schemas.microsoft.com/office/drawing/2014/main" id="{B8F5E2F2-4E02-684B-AFDD-5DDA729D2BCC}"/>
              </a:ext>
            </a:extLst>
          </p:cNvPr>
          <p:cNvSpPr txBox="1"/>
          <p:nvPr/>
        </p:nvSpPr>
        <p:spPr>
          <a:xfrm>
            <a:off x="2330019" y="2805015"/>
            <a:ext cx="3211585" cy="1177245"/>
          </a:xfrm>
          <a:prstGeom prst="rect">
            <a:avLst/>
          </a:prstGeom>
          <a:noFill/>
        </p:spPr>
        <p:txBody>
          <a:bodyPr wrap="none" lIns="68580" tIns="34290" rIns="68580" bIns="3429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antGarde Md BT" pitchFamily="34" charset="0"/>
                <a:ea typeface="微软雅黑" panose="020B0503020204020204" pitchFamily="34" charset="-122"/>
                <a:cs typeface="+mn-cs"/>
              </a:rPr>
              <a:t>Method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E1D6028-B3C5-FFF7-2FD8-173801EBA607}"/>
              </a:ext>
            </a:extLst>
          </p:cNvPr>
          <p:cNvSpPr txBox="1"/>
          <p:nvPr/>
        </p:nvSpPr>
        <p:spPr>
          <a:xfrm>
            <a:off x="104140" y="6316345"/>
            <a:ext cx="310832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7E0C6E"/>
                </a:solidFill>
                <a:effectLst/>
                <a:uLnTx/>
                <a:uFillTx/>
                <a:latin typeface="华文行楷" panose="02010800040101010101" pitchFamily="2" charset="-122"/>
                <a:ea typeface="华文行楷" panose="02010800040101010101" pitchFamily="2" charset="-122"/>
                <a:cs typeface="+mn-cs"/>
              </a:rPr>
              <a:t>允公允能 日新月异</a:t>
            </a:r>
          </a:p>
        </p:txBody>
      </p:sp>
      <p:pic>
        <p:nvPicPr>
          <p:cNvPr id="12" name="图片 11" descr="D:\360MoveData\Users\xiaoxiao\Desktop\微信图片_20230609200656.png微信图片_20230609200656">
            <a:extLst>
              <a:ext uri="{FF2B5EF4-FFF2-40B4-BE49-F238E27FC236}">
                <a16:creationId xmlns:a16="http://schemas.microsoft.com/office/drawing/2014/main" id="{DB872526-27DF-1F0B-ED03-8F8237B072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580438" y="99235"/>
            <a:ext cx="3269615" cy="1199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698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97437-BE07-DF46-7F72-3772D47FD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南开大学·校训">
            <a:extLst>
              <a:ext uri="{FF2B5EF4-FFF2-40B4-BE49-F238E27FC236}">
                <a16:creationId xmlns:a16="http://schemas.microsoft.com/office/drawing/2014/main" id="{72D561C9-1AA7-6AE7-4023-57820A5A6B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3168" y="6541075"/>
            <a:ext cx="2188832" cy="316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组合 3">
            <a:extLst>
              <a:ext uri="{FF2B5EF4-FFF2-40B4-BE49-F238E27FC236}">
                <a16:creationId xmlns:a16="http://schemas.microsoft.com/office/drawing/2014/main" id="{CB1C72DE-2840-37C4-C095-25776B6B51D8}"/>
              </a:ext>
            </a:extLst>
          </p:cNvPr>
          <p:cNvGrpSpPr/>
          <p:nvPr/>
        </p:nvGrpSpPr>
        <p:grpSpPr>
          <a:xfrm>
            <a:off x="2216228" y="269008"/>
            <a:ext cx="6372708" cy="682262"/>
            <a:chOff x="299356" y="260648"/>
            <a:chExt cx="6372708" cy="682262"/>
          </a:xfrm>
        </p:grpSpPr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92F89DCF-2385-E22C-2C44-D9F9F017F4ED}"/>
                </a:ext>
              </a:extLst>
            </p:cNvPr>
            <p:cNvGrpSpPr/>
            <p:nvPr/>
          </p:nvGrpSpPr>
          <p:grpSpPr>
            <a:xfrm>
              <a:off x="299356" y="260648"/>
              <a:ext cx="684076" cy="682262"/>
              <a:chOff x="637139" y="467280"/>
              <a:chExt cx="684076" cy="682262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E9FD2B11-0839-9788-B169-6E382922F146}"/>
                  </a:ext>
                </a:extLst>
              </p:cNvPr>
              <p:cNvSpPr/>
              <p:nvPr/>
            </p:nvSpPr>
            <p:spPr>
              <a:xfrm>
                <a:off x="637139" y="467280"/>
                <a:ext cx="432048" cy="432048"/>
              </a:xfrm>
              <a:prstGeom prst="rect">
                <a:avLst/>
              </a:prstGeom>
              <a:solidFill>
                <a:srgbClr val="7E0C6E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F10385B3-84A6-4CC8-509F-68DD939CF9A8}"/>
                  </a:ext>
                </a:extLst>
              </p:cNvPr>
              <p:cNvSpPr/>
              <p:nvPr/>
            </p:nvSpPr>
            <p:spPr>
              <a:xfrm>
                <a:off x="817159" y="645486"/>
                <a:ext cx="504056" cy="504056"/>
              </a:xfrm>
              <a:prstGeom prst="rect">
                <a:avLst/>
              </a:prstGeom>
              <a:solidFill>
                <a:srgbClr val="7E0C6E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4BBA355E-3FA0-4ED4-04E5-EFB790BF7CB1}"/>
                </a:ext>
              </a:extLst>
            </p:cNvPr>
            <p:cNvCxnSpPr/>
            <p:nvPr/>
          </p:nvCxnSpPr>
          <p:spPr>
            <a:xfrm>
              <a:off x="1055440" y="899328"/>
              <a:ext cx="5616624" cy="0"/>
            </a:xfrm>
            <a:prstGeom prst="line">
              <a:avLst/>
            </a:prstGeom>
            <a:ln w="28575">
              <a:solidFill>
                <a:srgbClr val="7E0C6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36">
              <a:extLst>
                <a:ext uri="{FF2B5EF4-FFF2-40B4-BE49-F238E27FC236}">
                  <a16:creationId xmlns:a16="http://schemas.microsoft.com/office/drawing/2014/main" id="{A10E5397-98D1-229C-E668-3909FCAB11CB}"/>
                </a:ext>
              </a:extLst>
            </p:cNvPr>
            <p:cNvSpPr txBox="1"/>
            <p:nvPr/>
          </p:nvSpPr>
          <p:spPr>
            <a:xfrm>
              <a:off x="1163452" y="260648"/>
              <a:ext cx="4988482" cy="500137"/>
            </a:xfrm>
            <a:prstGeom prst="rect">
              <a:avLst/>
            </a:prstGeom>
            <a:noFill/>
          </p:spPr>
          <p:txBody>
            <a:bodyPr wrap="none" lIns="68580" tIns="34290" rIns="68580" bIns="34290" rtlCol="0">
              <a:spAutoFit/>
            </a:bodyPr>
            <a:lstStyle/>
            <a:p>
              <a:pPr lvl="0"/>
              <a:r>
                <a:rPr lang="en-US" altLang="zh-CN" sz="2800" b="1" dirty="0">
                  <a:solidFill>
                    <a:srgbClr val="7E0C6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Dynamic Scheduling Policy</a:t>
              </a:r>
            </a:p>
          </p:txBody>
        </p:sp>
      </p:grpSp>
      <p:graphicFrame>
        <p:nvGraphicFramePr>
          <p:cNvPr id="10" name="table 482">
            <a:extLst>
              <a:ext uri="{FF2B5EF4-FFF2-40B4-BE49-F238E27FC236}">
                <a16:creationId xmlns:a16="http://schemas.microsoft.com/office/drawing/2014/main" id="{8C098B98-4E0F-B000-6640-E0F6DB3087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277199"/>
              </p:ext>
            </p:extLst>
          </p:nvPr>
        </p:nvGraphicFramePr>
        <p:xfrm>
          <a:off x="0" y="0"/>
          <a:ext cx="1963560" cy="6858000"/>
        </p:xfrm>
        <a:graphic>
          <a:graphicData uri="http://schemas.openxmlformats.org/drawingml/2006/table">
            <a:tbl>
              <a:tblPr>
                <a:solidFill>
                  <a:srgbClr val="1F4E79"/>
                </a:solidFill>
              </a:tblPr>
              <a:tblGrid>
                <a:gridCol w="1963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858000">
                <a:tc>
                  <a:txBody>
                    <a:bodyPr/>
                    <a:lstStyle/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1000" b="0" kern="1200" spc="0" dirty="0">
                          <a:solidFill>
                            <a:srgbClr val="7030A0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</a:t>
                      </a: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1000" b="0" kern="1200" spc="0" dirty="0">
                          <a:solidFill>
                            <a:srgbClr val="7030A0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 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1. 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I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ntroduction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solidFill>
                          <a:srgbClr val="7030A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2. 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M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otivation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3. O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verview</a:t>
                      </a: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endParaRPr lang="en-US"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endParaRPr lang="en-US"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4</a:t>
                      </a:r>
                      <a:r>
                        <a:rPr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</a:t>
                      </a:r>
                      <a:r>
                        <a:rPr lang="en-US"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M</a:t>
                      </a:r>
                      <a:r>
                        <a:rPr lang="en-US" altLang="zh-CN"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ethod</a:t>
                      </a:r>
                      <a:endParaRPr sz="2000" b="1" kern="0" spc="-30" dirty="0">
                        <a:solidFill>
                          <a:schemeClr val="bg1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5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E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valuation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7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18000"/>
                        </a:lnSpc>
                      </a:pPr>
                      <a:endParaRPr sz="3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6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 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C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onclusion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22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C17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F7AE0577-5131-DA94-9F90-6E8EB99C87B0}"/>
              </a:ext>
            </a:extLst>
          </p:cNvPr>
          <p:cNvSpPr txBox="1"/>
          <p:nvPr/>
        </p:nvSpPr>
        <p:spPr>
          <a:xfrm>
            <a:off x="2900304" y="1129476"/>
            <a:ext cx="77717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由于</a:t>
            </a:r>
            <a:r>
              <a:rPr lang="en-US" altLang="zh-CN" b="1" dirty="0"/>
              <a:t>LLM</a:t>
            </a:r>
            <a:r>
              <a:rPr lang="zh-CN" altLang="en-US" b="1" dirty="0"/>
              <a:t>场景下请求的异构性和执行的不确定性，作者引入了</a:t>
            </a:r>
            <a:r>
              <a:rPr lang="en-US" altLang="zh-CN" b="1" dirty="0">
                <a:solidFill>
                  <a:srgbClr val="FF0000"/>
                </a:solidFill>
              </a:rPr>
              <a:t>Virtual Usage</a:t>
            </a:r>
            <a:r>
              <a:rPr lang="zh-CN" altLang="en-US" b="1" dirty="0"/>
              <a:t>来度量实例负载，以下是有关</a:t>
            </a:r>
            <a:r>
              <a:rPr lang="en-US" altLang="zh-CN" b="1" dirty="0"/>
              <a:t>Virtual Usage</a:t>
            </a:r>
            <a:r>
              <a:rPr lang="zh-CN" altLang="en-US" b="1" dirty="0"/>
              <a:t>的几项规则：</a:t>
            </a:r>
            <a:endParaRPr lang="en-US" altLang="zh-CN" b="1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4EB9C16-47BF-01A9-241D-6B2FB9FAF148}"/>
              </a:ext>
            </a:extLst>
          </p:cNvPr>
          <p:cNvSpPr txBox="1"/>
          <p:nvPr/>
        </p:nvSpPr>
        <p:spPr>
          <a:xfrm>
            <a:off x="2576268" y="1173057"/>
            <a:ext cx="5040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7030A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●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9BCCBEA-D6C7-539B-C344-0B3DF43EB2E1}"/>
              </a:ext>
            </a:extLst>
          </p:cNvPr>
          <p:cNvSpPr txBox="1"/>
          <p:nvPr/>
        </p:nvSpPr>
        <p:spPr>
          <a:xfrm>
            <a:off x="2779200" y="1775807"/>
            <a:ext cx="902208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lphaLcParenR"/>
            </a:pPr>
            <a:r>
              <a:rPr lang="zh-CN" altLang="en-US" b="1" dirty="0"/>
              <a:t>一般情况下，</a:t>
            </a:r>
            <a:r>
              <a:rPr lang="en-US" altLang="zh-CN" b="1" dirty="0"/>
              <a:t>Virtual Usage</a:t>
            </a:r>
            <a:r>
              <a:rPr lang="zh-CN" altLang="en-US" b="1" dirty="0"/>
              <a:t>即</a:t>
            </a:r>
            <a:r>
              <a:rPr lang="en-US" altLang="zh-CN" b="1" dirty="0">
                <a:solidFill>
                  <a:srgbClr val="FF0000"/>
                </a:solidFill>
              </a:rPr>
              <a:t>Physical Memory Usage</a:t>
            </a:r>
            <a:r>
              <a:rPr lang="zh-CN" altLang="en-US" b="1" dirty="0"/>
              <a:t>，以实现负载平衡</a:t>
            </a:r>
            <a:endParaRPr lang="en-US" altLang="zh-CN" b="1" dirty="0"/>
          </a:p>
          <a:p>
            <a:pPr marL="342900" indent="-342900">
              <a:buAutoNum type="alphaLcParenR"/>
            </a:pPr>
            <a:endParaRPr lang="en-US" altLang="zh-CN" b="1" dirty="0"/>
          </a:p>
          <a:p>
            <a:r>
              <a:rPr lang="en-US" altLang="zh-CN" b="1" dirty="0"/>
              <a:t>b)  </a:t>
            </a:r>
            <a:r>
              <a:rPr lang="zh-CN" altLang="en-US" b="1" dirty="0"/>
              <a:t>对于实例上的</a:t>
            </a:r>
            <a:r>
              <a:rPr lang="zh-CN" altLang="en-US" b="1" dirty="0">
                <a:solidFill>
                  <a:srgbClr val="FF0000"/>
                </a:solidFill>
              </a:rPr>
              <a:t>队头排队请求</a:t>
            </a:r>
            <a:r>
              <a:rPr lang="zh-CN" altLang="en-US" b="1" dirty="0"/>
              <a:t>，为其分配虚拟使用率，实际上是为了碎片整理</a:t>
            </a:r>
            <a:endParaRPr lang="en-US" altLang="zh-CN" b="1" dirty="0"/>
          </a:p>
          <a:p>
            <a:endParaRPr lang="en-US" altLang="zh-CN" b="1" dirty="0"/>
          </a:p>
          <a:p>
            <a:r>
              <a:rPr lang="en-US" altLang="zh-CN" b="1" dirty="0"/>
              <a:t>c)   </a:t>
            </a:r>
            <a:r>
              <a:rPr lang="zh-CN" altLang="en-US" b="1" dirty="0"/>
              <a:t>为高优先级请求添加一个</a:t>
            </a:r>
            <a:r>
              <a:rPr lang="en-US" altLang="zh-CN" b="1" dirty="0">
                <a:solidFill>
                  <a:srgbClr val="FF0000"/>
                </a:solidFill>
              </a:rPr>
              <a:t>headroom</a:t>
            </a:r>
            <a:r>
              <a:rPr lang="zh-CN" altLang="en-US" b="1" dirty="0"/>
              <a:t>，这样其他正常请求将被迁移</a:t>
            </a:r>
            <a:endParaRPr lang="en-US" altLang="zh-CN" b="1" dirty="0"/>
          </a:p>
          <a:p>
            <a:endParaRPr lang="en-US" altLang="zh-CN" b="1" dirty="0"/>
          </a:p>
          <a:p>
            <a:r>
              <a:rPr lang="en-US" altLang="zh-CN" b="1" dirty="0"/>
              <a:t>d)  </a:t>
            </a:r>
            <a:r>
              <a:rPr lang="zh-CN" altLang="en-US" b="1" dirty="0"/>
              <a:t>当一个实例</a:t>
            </a:r>
            <a:r>
              <a:rPr lang="zh-CN" altLang="en-US" b="1" dirty="0">
                <a:solidFill>
                  <a:srgbClr val="FF0000"/>
                </a:solidFill>
              </a:rPr>
              <a:t>终止</a:t>
            </a:r>
            <a:r>
              <a:rPr lang="zh-CN" altLang="en-US" b="1" dirty="0"/>
              <a:t>时，添加一个虚拟使用为</a:t>
            </a:r>
            <a:r>
              <a:rPr lang="zh-CN" altLang="en-US" b="1" dirty="0">
                <a:solidFill>
                  <a:srgbClr val="FF0000"/>
                </a:solidFill>
              </a:rPr>
              <a:t>无穷大的假请求</a:t>
            </a:r>
            <a:r>
              <a:rPr lang="zh-CN" altLang="en-US" b="1" dirty="0"/>
              <a:t>，然后剩余的请求将被迁移</a:t>
            </a: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D9BA69EB-E973-9962-50A0-7588A80212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1487" y="3794555"/>
            <a:ext cx="5813511" cy="3063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152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9678D-D1FC-40C5-94E5-C9E6A8133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南开大学·校训">
            <a:extLst>
              <a:ext uri="{FF2B5EF4-FFF2-40B4-BE49-F238E27FC236}">
                <a16:creationId xmlns:a16="http://schemas.microsoft.com/office/drawing/2014/main" id="{8C453548-B994-AAFE-E20D-122C785BE8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3168" y="6541075"/>
            <a:ext cx="2188832" cy="316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组合 3">
            <a:extLst>
              <a:ext uri="{FF2B5EF4-FFF2-40B4-BE49-F238E27FC236}">
                <a16:creationId xmlns:a16="http://schemas.microsoft.com/office/drawing/2014/main" id="{5474674E-2B01-9778-8DFD-F7BC3A6DC983}"/>
              </a:ext>
            </a:extLst>
          </p:cNvPr>
          <p:cNvGrpSpPr/>
          <p:nvPr/>
        </p:nvGrpSpPr>
        <p:grpSpPr>
          <a:xfrm>
            <a:off x="2216228" y="269008"/>
            <a:ext cx="6372708" cy="682262"/>
            <a:chOff x="299356" y="260648"/>
            <a:chExt cx="6372708" cy="682262"/>
          </a:xfrm>
        </p:grpSpPr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914856A5-8879-7F80-7391-ED75348781F2}"/>
                </a:ext>
              </a:extLst>
            </p:cNvPr>
            <p:cNvGrpSpPr/>
            <p:nvPr/>
          </p:nvGrpSpPr>
          <p:grpSpPr>
            <a:xfrm>
              <a:off x="299356" y="260648"/>
              <a:ext cx="684076" cy="682262"/>
              <a:chOff x="637139" y="467280"/>
              <a:chExt cx="684076" cy="682262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C6ECFECC-9C01-7F3E-64BF-0E87A76929C4}"/>
                  </a:ext>
                </a:extLst>
              </p:cNvPr>
              <p:cNvSpPr/>
              <p:nvPr/>
            </p:nvSpPr>
            <p:spPr>
              <a:xfrm>
                <a:off x="637139" y="467280"/>
                <a:ext cx="432048" cy="432048"/>
              </a:xfrm>
              <a:prstGeom prst="rect">
                <a:avLst/>
              </a:prstGeom>
              <a:solidFill>
                <a:srgbClr val="7E0C6E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292F52BB-A758-E10E-BE82-DDB6197F3B0C}"/>
                  </a:ext>
                </a:extLst>
              </p:cNvPr>
              <p:cNvSpPr/>
              <p:nvPr/>
            </p:nvSpPr>
            <p:spPr>
              <a:xfrm>
                <a:off x="817159" y="645486"/>
                <a:ext cx="504056" cy="504056"/>
              </a:xfrm>
              <a:prstGeom prst="rect">
                <a:avLst/>
              </a:prstGeom>
              <a:solidFill>
                <a:srgbClr val="7E0C6E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F5278394-480A-E758-8206-405D5D76335C}"/>
                </a:ext>
              </a:extLst>
            </p:cNvPr>
            <p:cNvCxnSpPr/>
            <p:nvPr/>
          </p:nvCxnSpPr>
          <p:spPr>
            <a:xfrm>
              <a:off x="1055440" y="899328"/>
              <a:ext cx="5616624" cy="0"/>
            </a:xfrm>
            <a:prstGeom prst="line">
              <a:avLst/>
            </a:prstGeom>
            <a:ln w="28575">
              <a:solidFill>
                <a:srgbClr val="7E0C6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36">
              <a:extLst>
                <a:ext uri="{FF2B5EF4-FFF2-40B4-BE49-F238E27FC236}">
                  <a16:creationId xmlns:a16="http://schemas.microsoft.com/office/drawing/2014/main" id="{B8A1CA9A-08FE-D32C-49DB-E15F2C4D11AB}"/>
                </a:ext>
              </a:extLst>
            </p:cNvPr>
            <p:cNvSpPr txBox="1"/>
            <p:nvPr/>
          </p:nvSpPr>
          <p:spPr>
            <a:xfrm>
              <a:off x="1163452" y="260648"/>
              <a:ext cx="4988482" cy="500137"/>
            </a:xfrm>
            <a:prstGeom prst="rect">
              <a:avLst/>
            </a:prstGeom>
            <a:noFill/>
          </p:spPr>
          <p:txBody>
            <a:bodyPr wrap="none" lIns="68580" tIns="34290" rIns="68580" bIns="34290" rtlCol="0">
              <a:spAutoFit/>
            </a:bodyPr>
            <a:lstStyle/>
            <a:p>
              <a:pPr lvl="0"/>
              <a:r>
                <a:rPr lang="en-US" altLang="zh-CN" sz="2800" b="1" dirty="0">
                  <a:solidFill>
                    <a:srgbClr val="7E0C6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Dynamic Scheduling Policy</a:t>
              </a:r>
            </a:p>
          </p:txBody>
        </p:sp>
      </p:grpSp>
      <p:graphicFrame>
        <p:nvGraphicFramePr>
          <p:cNvPr id="10" name="table 482">
            <a:extLst>
              <a:ext uri="{FF2B5EF4-FFF2-40B4-BE49-F238E27FC236}">
                <a16:creationId xmlns:a16="http://schemas.microsoft.com/office/drawing/2014/main" id="{567B628D-F90F-51B6-E9F9-D9B8E9F1281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963560" cy="6858000"/>
        </p:xfrm>
        <a:graphic>
          <a:graphicData uri="http://schemas.openxmlformats.org/drawingml/2006/table">
            <a:tbl>
              <a:tblPr>
                <a:solidFill>
                  <a:srgbClr val="1F4E79"/>
                </a:solidFill>
              </a:tblPr>
              <a:tblGrid>
                <a:gridCol w="1963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858000">
                <a:tc>
                  <a:txBody>
                    <a:bodyPr/>
                    <a:lstStyle/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1000" b="0" kern="1200" spc="0" dirty="0">
                          <a:solidFill>
                            <a:srgbClr val="7030A0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</a:t>
                      </a: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1000" b="0" kern="1200" spc="0" dirty="0">
                          <a:solidFill>
                            <a:srgbClr val="7030A0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 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1. 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I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ntroduction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solidFill>
                          <a:srgbClr val="7030A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2. 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M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otivation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3. O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verview</a:t>
                      </a: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endParaRPr lang="en-US"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endParaRPr lang="en-US"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4</a:t>
                      </a:r>
                      <a:r>
                        <a:rPr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</a:t>
                      </a:r>
                      <a:r>
                        <a:rPr lang="en-US"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M</a:t>
                      </a:r>
                      <a:r>
                        <a:rPr lang="en-US" altLang="zh-CN"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ethod</a:t>
                      </a:r>
                      <a:endParaRPr sz="2000" b="1" kern="0" spc="-30" dirty="0">
                        <a:solidFill>
                          <a:schemeClr val="bg1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5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E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valuation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7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18000"/>
                        </a:lnSpc>
                      </a:pPr>
                      <a:endParaRPr sz="3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6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 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C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onclusion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22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C17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" name="文本框 12">
            <a:extLst>
              <a:ext uri="{FF2B5EF4-FFF2-40B4-BE49-F238E27FC236}">
                <a16:creationId xmlns:a16="http://schemas.microsoft.com/office/drawing/2014/main" id="{9232B1E3-F17D-0D9D-CDF3-B8FB15C216E6}"/>
              </a:ext>
            </a:extLst>
          </p:cNvPr>
          <p:cNvSpPr txBox="1"/>
          <p:nvPr/>
        </p:nvSpPr>
        <p:spPr>
          <a:xfrm>
            <a:off x="2972312" y="1116919"/>
            <a:ext cx="76138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有了</a:t>
            </a:r>
            <a:r>
              <a:rPr lang="en-US" altLang="zh-CN" b="1" dirty="0"/>
              <a:t>Virtual Usage</a:t>
            </a:r>
            <a:r>
              <a:rPr lang="zh-CN" altLang="en-US" b="1" dirty="0"/>
              <a:t>，就可以借此度量实例的空闲程度：</a:t>
            </a:r>
            <a:r>
              <a:rPr lang="en-US" altLang="zh-CN" b="1" i="1" dirty="0">
                <a:solidFill>
                  <a:srgbClr val="FF0000"/>
                </a:solidFill>
              </a:rPr>
              <a:t>F</a:t>
            </a:r>
            <a:r>
              <a:rPr lang="en-US" altLang="zh-CN" b="1" dirty="0">
                <a:solidFill>
                  <a:srgbClr val="FF0000"/>
                </a:solidFill>
              </a:rPr>
              <a:t>=(</a:t>
            </a:r>
            <a:r>
              <a:rPr lang="en-US" altLang="zh-CN" b="1" i="1" dirty="0">
                <a:solidFill>
                  <a:srgbClr val="FF0000"/>
                </a:solidFill>
              </a:rPr>
              <a:t>M</a:t>
            </a:r>
            <a:r>
              <a:rPr lang="en-US" altLang="zh-CN" b="1" dirty="0">
                <a:solidFill>
                  <a:srgbClr val="FF0000"/>
                </a:solidFill>
              </a:rPr>
              <a:t>−∑</a:t>
            </a:r>
            <a:r>
              <a:rPr lang="en-US" altLang="zh-CN" b="1" i="1" dirty="0">
                <a:solidFill>
                  <a:srgbClr val="FF0000"/>
                </a:solidFill>
              </a:rPr>
              <a:t>V</a:t>
            </a:r>
            <a:r>
              <a:rPr lang="en-US" altLang="zh-CN" b="1" dirty="0">
                <a:solidFill>
                  <a:srgbClr val="FF0000"/>
                </a:solidFill>
              </a:rPr>
              <a:t>)/</a:t>
            </a:r>
            <a:r>
              <a:rPr lang="en-US" altLang="zh-CN" b="1" i="1" dirty="0">
                <a:solidFill>
                  <a:srgbClr val="FF0000"/>
                </a:solidFill>
              </a:rPr>
              <a:t>B</a:t>
            </a:r>
          </a:p>
          <a:p>
            <a:r>
              <a:rPr lang="zh-CN" altLang="en-US" b="1" dirty="0"/>
              <a:t>其中</a:t>
            </a:r>
            <a:r>
              <a:rPr lang="en-US" altLang="zh-CN" b="1" dirty="0"/>
              <a:t>M</a:t>
            </a:r>
            <a:r>
              <a:rPr lang="zh-CN" altLang="en-US" b="1" dirty="0"/>
              <a:t>是总内存，</a:t>
            </a:r>
            <a:r>
              <a:rPr lang="en-US" altLang="zh-CN" b="1" dirty="0"/>
              <a:t>V</a:t>
            </a:r>
            <a:r>
              <a:rPr lang="zh-CN" altLang="en-US" b="1" dirty="0"/>
              <a:t>是每个请求的虚拟使用量，</a:t>
            </a:r>
            <a:r>
              <a:rPr lang="en-US" altLang="zh-CN" b="1" dirty="0"/>
              <a:t>B</a:t>
            </a:r>
            <a:r>
              <a:rPr lang="zh-CN" altLang="en-US" b="1" dirty="0"/>
              <a:t>是批处理大小。</a:t>
            </a:r>
            <a:endParaRPr lang="en-US" altLang="zh-CN" b="1" dirty="0"/>
          </a:p>
          <a:p>
            <a:r>
              <a:rPr lang="zh-CN" altLang="en-US" b="1" dirty="0"/>
              <a:t>加入批处理大小</a:t>
            </a:r>
            <a:r>
              <a:rPr lang="en-US" altLang="zh-CN" b="1" dirty="0"/>
              <a:t>B</a:t>
            </a:r>
            <a:r>
              <a:rPr lang="zh-CN" altLang="en-US" b="1" dirty="0"/>
              <a:t>是因为其决定了内存的消耗速度。</a:t>
            </a:r>
            <a:endParaRPr lang="en-US" altLang="zh-CN" b="1" dirty="0"/>
          </a:p>
          <a:p>
            <a:endParaRPr lang="en-US" altLang="zh-CN" b="1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06982D5-E4B8-FF7C-2967-CD3E32AB8DAC}"/>
              </a:ext>
            </a:extLst>
          </p:cNvPr>
          <p:cNvSpPr txBox="1"/>
          <p:nvPr/>
        </p:nvSpPr>
        <p:spPr>
          <a:xfrm>
            <a:off x="2576268" y="1135614"/>
            <a:ext cx="5040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7030A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●</a:t>
            </a:r>
            <a:endParaRPr lang="zh-CN" altLang="en-US" dirty="0"/>
          </a:p>
        </p:txBody>
      </p:sp>
      <p:grpSp>
        <p:nvGrpSpPr>
          <p:cNvPr id="63" name="组合 62">
            <a:extLst>
              <a:ext uri="{FF2B5EF4-FFF2-40B4-BE49-F238E27FC236}">
                <a16:creationId xmlns:a16="http://schemas.microsoft.com/office/drawing/2014/main" id="{34FF26DE-D654-1287-A189-22E6DD7DC6CE}"/>
              </a:ext>
            </a:extLst>
          </p:cNvPr>
          <p:cNvGrpSpPr/>
          <p:nvPr/>
        </p:nvGrpSpPr>
        <p:grpSpPr>
          <a:xfrm>
            <a:off x="2498187" y="5843978"/>
            <a:ext cx="8508001" cy="646331"/>
            <a:chOff x="2498187" y="5843978"/>
            <a:chExt cx="8508001" cy="646331"/>
          </a:xfrm>
        </p:grpSpPr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8A4EA118-62B4-9AEF-1F42-A6BB7E88220B}"/>
                </a:ext>
              </a:extLst>
            </p:cNvPr>
            <p:cNvSpPr txBox="1"/>
            <p:nvPr/>
          </p:nvSpPr>
          <p:spPr>
            <a:xfrm>
              <a:off x="2900304" y="5843978"/>
              <a:ext cx="81058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 dirty="0"/>
                <a:t>Auto-Scaling</a:t>
              </a:r>
              <a:r>
                <a:rPr lang="zh-CN" altLang="en-US" b="1" dirty="0"/>
                <a:t>：设置自由度区间 </a:t>
              </a:r>
              <a:r>
                <a:rPr lang="en-US" altLang="zh-CN" b="1" dirty="0">
                  <a:solidFill>
                    <a:srgbClr val="FF0000"/>
                  </a:solidFill>
                </a:rPr>
                <a:t>[</a:t>
              </a:r>
              <a:r>
                <a:rPr lang="en-US" altLang="zh-CN" b="1" dirty="0" err="1">
                  <a:solidFill>
                    <a:srgbClr val="FF0000"/>
                  </a:solidFill>
                </a:rPr>
                <a:t>x,y</a:t>
              </a:r>
              <a:r>
                <a:rPr lang="en-US" altLang="zh-CN" b="1" dirty="0">
                  <a:solidFill>
                    <a:srgbClr val="FF0000"/>
                  </a:solidFill>
                </a:rPr>
                <a:t>]</a:t>
              </a:r>
              <a:r>
                <a:rPr lang="zh-CN" altLang="en-US" b="1" dirty="0"/>
                <a:t>，当自由度小于</a:t>
              </a:r>
              <a:r>
                <a:rPr lang="en-US" altLang="zh-CN" b="1" dirty="0"/>
                <a:t>x</a:t>
              </a:r>
              <a:r>
                <a:rPr lang="zh-CN" altLang="en-US" b="1" dirty="0"/>
                <a:t>或大于</a:t>
              </a:r>
              <a:r>
                <a:rPr lang="en-US" altLang="zh-CN" b="1" dirty="0"/>
                <a:t>y</a:t>
              </a:r>
              <a:r>
                <a:rPr lang="zh-CN" altLang="en-US" b="1" dirty="0"/>
                <a:t>时</a:t>
              </a:r>
              <a:r>
                <a:rPr lang="zh-CN" altLang="en-US" b="1" dirty="0">
                  <a:solidFill>
                    <a:srgbClr val="FF0000"/>
                  </a:solidFill>
                </a:rPr>
                <a:t>添加或终止实例</a:t>
              </a:r>
              <a:r>
                <a:rPr lang="zh-CN" altLang="en-US" b="1" dirty="0"/>
                <a:t>，</a:t>
              </a:r>
              <a:r>
                <a:rPr lang="en-US" altLang="zh-CN" b="1" dirty="0"/>
                <a:t>Llumnix</a:t>
              </a:r>
              <a:r>
                <a:rPr lang="zh-CN" altLang="en-US" b="1" dirty="0"/>
                <a:t>选择运行请求最少的实例进行终止</a:t>
              </a:r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FB158E24-8D05-9E48-464A-8BAAAC5C175B}"/>
                </a:ext>
              </a:extLst>
            </p:cNvPr>
            <p:cNvSpPr txBox="1"/>
            <p:nvPr/>
          </p:nvSpPr>
          <p:spPr>
            <a:xfrm>
              <a:off x="2498187" y="5843978"/>
              <a:ext cx="50405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1" dirty="0">
                  <a:solidFill>
                    <a:srgbClr val="7030A0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●</a:t>
              </a:r>
              <a:endParaRPr lang="zh-CN" altLang="en-US" dirty="0"/>
            </a:p>
          </p:txBody>
        </p:sp>
      </p:grpSp>
      <p:grpSp>
        <p:nvGrpSpPr>
          <p:cNvPr id="65" name="组合 64">
            <a:extLst>
              <a:ext uri="{FF2B5EF4-FFF2-40B4-BE49-F238E27FC236}">
                <a16:creationId xmlns:a16="http://schemas.microsoft.com/office/drawing/2014/main" id="{39F33566-F15C-13DA-68CD-A31A2594BFCB}"/>
              </a:ext>
            </a:extLst>
          </p:cNvPr>
          <p:cNvGrpSpPr/>
          <p:nvPr/>
        </p:nvGrpSpPr>
        <p:grpSpPr>
          <a:xfrm>
            <a:off x="2498187" y="2210029"/>
            <a:ext cx="9407424" cy="3607582"/>
            <a:chOff x="2498187" y="2210029"/>
            <a:chExt cx="9407424" cy="3607582"/>
          </a:xfrm>
        </p:grpSpPr>
        <p:grpSp>
          <p:nvGrpSpPr>
            <p:cNvPr id="62" name="组合 61">
              <a:extLst>
                <a:ext uri="{FF2B5EF4-FFF2-40B4-BE49-F238E27FC236}">
                  <a16:creationId xmlns:a16="http://schemas.microsoft.com/office/drawing/2014/main" id="{C168049E-8D5B-ECCE-D51A-1C60C915EF41}"/>
                </a:ext>
              </a:extLst>
            </p:cNvPr>
            <p:cNvGrpSpPr/>
            <p:nvPr/>
          </p:nvGrpSpPr>
          <p:grpSpPr>
            <a:xfrm>
              <a:off x="2498187" y="2222880"/>
              <a:ext cx="9407424" cy="3594731"/>
              <a:chOff x="2498187" y="2222880"/>
              <a:chExt cx="9407424" cy="3594731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84658337-8595-BD82-1448-9D53C0D52E88}"/>
                  </a:ext>
                </a:extLst>
              </p:cNvPr>
              <p:cNvSpPr/>
              <p:nvPr/>
            </p:nvSpPr>
            <p:spPr>
              <a:xfrm>
                <a:off x="2498187" y="3487917"/>
                <a:ext cx="1512551" cy="1067823"/>
              </a:xfrm>
              <a:prstGeom prst="roundRect">
                <a:avLst/>
              </a:prstGeom>
              <a:solidFill>
                <a:srgbClr val="AFE3E6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</a:rPr>
                  <a:t>设置自由度阈值</a:t>
                </a:r>
              </a:p>
            </p:txBody>
          </p:sp>
          <p:sp>
            <p:nvSpPr>
              <p:cNvPr id="18" name="矩形: 圆角 17">
                <a:extLst>
                  <a:ext uri="{FF2B5EF4-FFF2-40B4-BE49-F238E27FC236}">
                    <a16:creationId xmlns:a16="http://schemas.microsoft.com/office/drawing/2014/main" id="{6485DC5B-7F85-076D-CCB1-CCC70F29061B}"/>
                  </a:ext>
                </a:extLst>
              </p:cNvPr>
              <p:cNvSpPr/>
              <p:nvPr/>
            </p:nvSpPr>
            <p:spPr>
              <a:xfrm>
                <a:off x="4755419" y="2326211"/>
                <a:ext cx="1045118" cy="875744"/>
              </a:xfrm>
              <a:prstGeom prst="roundRect">
                <a:avLst/>
              </a:prstGeom>
              <a:solidFill>
                <a:srgbClr val="D9E8F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</a:rPr>
                  <a:t>设置为源实例</a:t>
                </a:r>
              </a:p>
            </p:txBody>
          </p:sp>
          <p:sp>
            <p:nvSpPr>
              <p:cNvPr id="19" name="矩形: 圆角 18">
                <a:extLst>
                  <a:ext uri="{FF2B5EF4-FFF2-40B4-BE49-F238E27FC236}">
                    <a16:creationId xmlns:a16="http://schemas.microsoft.com/office/drawing/2014/main" id="{02F28468-704D-20B2-BE5A-C8ADE4DC74BD}"/>
                  </a:ext>
                </a:extLst>
              </p:cNvPr>
              <p:cNvSpPr/>
              <p:nvPr/>
            </p:nvSpPr>
            <p:spPr>
              <a:xfrm>
                <a:off x="4660840" y="4756920"/>
                <a:ext cx="1194450" cy="875744"/>
              </a:xfrm>
              <a:prstGeom prst="roundRect">
                <a:avLst/>
              </a:prstGeom>
              <a:solidFill>
                <a:srgbClr val="D9E8F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</a:rPr>
                  <a:t>设置为</a:t>
                </a:r>
                <a:endParaRPr lang="en-US" altLang="zh-CN" b="1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</a:rPr>
                  <a:t>目标实例</a:t>
                </a:r>
              </a:p>
            </p:txBody>
          </p:sp>
          <p:sp>
            <p:nvSpPr>
              <p:cNvPr id="20" name="矩形: 圆角 19">
                <a:extLst>
                  <a:ext uri="{FF2B5EF4-FFF2-40B4-BE49-F238E27FC236}">
                    <a16:creationId xmlns:a16="http://schemas.microsoft.com/office/drawing/2014/main" id="{5691663C-A7DE-05A0-7F92-2EFDC9596EF5}"/>
                  </a:ext>
                </a:extLst>
              </p:cNvPr>
              <p:cNvSpPr/>
              <p:nvPr/>
            </p:nvSpPr>
            <p:spPr>
              <a:xfrm>
                <a:off x="7261810" y="3549934"/>
                <a:ext cx="1473882" cy="875744"/>
              </a:xfrm>
              <a:prstGeom prst="roundRect">
                <a:avLst/>
              </a:prstGeom>
              <a:solidFill>
                <a:srgbClr val="A4A0B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 err="1">
                    <a:solidFill>
                      <a:schemeClr val="tx1"/>
                    </a:solidFill>
                  </a:rPr>
                  <a:t>llumlet</a:t>
                </a:r>
                <a:r>
                  <a:rPr lang="zh-CN" altLang="en-US" b="1" dirty="0">
                    <a:solidFill>
                      <a:schemeClr val="tx1"/>
                    </a:solidFill>
                  </a:rPr>
                  <a:t>选择迁移请求</a:t>
                </a:r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95EAF52D-F244-08B3-A3FA-D2400329C979}"/>
                  </a:ext>
                </a:extLst>
              </p:cNvPr>
              <p:cNvSpPr txBox="1"/>
              <p:nvPr/>
            </p:nvSpPr>
            <p:spPr>
              <a:xfrm>
                <a:off x="6161940" y="3517736"/>
                <a:ext cx="11944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b="1" dirty="0"/>
                  <a:t>迁移请求</a:t>
                </a:r>
              </a:p>
            </p:txBody>
          </p:sp>
          <p:sp>
            <p:nvSpPr>
              <p:cNvPr id="22" name="矩形: 圆角 21">
                <a:extLst>
                  <a:ext uri="{FF2B5EF4-FFF2-40B4-BE49-F238E27FC236}">
                    <a16:creationId xmlns:a16="http://schemas.microsoft.com/office/drawing/2014/main" id="{D54236C8-BC91-036D-AD66-621E4F0E5044}"/>
                  </a:ext>
                </a:extLst>
              </p:cNvPr>
              <p:cNvSpPr/>
              <p:nvPr/>
            </p:nvSpPr>
            <p:spPr>
              <a:xfrm>
                <a:off x="9443864" y="3549934"/>
                <a:ext cx="1441563" cy="875744"/>
              </a:xfrm>
              <a:prstGeom prst="roundRect">
                <a:avLst/>
              </a:prstGeom>
              <a:solidFill>
                <a:srgbClr val="F7E1ED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</a:rPr>
                  <a:t>迁移协调器执行迁移</a:t>
                </a:r>
              </a:p>
            </p:txBody>
          </p:sp>
          <p:cxnSp>
            <p:nvCxnSpPr>
              <p:cNvPr id="24" name="连接符: 肘形 23">
                <a:extLst>
                  <a:ext uri="{FF2B5EF4-FFF2-40B4-BE49-F238E27FC236}">
                    <a16:creationId xmlns:a16="http://schemas.microsoft.com/office/drawing/2014/main" id="{BD3E43E1-06A1-23AA-74CF-837C5B3F9677}"/>
                  </a:ext>
                </a:extLst>
              </p:cNvPr>
              <p:cNvCxnSpPr>
                <a:stCxn id="17" idx="3"/>
                <a:endCxn id="18" idx="1"/>
              </p:cNvCxnSpPr>
              <p:nvPr/>
            </p:nvCxnSpPr>
            <p:spPr>
              <a:xfrm flipV="1">
                <a:off x="4010738" y="2764083"/>
                <a:ext cx="744681" cy="1257746"/>
              </a:xfrm>
              <a:prstGeom prst="bentConnector3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连接符: 肘形 27">
                <a:extLst>
                  <a:ext uri="{FF2B5EF4-FFF2-40B4-BE49-F238E27FC236}">
                    <a16:creationId xmlns:a16="http://schemas.microsoft.com/office/drawing/2014/main" id="{C5158465-16F7-42C1-51BD-89D34A0BDC81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3941616" y="4469431"/>
                <a:ext cx="1172962" cy="277760"/>
              </a:xfrm>
              <a:prstGeom prst="bentConnector2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连接符: 肘形 31">
                <a:extLst>
                  <a:ext uri="{FF2B5EF4-FFF2-40B4-BE49-F238E27FC236}">
                    <a16:creationId xmlns:a16="http://schemas.microsoft.com/office/drawing/2014/main" id="{9BE51E1E-12BC-E54F-DB1B-3E10B03E5BF6}"/>
                  </a:ext>
                </a:extLst>
              </p:cNvPr>
              <p:cNvCxnSpPr>
                <a:cxnSpLocks/>
                <a:stCxn id="18" idx="3"/>
                <a:endCxn id="20" idx="1"/>
              </p:cNvCxnSpPr>
              <p:nvPr/>
            </p:nvCxnSpPr>
            <p:spPr>
              <a:xfrm>
                <a:off x="5800537" y="2764083"/>
                <a:ext cx="1461273" cy="1223723"/>
              </a:xfrm>
              <a:prstGeom prst="bentConnector3">
                <a:avLst>
                  <a:gd name="adj1" fmla="val 29421"/>
                </a:avLst>
              </a:prstGeom>
              <a:ln w="28575"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连接符: 肘形 38">
                <a:extLst>
                  <a:ext uri="{FF2B5EF4-FFF2-40B4-BE49-F238E27FC236}">
                    <a16:creationId xmlns:a16="http://schemas.microsoft.com/office/drawing/2014/main" id="{900CA82F-3B85-C96B-70D4-860C14D6569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5412567" y="4375296"/>
                <a:ext cx="1206986" cy="432006"/>
              </a:xfrm>
              <a:prstGeom prst="bentConnector3">
                <a:avLst>
                  <a:gd name="adj1" fmla="val 2714"/>
                </a:avLst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CF2E46D5-F0EB-3953-6719-6C96B98890B5}"/>
                  </a:ext>
                </a:extLst>
              </p:cNvPr>
              <p:cNvCxnSpPr>
                <a:cxnSpLocks/>
                <a:stCxn id="20" idx="3"/>
                <a:endCxn id="22" idx="1"/>
              </p:cNvCxnSpPr>
              <p:nvPr/>
            </p:nvCxnSpPr>
            <p:spPr>
              <a:xfrm>
                <a:off x="8735692" y="3987806"/>
                <a:ext cx="708172" cy="0"/>
              </a:xfrm>
              <a:prstGeom prst="straightConnector1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246CDCDC-076C-3E81-E378-88474EDB5379}"/>
                  </a:ext>
                </a:extLst>
              </p:cNvPr>
              <p:cNvSpPr txBox="1"/>
              <p:nvPr/>
            </p:nvSpPr>
            <p:spPr>
              <a:xfrm>
                <a:off x="4373117" y="3214676"/>
                <a:ext cx="104511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b="1" dirty="0"/>
                  <a:t>自由度最低</a:t>
                </a:r>
              </a:p>
            </p:txBody>
          </p:sp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6D92C8EB-6FBA-47FA-67B2-F15C3A374698}"/>
                  </a:ext>
                </a:extLst>
              </p:cNvPr>
              <p:cNvSpPr txBox="1"/>
              <p:nvPr/>
            </p:nvSpPr>
            <p:spPr>
              <a:xfrm>
                <a:off x="4383078" y="4144612"/>
                <a:ext cx="104511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b="1" dirty="0"/>
                  <a:t>自由度最高</a:t>
                </a:r>
              </a:p>
            </p:txBody>
          </p:sp>
          <p:sp>
            <p:nvSpPr>
              <p:cNvPr id="46" name="对话气泡: 椭圆形 45">
                <a:extLst>
                  <a:ext uri="{FF2B5EF4-FFF2-40B4-BE49-F238E27FC236}">
                    <a16:creationId xmlns:a16="http://schemas.microsoft.com/office/drawing/2014/main" id="{ED96458F-52F0-7ECE-DC14-7B68AE06F095}"/>
                  </a:ext>
                </a:extLst>
              </p:cNvPr>
              <p:cNvSpPr/>
              <p:nvPr/>
            </p:nvSpPr>
            <p:spPr>
              <a:xfrm rot="10800000">
                <a:off x="7183319" y="4591299"/>
                <a:ext cx="2200024" cy="1226312"/>
              </a:xfrm>
              <a:prstGeom prst="wedgeEllipseCallout">
                <a:avLst/>
              </a:prstGeom>
              <a:solidFill>
                <a:srgbClr val="F4B18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7" name="对话气泡: 椭圆形 46">
                <a:extLst>
                  <a:ext uri="{FF2B5EF4-FFF2-40B4-BE49-F238E27FC236}">
                    <a16:creationId xmlns:a16="http://schemas.microsoft.com/office/drawing/2014/main" id="{D01DFE39-73D4-5787-FE00-9A79D6B10102}"/>
                  </a:ext>
                </a:extLst>
              </p:cNvPr>
              <p:cNvSpPr/>
              <p:nvPr/>
            </p:nvSpPr>
            <p:spPr>
              <a:xfrm>
                <a:off x="9483447" y="2222880"/>
                <a:ext cx="2422164" cy="1144423"/>
              </a:xfrm>
              <a:prstGeom prst="wedgeEllipseCallout">
                <a:avLst/>
              </a:prstGeom>
              <a:solidFill>
                <a:srgbClr val="F4B18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C60B6DA1-F547-1699-0951-561F9509CCAF}"/>
                  </a:ext>
                </a:extLst>
              </p:cNvPr>
              <p:cNvSpPr txBox="1"/>
              <p:nvPr/>
            </p:nvSpPr>
            <p:spPr>
              <a:xfrm>
                <a:off x="7418980" y="4764409"/>
                <a:ext cx="1928907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b="1" dirty="0">
                    <a:solidFill>
                      <a:schemeClr val="bg1"/>
                    </a:solidFill>
                  </a:rPr>
                  <a:t>倾向于较低优先级和较短序列长度的请求</a:t>
                </a:r>
              </a:p>
            </p:txBody>
          </p:sp>
          <p:sp>
            <p:nvSpPr>
              <p:cNvPr id="52" name="文本框 51">
                <a:extLst>
                  <a:ext uri="{FF2B5EF4-FFF2-40B4-BE49-F238E27FC236}">
                    <a16:creationId xmlns:a16="http://schemas.microsoft.com/office/drawing/2014/main" id="{9A475DCE-DB14-05F3-B0FE-44276686906C}"/>
                  </a:ext>
                </a:extLst>
              </p:cNvPr>
              <p:cNvSpPr txBox="1"/>
              <p:nvPr/>
            </p:nvSpPr>
            <p:spPr>
              <a:xfrm>
                <a:off x="9671775" y="2326211"/>
                <a:ext cx="2072166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1" i="0" dirty="0">
                    <a:solidFill>
                      <a:schemeClr val="bg1"/>
                    </a:solidFill>
                    <a:effectLst/>
                    <a:latin typeface="-apple-system"/>
                  </a:rPr>
                  <a:t>不再超过阈值，</a:t>
                </a:r>
                <a:r>
                  <a:rPr lang="zh-CN" altLang="en-US" b="1" dirty="0">
                    <a:solidFill>
                      <a:schemeClr val="bg1"/>
                    </a:solidFill>
                    <a:latin typeface="-apple-system"/>
                  </a:rPr>
                  <a:t>则</a:t>
                </a:r>
                <a:r>
                  <a:rPr lang="zh-CN" altLang="en-US" b="1" i="0" dirty="0">
                    <a:solidFill>
                      <a:schemeClr val="bg1"/>
                    </a:solidFill>
                    <a:effectLst/>
                    <a:latin typeface="-apple-system"/>
                  </a:rPr>
                  <a:t>取消设置迁移状态，迁移将停止</a:t>
                </a:r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60" name="文本框 59">
                <a:extLst>
                  <a:ext uri="{FF2B5EF4-FFF2-40B4-BE49-F238E27FC236}">
                    <a16:creationId xmlns:a16="http://schemas.microsoft.com/office/drawing/2014/main" id="{D0C6A423-A759-0AC8-3A2C-99E3A53A46F8}"/>
                  </a:ext>
                </a:extLst>
              </p:cNvPr>
              <p:cNvSpPr txBox="1"/>
              <p:nvPr/>
            </p:nvSpPr>
            <p:spPr>
              <a:xfrm>
                <a:off x="2556116" y="2227455"/>
                <a:ext cx="5040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1" dirty="0">
                    <a:solidFill>
                      <a:srgbClr val="7030A0"/>
                    </a:solidFill>
                    <a:latin typeface="宋体" panose="02010600030101010101" pitchFamily="2" charset="-122"/>
                    <a:ea typeface="宋体" panose="02010600030101010101" pitchFamily="2" charset="-122"/>
                  </a:rPr>
                  <a:t>●</a:t>
                </a:r>
                <a:endParaRPr lang="zh-CN" altLang="en-US" dirty="0"/>
              </a:p>
            </p:txBody>
          </p:sp>
        </p:grpSp>
        <p:sp>
          <p:nvSpPr>
            <p:cNvPr id="64" name="文本框 63">
              <a:extLst>
                <a:ext uri="{FF2B5EF4-FFF2-40B4-BE49-F238E27FC236}">
                  <a16:creationId xmlns:a16="http://schemas.microsoft.com/office/drawing/2014/main" id="{C2D28565-43AD-2468-4F18-D350A36AAB6F}"/>
                </a:ext>
              </a:extLst>
            </p:cNvPr>
            <p:cNvSpPr txBox="1"/>
            <p:nvPr/>
          </p:nvSpPr>
          <p:spPr>
            <a:xfrm>
              <a:off x="3008678" y="2210029"/>
              <a:ext cx="153357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 dirty="0"/>
                <a:t>Migration</a:t>
              </a:r>
              <a:r>
                <a:rPr lang="zh-CN" altLang="en-US" b="1" dirty="0"/>
                <a:t>：</a:t>
              </a:r>
            </a:p>
            <a:p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222217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156D8-2C6E-8537-63D0-1F64E8920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南开大学·校训">
            <a:extLst>
              <a:ext uri="{FF2B5EF4-FFF2-40B4-BE49-F238E27FC236}">
                <a16:creationId xmlns:a16="http://schemas.microsoft.com/office/drawing/2014/main" id="{CAA3F073-6466-CCE5-9619-F48E9B5FCF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3168" y="6541075"/>
            <a:ext cx="2188832" cy="316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组合 3">
            <a:extLst>
              <a:ext uri="{FF2B5EF4-FFF2-40B4-BE49-F238E27FC236}">
                <a16:creationId xmlns:a16="http://schemas.microsoft.com/office/drawing/2014/main" id="{CE24BEA8-248E-0843-6D4E-43D2CF0545BB}"/>
              </a:ext>
            </a:extLst>
          </p:cNvPr>
          <p:cNvGrpSpPr/>
          <p:nvPr/>
        </p:nvGrpSpPr>
        <p:grpSpPr>
          <a:xfrm>
            <a:off x="2216228" y="269008"/>
            <a:ext cx="6713711" cy="682262"/>
            <a:chOff x="299356" y="260648"/>
            <a:chExt cx="6713711" cy="682262"/>
          </a:xfrm>
        </p:grpSpPr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69BD2459-2393-5F22-83C8-F9C42747F1BE}"/>
                </a:ext>
              </a:extLst>
            </p:cNvPr>
            <p:cNvGrpSpPr/>
            <p:nvPr/>
          </p:nvGrpSpPr>
          <p:grpSpPr>
            <a:xfrm>
              <a:off x="299356" y="260648"/>
              <a:ext cx="684076" cy="682262"/>
              <a:chOff x="637139" y="467280"/>
              <a:chExt cx="684076" cy="682262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7ED9C271-8673-0D49-4B9D-A1DD9A66B213}"/>
                  </a:ext>
                </a:extLst>
              </p:cNvPr>
              <p:cNvSpPr/>
              <p:nvPr/>
            </p:nvSpPr>
            <p:spPr>
              <a:xfrm>
                <a:off x="637139" y="467280"/>
                <a:ext cx="432048" cy="432048"/>
              </a:xfrm>
              <a:prstGeom prst="rect">
                <a:avLst/>
              </a:prstGeom>
              <a:solidFill>
                <a:srgbClr val="7E0C6E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D9D8B94D-534A-5827-65EA-9DF5CFED53ED}"/>
                  </a:ext>
                </a:extLst>
              </p:cNvPr>
              <p:cNvSpPr/>
              <p:nvPr/>
            </p:nvSpPr>
            <p:spPr>
              <a:xfrm>
                <a:off x="817159" y="645486"/>
                <a:ext cx="504056" cy="504056"/>
              </a:xfrm>
              <a:prstGeom prst="rect">
                <a:avLst/>
              </a:prstGeom>
              <a:solidFill>
                <a:srgbClr val="7E0C6E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D87612E5-73C1-D2CB-9822-9DB35BE164E4}"/>
                </a:ext>
              </a:extLst>
            </p:cNvPr>
            <p:cNvCxnSpPr/>
            <p:nvPr/>
          </p:nvCxnSpPr>
          <p:spPr>
            <a:xfrm>
              <a:off x="1055440" y="899328"/>
              <a:ext cx="5616624" cy="0"/>
            </a:xfrm>
            <a:prstGeom prst="line">
              <a:avLst/>
            </a:prstGeom>
            <a:ln w="28575">
              <a:solidFill>
                <a:srgbClr val="7E0C6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36">
              <a:extLst>
                <a:ext uri="{FF2B5EF4-FFF2-40B4-BE49-F238E27FC236}">
                  <a16:creationId xmlns:a16="http://schemas.microsoft.com/office/drawing/2014/main" id="{9D90D94D-E61C-4D0D-9F1C-F0B1BC7A8061}"/>
                </a:ext>
              </a:extLst>
            </p:cNvPr>
            <p:cNvSpPr txBox="1"/>
            <p:nvPr/>
          </p:nvSpPr>
          <p:spPr>
            <a:xfrm>
              <a:off x="1163452" y="260648"/>
              <a:ext cx="5849615" cy="500137"/>
            </a:xfrm>
            <a:prstGeom prst="rect">
              <a:avLst/>
            </a:prstGeom>
            <a:noFill/>
          </p:spPr>
          <p:txBody>
            <a:bodyPr wrap="none" lIns="68580" tIns="34290" rIns="68580" bIns="34290" rtlCol="0">
              <a:spAutoFit/>
            </a:bodyPr>
            <a:lstStyle/>
            <a:p>
              <a:pPr lvl="0"/>
              <a:r>
                <a:rPr lang="en-US" altLang="zh-CN" sz="2800" b="1" dirty="0">
                  <a:solidFill>
                    <a:srgbClr val="7E0C6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Live Migration of LLM Requests</a:t>
              </a:r>
            </a:p>
          </p:txBody>
        </p:sp>
      </p:grpSp>
      <p:graphicFrame>
        <p:nvGraphicFramePr>
          <p:cNvPr id="10" name="table 482">
            <a:extLst>
              <a:ext uri="{FF2B5EF4-FFF2-40B4-BE49-F238E27FC236}">
                <a16:creationId xmlns:a16="http://schemas.microsoft.com/office/drawing/2014/main" id="{48A70566-C1B1-7F20-44B4-7ACA6F2E9880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963560" cy="6858000"/>
        </p:xfrm>
        <a:graphic>
          <a:graphicData uri="http://schemas.openxmlformats.org/drawingml/2006/table">
            <a:tbl>
              <a:tblPr>
                <a:solidFill>
                  <a:srgbClr val="1F4E79"/>
                </a:solidFill>
              </a:tblPr>
              <a:tblGrid>
                <a:gridCol w="1963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858000">
                <a:tc>
                  <a:txBody>
                    <a:bodyPr/>
                    <a:lstStyle/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1000" b="0" kern="1200" spc="0" dirty="0">
                          <a:solidFill>
                            <a:srgbClr val="7030A0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</a:t>
                      </a: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1000" b="0" kern="1200" spc="0" dirty="0">
                          <a:solidFill>
                            <a:srgbClr val="7030A0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 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1. 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I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ntroduction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solidFill>
                          <a:srgbClr val="7030A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2. 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M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otivation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3. O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verview</a:t>
                      </a: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endParaRPr lang="en-US"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endParaRPr lang="en-US"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4</a:t>
                      </a:r>
                      <a:r>
                        <a:rPr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</a:t>
                      </a:r>
                      <a:r>
                        <a:rPr lang="en-US"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M</a:t>
                      </a:r>
                      <a:r>
                        <a:rPr lang="en-US" altLang="zh-CN"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ethod</a:t>
                      </a:r>
                      <a:endParaRPr sz="2000" b="1" kern="0" spc="-30" dirty="0">
                        <a:solidFill>
                          <a:schemeClr val="bg1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5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E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valuation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7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18000"/>
                        </a:lnSpc>
                      </a:pPr>
                      <a:endParaRPr sz="3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6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 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C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onclusion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22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C17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12" name="图片 11">
            <a:extLst>
              <a:ext uri="{FF2B5EF4-FFF2-40B4-BE49-F238E27FC236}">
                <a16:creationId xmlns:a16="http://schemas.microsoft.com/office/drawing/2014/main" id="{0D151E8D-C262-6D1D-C6BC-45B0DB8C6F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8276" y="953488"/>
            <a:ext cx="6067656" cy="3210179"/>
          </a:xfrm>
          <a:prstGeom prst="rect">
            <a:avLst/>
          </a:prstGeom>
        </p:spPr>
      </p:pic>
      <p:grpSp>
        <p:nvGrpSpPr>
          <p:cNvPr id="62" name="组合 61">
            <a:extLst>
              <a:ext uri="{FF2B5EF4-FFF2-40B4-BE49-F238E27FC236}">
                <a16:creationId xmlns:a16="http://schemas.microsoft.com/office/drawing/2014/main" id="{AE234EEF-2804-85A9-461D-2A20AA2144C2}"/>
              </a:ext>
            </a:extLst>
          </p:cNvPr>
          <p:cNvGrpSpPr/>
          <p:nvPr/>
        </p:nvGrpSpPr>
        <p:grpSpPr>
          <a:xfrm>
            <a:off x="8676240" y="1190562"/>
            <a:ext cx="3303014" cy="2845343"/>
            <a:chOff x="8676240" y="1190562"/>
            <a:chExt cx="3303014" cy="2845343"/>
          </a:xfrm>
        </p:grpSpPr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9B8E799A-E4B5-77A0-325E-C05FE61D1EF1}"/>
                </a:ext>
              </a:extLst>
            </p:cNvPr>
            <p:cNvSpPr txBox="1"/>
            <p:nvPr/>
          </p:nvSpPr>
          <p:spPr>
            <a:xfrm>
              <a:off x="8929939" y="1190562"/>
              <a:ext cx="2951855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/>
                <a:t>挑战：</a:t>
              </a:r>
              <a:r>
                <a:rPr lang="en-US" altLang="zh-CN" b="1" dirty="0"/>
                <a:t>LLM</a:t>
              </a:r>
              <a:r>
                <a:rPr lang="zh-CN" altLang="en-US" b="1" dirty="0"/>
                <a:t>的请求还需要</a:t>
              </a:r>
              <a:r>
                <a:rPr lang="en-US" altLang="zh-CN" b="1" dirty="0"/>
                <a:t>KV</a:t>
              </a:r>
              <a:r>
                <a:rPr lang="zh-CN" altLang="en-US" b="1" dirty="0"/>
                <a:t>缓存状态来获取上下文；</a:t>
              </a:r>
              <a:endParaRPr lang="en-US" altLang="zh-CN" b="1" dirty="0"/>
            </a:p>
            <a:p>
              <a:r>
                <a:rPr lang="zh-CN" altLang="en-US" b="1" dirty="0"/>
                <a:t>重新调度可能带来巨大的成本和服务停滞；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B421AD8-15CC-C904-2094-271F2D5A37F0}"/>
                </a:ext>
              </a:extLst>
            </p:cNvPr>
            <p:cNvSpPr txBox="1"/>
            <p:nvPr/>
          </p:nvSpPr>
          <p:spPr>
            <a:xfrm>
              <a:off x="8929939" y="2558577"/>
              <a:ext cx="3049315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/>
                <a:t>解决方案：</a:t>
              </a:r>
              <a:r>
                <a:rPr lang="en-US" altLang="zh-CN" b="1" dirty="0"/>
                <a:t>KV</a:t>
              </a:r>
              <a:r>
                <a:rPr lang="zh-CN" altLang="en-US" b="1" dirty="0"/>
                <a:t>缓存的特性是</a:t>
              </a:r>
              <a:r>
                <a:rPr lang="en-US" altLang="zh-CN" b="1" dirty="0">
                  <a:solidFill>
                    <a:srgbClr val="FF0000"/>
                  </a:solidFill>
                </a:rPr>
                <a:t>append-only</a:t>
              </a:r>
              <a:r>
                <a:rPr lang="zh-CN" altLang="en-US" b="1" dirty="0"/>
                <a:t>。将计算出的当前迭代的</a:t>
              </a:r>
              <a:r>
                <a:rPr lang="en-US" altLang="zh-CN" b="1" dirty="0"/>
                <a:t>KV</a:t>
              </a:r>
              <a:r>
                <a:rPr lang="zh-CN" altLang="en-US" b="1" dirty="0"/>
                <a:t>状态附加到</a:t>
              </a:r>
              <a:r>
                <a:rPr lang="en-US" altLang="zh-CN" b="1" dirty="0"/>
                <a:t>KV cache</a:t>
              </a:r>
              <a:r>
                <a:rPr lang="zh-CN" altLang="en-US" b="1" dirty="0"/>
                <a:t>参数中，从而使先前迭代生成的参数保持不变</a:t>
              </a:r>
            </a:p>
          </p:txBody>
        </p: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FA78F1B3-8D43-246B-4737-A630A804DF0E}"/>
                </a:ext>
              </a:extLst>
            </p:cNvPr>
            <p:cNvSpPr txBox="1"/>
            <p:nvPr/>
          </p:nvSpPr>
          <p:spPr>
            <a:xfrm>
              <a:off x="8677911" y="1201860"/>
              <a:ext cx="50405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1" dirty="0">
                  <a:solidFill>
                    <a:srgbClr val="7030A0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●</a:t>
              </a:r>
              <a:endParaRPr lang="zh-CN" altLang="en-US" dirty="0"/>
            </a:p>
          </p:txBody>
        </p: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66F7C33E-6E1F-7D6F-B537-C8C0D07B067B}"/>
                </a:ext>
              </a:extLst>
            </p:cNvPr>
            <p:cNvSpPr txBox="1"/>
            <p:nvPr/>
          </p:nvSpPr>
          <p:spPr>
            <a:xfrm>
              <a:off x="8676240" y="2575234"/>
              <a:ext cx="50405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1" dirty="0">
                  <a:solidFill>
                    <a:srgbClr val="7030A0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●</a:t>
              </a:r>
              <a:endParaRPr lang="zh-CN" altLang="en-US" dirty="0"/>
            </a:p>
          </p:txBody>
        </p:sp>
      </p:grpSp>
      <p:grpSp>
        <p:nvGrpSpPr>
          <p:cNvPr id="63" name="组合 62">
            <a:extLst>
              <a:ext uri="{FF2B5EF4-FFF2-40B4-BE49-F238E27FC236}">
                <a16:creationId xmlns:a16="http://schemas.microsoft.com/office/drawing/2014/main" id="{7287B9B6-CBD5-53ED-5DCD-FB91BCF87C5B}"/>
              </a:ext>
            </a:extLst>
          </p:cNvPr>
          <p:cNvGrpSpPr/>
          <p:nvPr/>
        </p:nvGrpSpPr>
        <p:grpSpPr>
          <a:xfrm>
            <a:off x="2759975" y="1843914"/>
            <a:ext cx="8487586" cy="3621180"/>
            <a:chOff x="2759975" y="1843914"/>
            <a:chExt cx="8487586" cy="3621180"/>
          </a:xfrm>
        </p:grpSpPr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AAFF7FE9-93FA-8127-B8D3-4F902843760C}"/>
                </a:ext>
              </a:extLst>
            </p:cNvPr>
            <p:cNvSpPr txBox="1"/>
            <p:nvPr/>
          </p:nvSpPr>
          <p:spPr>
            <a:xfrm>
              <a:off x="2759975" y="4538210"/>
              <a:ext cx="2667522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1" i="0" dirty="0">
                  <a:effectLst/>
                  <a:latin typeface="-apple-system"/>
                </a:rPr>
                <a:t>1.</a:t>
              </a:r>
              <a:r>
                <a:rPr lang="zh-CN" altLang="en-US" b="1" i="0" dirty="0">
                  <a:effectLst/>
                  <a:latin typeface="-apple-system"/>
                </a:rPr>
                <a:t>当完成对先前</a:t>
              </a:r>
              <a:r>
                <a:rPr lang="en-US" altLang="zh-CN" b="1" i="0" dirty="0" err="1">
                  <a:effectLst/>
                  <a:latin typeface="-apple-system"/>
                </a:rPr>
                <a:t>KVcache</a:t>
              </a:r>
              <a:r>
                <a:rPr lang="zh-CN" altLang="en-US" b="1" i="0" dirty="0">
                  <a:effectLst/>
                  <a:latin typeface="-apple-system"/>
                </a:rPr>
                <a:t>块的复制时，将在</a:t>
              </a:r>
              <a:r>
                <a:rPr lang="en-US" altLang="zh-CN" b="1" dirty="0">
                  <a:latin typeface="-apple-system"/>
                </a:rPr>
                <a:t>Stage</a:t>
              </a:r>
              <a:r>
                <a:rPr lang="en-US" altLang="zh-CN" b="1" i="0" dirty="0">
                  <a:effectLst/>
                  <a:latin typeface="-apple-system"/>
                </a:rPr>
                <a:t>0</a:t>
              </a:r>
              <a:r>
                <a:rPr lang="zh-CN" altLang="en-US" b="1" i="0" dirty="0">
                  <a:effectLst/>
                  <a:latin typeface="-apple-system"/>
                </a:rPr>
                <a:t>中计算更多的迭代</a:t>
              </a:r>
              <a:endParaRPr lang="zh-CN" altLang="en-US" b="1" dirty="0"/>
            </a:p>
          </p:txBody>
        </p: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09B5A2AB-4319-BEC4-FEC5-F45C8B70EF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19678" y="3408459"/>
              <a:ext cx="331808" cy="1115423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C0063F33-E873-3309-65F4-05410AB533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93736" y="1884032"/>
              <a:ext cx="1203954" cy="263985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5BB4337C-4DB7-BC77-C68C-C0364BF6AC76}"/>
                </a:ext>
              </a:extLst>
            </p:cNvPr>
            <p:cNvCxnSpPr>
              <a:cxnSpLocks/>
            </p:cNvCxnSpPr>
            <p:nvPr/>
          </p:nvCxnSpPr>
          <p:spPr>
            <a:xfrm>
              <a:off x="6535204" y="1843914"/>
              <a:ext cx="207946" cy="2629895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065A2909-F980-D769-488B-8DEB1580D0A0}"/>
                </a:ext>
              </a:extLst>
            </p:cNvPr>
            <p:cNvCxnSpPr>
              <a:cxnSpLocks/>
            </p:cNvCxnSpPr>
            <p:nvPr/>
          </p:nvCxnSpPr>
          <p:spPr>
            <a:xfrm>
              <a:off x="6287260" y="3452530"/>
              <a:ext cx="247944" cy="1071352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F9CD8C08-5EAE-15DD-CF0A-A0859F35B9EE}"/>
                </a:ext>
              </a:extLst>
            </p:cNvPr>
            <p:cNvSpPr txBox="1"/>
            <p:nvPr/>
          </p:nvSpPr>
          <p:spPr>
            <a:xfrm>
              <a:off x="5427497" y="4538210"/>
              <a:ext cx="28504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 dirty="0"/>
                <a:t>2.</a:t>
              </a:r>
              <a:r>
                <a:rPr lang="zh-CN" altLang="en-US" b="1" dirty="0"/>
                <a:t>切换到</a:t>
              </a:r>
              <a:r>
                <a:rPr lang="en-US" altLang="zh-CN" b="1" dirty="0"/>
                <a:t>Stage1</a:t>
              </a:r>
              <a:r>
                <a:rPr lang="zh-CN" altLang="en-US" b="1" dirty="0"/>
                <a:t>进行计算，同时复制</a:t>
              </a:r>
              <a:r>
                <a:rPr lang="en-US" altLang="zh-CN" b="1" dirty="0"/>
                <a:t>Stage0</a:t>
              </a:r>
              <a:r>
                <a:rPr lang="zh-CN" altLang="en-US" b="1" dirty="0"/>
                <a:t>的</a:t>
              </a:r>
              <a:r>
                <a:rPr lang="en-US" altLang="zh-CN" b="1" dirty="0"/>
                <a:t>KV</a:t>
              </a:r>
              <a:r>
                <a:rPr lang="zh-CN" altLang="en-US" b="1" dirty="0"/>
                <a:t>缓存</a:t>
              </a:r>
            </a:p>
          </p:txBody>
        </p: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8D00E090-3C96-D2C4-8CF2-988E5C4517CA}"/>
                </a:ext>
              </a:extLst>
            </p:cNvPr>
            <p:cNvCxnSpPr>
              <a:cxnSpLocks/>
            </p:cNvCxnSpPr>
            <p:nvPr/>
          </p:nvCxnSpPr>
          <p:spPr>
            <a:xfrm>
              <a:off x="7346316" y="3563674"/>
              <a:ext cx="1650042" cy="910135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D9E3893C-67A1-52B6-1A00-004B805F26D7}"/>
                </a:ext>
              </a:extLst>
            </p:cNvPr>
            <p:cNvSpPr txBox="1"/>
            <p:nvPr/>
          </p:nvSpPr>
          <p:spPr>
            <a:xfrm>
              <a:off x="8397127" y="4541764"/>
              <a:ext cx="28504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 dirty="0"/>
                <a:t>3.</a:t>
              </a:r>
              <a:r>
                <a:rPr lang="zh-CN" altLang="en-US" b="1" dirty="0"/>
                <a:t>只有</a:t>
              </a:r>
              <a:r>
                <a:rPr lang="en-US" altLang="zh-CN" b="1" dirty="0" err="1"/>
                <a:t>StageN</a:t>
              </a:r>
              <a:r>
                <a:rPr lang="zh-CN" altLang="en-US" b="1" dirty="0"/>
                <a:t>之后需要停止计算</a:t>
              </a:r>
              <a:r>
                <a:rPr lang="zh-CN" altLang="en-US" b="1" dirty="0">
                  <a:solidFill>
                    <a:srgbClr val="FF0000"/>
                  </a:solidFill>
                </a:rPr>
                <a:t>一次</a:t>
              </a:r>
              <a:r>
                <a:rPr lang="zh-CN" altLang="en-US" b="1" dirty="0"/>
                <a:t>，复制</a:t>
              </a:r>
              <a:r>
                <a:rPr lang="en-US" altLang="zh-CN" b="1" dirty="0"/>
                <a:t>KV</a:t>
              </a:r>
              <a:r>
                <a:rPr lang="zh-CN" altLang="en-US" b="1" dirty="0"/>
                <a:t>缓存，然后</a:t>
              </a:r>
              <a:r>
                <a:rPr lang="zh-CN" altLang="en-US" b="1" dirty="0">
                  <a:solidFill>
                    <a:srgbClr val="FF0000"/>
                  </a:solidFill>
                </a:rPr>
                <a:t>进入新实例</a:t>
              </a:r>
              <a:r>
                <a:rPr lang="zh-CN" altLang="en-US" b="1" dirty="0"/>
                <a:t>计算</a:t>
              </a:r>
            </a:p>
          </p:txBody>
        </p:sp>
      </p:grp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96AF7D0A-A174-0BF8-7722-FC90D1B2C84C}"/>
              </a:ext>
            </a:extLst>
          </p:cNvPr>
          <p:cNvGrpSpPr/>
          <p:nvPr/>
        </p:nvGrpSpPr>
        <p:grpSpPr>
          <a:xfrm>
            <a:off x="2693901" y="5645875"/>
            <a:ext cx="8635845" cy="772845"/>
            <a:chOff x="2693901" y="5645875"/>
            <a:chExt cx="8635845" cy="772845"/>
          </a:xfrm>
        </p:grpSpPr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2F004E78-EDC5-C5C2-0A2E-4B47AA2D2068}"/>
                </a:ext>
              </a:extLst>
            </p:cNvPr>
            <p:cNvSpPr txBox="1"/>
            <p:nvPr/>
          </p:nvSpPr>
          <p:spPr>
            <a:xfrm>
              <a:off x="3578518" y="5772389"/>
              <a:ext cx="7751228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1" dirty="0">
                  <a:solidFill>
                    <a:srgbClr val="FF0000"/>
                  </a:solidFill>
                </a:rPr>
                <a:t>在</a:t>
              </a:r>
              <a:r>
                <a:rPr lang="en-US" altLang="zh-CN" b="1" dirty="0">
                  <a:solidFill>
                    <a:srgbClr val="FF0000"/>
                  </a:solidFill>
                </a:rPr>
                <a:t>LLM</a:t>
              </a:r>
              <a:r>
                <a:rPr lang="zh-CN" altLang="en-US" b="1" dirty="0">
                  <a:solidFill>
                    <a:srgbClr val="FF0000"/>
                  </a:solidFill>
                </a:rPr>
                <a:t>场景下，复制通常比计算快得多，因此</a:t>
              </a:r>
              <a:r>
                <a:rPr lang="zh-CN" altLang="en-US" b="1" i="0" dirty="0">
                  <a:solidFill>
                    <a:srgbClr val="FF0000"/>
                  </a:solidFill>
                  <a:effectLst/>
                  <a:latin typeface="-apple-system"/>
                </a:rPr>
                <a:t>请求的停机时间仅为复制一次迭代生成的</a:t>
              </a:r>
              <a:r>
                <a:rPr lang="en-US" altLang="zh-CN" b="1" i="0" dirty="0">
                  <a:solidFill>
                    <a:srgbClr val="FF0000"/>
                  </a:solidFill>
                  <a:effectLst/>
                  <a:latin typeface="-apple-system"/>
                </a:rPr>
                <a:t>KV</a:t>
              </a:r>
              <a:r>
                <a:rPr lang="zh-CN" altLang="en-US" b="1" i="0" dirty="0">
                  <a:solidFill>
                    <a:srgbClr val="FF0000"/>
                  </a:solidFill>
                  <a:effectLst/>
                  <a:latin typeface="-apple-system"/>
                </a:rPr>
                <a:t>缓存的时间</a:t>
              </a:r>
              <a:endParaRPr lang="zh-CN" altLang="en-US" b="1" dirty="0">
                <a:solidFill>
                  <a:srgbClr val="FF0000"/>
                </a:solidFill>
              </a:endParaRPr>
            </a:p>
          </p:txBody>
        </p:sp>
        <p:pic>
          <p:nvPicPr>
            <p:cNvPr id="58" name="图形 57" descr="灯泡和齿轮 纯色填充">
              <a:extLst>
                <a:ext uri="{FF2B5EF4-FFF2-40B4-BE49-F238E27FC236}">
                  <a16:creationId xmlns:a16="http://schemas.microsoft.com/office/drawing/2014/main" id="{061AA007-283D-A281-C12B-340BC6C485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93901" y="5645875"/>
              <a:ext cx="772845" cy="7728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46906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25A77-1580-FAA3-1953-F1F17BFE5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D:\360MoveData\Users\xiaoxiao\Desktop\logo2.pnglogo2">
            <a:extLst>
              <a:ext uri="{FF2B5EF4-FFF2-40B4-BE49-F238E27FC236}">
                <a16:creationId xmlns:a16="http://schemas.microsoft.com/office/drawing/2014/main" id="{EC4CABCF-4DF9-70EE-755D-E86C23396A4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>
          <a:xfrm>
            <a:off x="7439661" y="2687003"/>
            <a:ext cx="5551170" cy="5515610"/>
          </a:xfrm>
          <a:prstGeom prst="rect">
            <a:avLst/>
          </a:prstGeom>
        </p:spPr>
      </p:pic>
      <p:pic>
        <p:nvPicPr>
          <p:cNvPr id="3" name="图片 2" descr="D:\360MoveData\Users\xiaoxiao\Desktop\logo2.pnglogo2">
            <a:extLst>
              <a:ext uri="{FF2B5EF4-FFF2-40B4-BE49-F238E27FC236}">
                <a16:creationId xmlns:a16="http://schemas.microsoft.com/office/drawing/2014/main" id="{C4C235FC-069C-7EFF-D94B-60C2DFD9AE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>
          <a:xfrm>
            <a:off x="-1129347" y="-918527"/>
            <a:ext cx="5375275" cy="534098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5FD88AF5-FF49-601B-6C20-EFCE84E20FC7}"/>
              </a:ext>
            </a:extLst>
          </p:cNvPr>
          <p:cNvSpPr/>
          <p:nvPr/>
        </p:nvSpPr>
        <p:spPr>
          <a:xfrm>
            <a:off x="-7152640" y="-211031"/>
            <a:ext cx="20522565" cy="10232390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BDBD359E-E630-1743-06CE-A7DDD2532D54}"/>
              </a:ext>
            </a:extLst>
          </p:cNvPr>
          <p:cNvSpPr/>
          <p:nvPr/>
        </p:nvSpPr>
        <p:spPr>
          <a:xfrm>
            <a:off x="0" y="1952835"/>
            <a:ext cx="10647949" cy="2952329"/>
          </a:xfrm>
          <a:custGeom>
            <a:avLst/>
            <a:gdLst>
              <a:gd name="connsiteX0" fmla="*/ 9181169 w 10647949"/>
              <a:gd name="connsiteY0" fmla="*/ 0 h 2952329"/>
              <a:gd name="connsiteX1" fmla="*/ 9181188 w 10647949"/>
              <a:gd name="connsiteY1" fmla="*/ 1 h 2952329"/>
              <a:gd name="connsiteX2" fmla="*/ 9223648 w 10647949"/>
              <a:gd name="connsiteY2" fmla="*/ 1 h 2952329"/>
              <a:gd name="connsiteX3" fmla="*/ 9223648 w 10647949"/>
              <a:gd name="connsiteY3" fmla="*/ 2159 h 2952329"/>
              <a:gd name="connsiteX4" fmla="*/ 9331139 w 10647949"/>
              <a:gd name="connsiteY4" fmla="*/ 7621 h 2952329"/>
              <a:gd name="connsiteX5" fmla="*/ 10647949 w 10647949"/>
              <a:gd name="connsiteY5" fmla="*/ 1476164 h 2952329"/>
              <a:gd name="connsiteX6" fmla="*/ 9331139 w 10647949"/>
              <a:gd name="connsiteY6" fmla="*/ 2944707 h 2952329"/>
              <a:gd name="connsiteX7" fmla="*/ 9223648 w 10647949"/>
              <a:gd name="connsiteY7" fmla="*/ 2950170 h 2952329"/>
              <a:gd name="connsiteX8" fmla="*/ 9223648 w 10647949"/>
              <a:gd name="connsiteY8" fmla="*/ 2952329 h 2952329"/>
              <a:gd name="connsiteX9" fmla="*/ 0 w 10647949"/>
              <a:gd name="connsiteY9" fmla="*/ 2952329 h 2952329"/>
              <a:gd name="connsiteX10" fmla="*/ 0 w 10647949"/>
              <a:gd name="connsiteY10" fmla="*/ 1 h 2952329"/>
              <a:gd name="connsiteX11" fmla="*/ 9181150 w 10647949"/>
              <a:gd name="connsiteY11" fmla="*/ 1 h 2952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647949" h="2952329">
                <a:moveTo>
                  <a:pt x="9181169" y="0"/>
                </a:moveTo>
                <a:lnTo>
                  <a:pt x="9181188" y="1"/>
                </a:lnTo>
                <a:lnTo>
                  <a:pt x="9223648" y="1"/>
                </a:lnTo>
                <a:lnTo>
                  <a:pt x="9223648" y="2159"/>
                </a:lnTo>
                <a:lnTo>
                  <a:pt x="9331139" y="7621"/>
                </a:lnTo>
                <a:cubicBezTo>
                  <a:pt x="10070771" y="83216"/>
                  <a:pt x="10647949" y="711855"/>
                  <a:pt x="10647949" y="1476164"/>
                </a:cubicBezTo>
                <a:cubicBezTo>
                  <a:pt x="10647949" y="2240473"/>
                  <a:pt x="10070771" y="2869113"/>
                  <a:pt x="9331139" y="2944707"/>
                </a:cubicBezTo>
                <a:lnTo>
                  <a:pt x="9223648" y="2950170"/>
                </a:lnTo>
                <a:lnTo>
                  <a:pt x="9223648" y="2952329"/>
                </a:lnTo>
                <a:lnTo>
                  <a:pt x="0" y="2952329"/>
                </a:lnTo>
                <a:lnTo>
                  <a:pt x="0" y="1"/>
                </a:lnTo>
                <a:lnTo>
                  <a:pt x="9181150" y="1"/>
                </a:lnTo>
                <a:close/>
              </a:path>
            </a:pathLst>
          </a:custGeom>
          <a:solidFill>
            <a:srgbClr val="7E0C6E"/>
          </a:solidFill>
          <a:ln>
            <a:solidFill>
              <a:srgbClr val="7E0C6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314285D1-7CB9-746E-5DB0-CB2922D4B973}"/>
              </a:ext>
            </a:extLst>
          </p:cNvPr>
          <p:cNvGrpSpPr/>
          <p:nvPr/>
        </p:nvGrpSpPr>
        <p:grpSpPr>
          <a:xfrm>
            <a:off x="7612481" y="2061490"/>
            <a:ext cx="3168995" cy="2664296"/>
            <a:chOff x="5878074" y="2244876"/>
            <a:chExt cx="2826401" cy="2376264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C9B45023-2A95-2F4A-7EEC-A3DFC95EE6C1}"/>
                </a:ext>
              </a:extLst>
            </p:cNvPr>
            <p:cNvSpPr/>
            <p:nvPr/>
          </p:nvSpPr>
          <p:spPr>
            <a:xfrm>
              <a:off x="6103143" y="2244876"/>
              <a:ext cx="2376264" cy="2376264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9" name="TextBox 21">
              <a:extLst>
                <a:ext uri="{FF2B5EF4-FFF2-40B4-BE49-F238E27FC236}">
                  <a16:creationId xmlns:a16="http://schemas.microsoft.com/office/drawing/2014/main" id="{F1E70BC4-3F3F-BF98-3F3C-8480D92FDF13}"/>
                </a:ext>
              </a:extLst>
            </p:cNvPr>
            <p:cNvSpPr txBox="1"/>
            <p:nvPr/>
          </p:nvSpPr>
          <p:spPr>
            <a:xfrm>
              <a:off x="5878074" y="2743319"/>
              <a:ext cx="2826401" cy="1379379"/>
            </a:xfrm>
            <a:prstGeom prst="rect">
              <a:avLst/>
            </a:prstGeom>
            <a:noFill/>
          </p:spPr>
          <p:txBody>
            <a:bodyPr wrap="square" lIns="68580" tIns="34290" rIns="68580" bIns="34290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600" b="1" i="0" u="none" strike="noStrike" kern="1200" cap="none" spc="0" normalizeH="0" baseline="0" noProof="0" dirty="0">
                  <a:ln>
                    <a:noFill/>
                  </a:ln>
                  <a:solidFill>
                    <a:srgbClr val="750909"/>
                  </a:solidFill>
                  <a:effectLst/>
                  <a:uLnTx/>
                  <a:uFillTx/>
                  <a:latin typeface="AvantGarde Md BT" pitchFamily="34" charset="0"/>
                  <a:ea typeface="微软雅黑" panose="020B0503020204020204" pitchFamily="34" charset="-122"/>
                  <a:cs typeface="+mn-cs"/>
                </a:rPr>
                <a:t>05</a:t>
              </a:r>
            </a:p>
          </p:txBody>
        </p:sp>
      </p:grpSp>
      <p:sp>
        <p:nvSpPr>
          <p:cNvPr id="11" name="TextBox 4">
            <a:extLst>
              <a:ext uri="{FF2B5EF4-FFF2-40B4-BE49-F238E27FC236}">
                <a16:creationId xmlns:a16="http://schemas.microsoft.com/office/drawing/2014/main" id="{394B7F24-670F-AAB2-BF63-81FEC8493096}"/>
              </a:ext>
            </a:extLst>
          </p:cNvPr>
          <p:cNvSpPr txBox="1"/>
          <p:nvPr/>
        </p:nvSpPr>
        <p:spPr>
          <a:xfrm>
            <a:off x="2330019" y="2805015"/>
            <a:ext cx="4151265" cy="1177245"/>
          </a:xfrm>
          <a:prstGeom prst="rect">
            <a:avLst/>
          </a:prstGeom>
          <a:noFill/>
        </p:spPr>
        <p:txBody>
          <a:bodyPr wrap="none" lIns="68580" tIns="34290" rIns="68580" bIns="3429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antGarde Md BT" pitchFamily="34" charset="0"/>
                <a:ea typeface="微软雅黑" panose="020B0503020204020204" pitchFamily="34" charset="-122"/>
                <a:cs typeface="+mn-cs"/>
              </a:rPr>
              <a:t>Evaluation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C9B3FB9-9E3B-D720-D5D7-238E29975894}"/>
              </a:ext>
            </a:extLst>
          </p:cNvPr>
          <p:cNvSpPr txBox="1"/>
          <p:nvPr/>
        </p:nvSpPr>
        <p:spPr>
          <a:xfrm>
            <a:off x="104140" y="6316345"/>
            <a:ext cx="310832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7E0C6E"/>
                </a:solidFill>
                <a:effectLst/>
                <a:uLnTx/>
                <a:uFillTx/>
                <a:latin typeface="华文行楷" panose="02010800040101010101" pitchFamily="2" charset="-122"/>
                <a:ea typeface="华文行楷" panose="02010800040101010101" pitchFamily="2" charset="-122"/>
                <a:cs typeface="+mn-cs"/>
              </a:rPr>
              <a:t>允公允能 日新月异</a:t>
            </a:r>
          </a:p>
        </p:txBody>
      </p:sp>
      <p:pic>
        <p:nvPicPr>
          <p:cNvPr id="12" name="图片 11" descr="D:\360MoveData\Users\xiaoxiao\Desktop\微信图片_20230609200656.png微信图片_20230609200656">
            <a:extLst>
              <a:ext uri="{FF2B5EF4-FFF2-40B4-BE49-F238E27FC236}">
                <a16:creationId xmlns:a16="http://schemas.microsoft.com/office/drawing/2014/main" id="{CC313482-4BDA-6D77-5153-CBF32D861B2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580438" y="99235"/>
            <a:ext cx="3269615" cy="1199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336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FF30B-494D-AA6D-613E-69714F807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南开大学·校训">
            <a:extLst>
              <a:ext uri="{FF2B5EF4-FFF2-40B4-BE49-F238E27FC236}">
                <a16:creationId xmlns:a16="http://schemas.microsoft.com/office/drawing/2014/main" id="{AC74DB54-1757-8033-3344-54A33082FF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3168" y="6541075"/>
            <a:ext cx="2188832" cy="316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组合 3">
            <a:extLst>
              <a:ext uri="{FF2B5EF4-FFF2-40B4-BE49-F238E27FC236}">
                <a16:creationId xmlns:a16="http://schemas.microsoft.com/office/drawing/2014/main" id="{74517FA7-9B67-B8A6-766C-C2485E48570F}"/>
              </a:ext>
            </a:extLst>
          </p:cNvPr>
          <p:cNvGrpSpPr/>
          <p:nvPr/>
        </p:nvGrpSpPr>
        <p:grpSpPr>
          <a:xfrm>
            <a:off x="2216228" y="269008"/>
            <a:ext cx="6372708" cy="682262"/>
            <a:chOff x="299356" y="260648"/>
            <a:chExt cx="6372708" cy="682262"/>
          </a:xfrm>
        </p:grpSpPr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B115FD6E-31E7-C482-AF39-D414E44EF9DD}"/>
                </a:ext>
              </a:extLst>
            </p:cNvPr>
            <p:cNvGrpSpPr/>
            <p:nvPr/>
          </p:nvGrpSpPr>
          <p:grpSpPr>
            <a:xfrm>
              <a:off x="299356" y="260648"/>
              <a:ext cx="684076" cy="682262"/>
              <a:chOff x="637139" y="467280"/>
              <a:chExt cx="684076" cy="682262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60AE049E-85FD-6B7D-22D5-3CE2B82121A2}"/>
                  </a:ext>
                </a:extLst>
              </p:cNvPr>
              <p:cNvSpPr/>
              <p:nvPr/>
            </p:nvSpPr>
            <p:spPr>
              <a:xfrm>
                <a:off x="637139" y="467280"/>
                <a:ext cx="432048" cy="432048"/>
              </a:xfrm>
              <a:prstGeom prst="rect">
                <a:avLst/>
              </a:prstGeom>
              <a:solidFill>
                <a:srgbClr val="7E0C6E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DEAFBB3F-3D80-4749-E07D-4A4B2F2CA3A7}"/>
                  </a:ext>
                </a:extLst>
              </p:cNvPr>
              <p:cNvSpPr/>
              <p:nvPr/>
            </p:nvSpPr>
            <p:spPr>
              <a:xfrm>
                <a:off x="817159" y="645486"/>
                <a:ext cx="504056" cy="504056"/>
              </a:xfrm>
              <a:prstGeom prst="rect">
                <a:avLst/>
              </a:prstGeom>
              <a:solidFill>
                <a:srgbClr val="7E0C6E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83325B66-52D6-A739-2CB4-A487A92F42D2}"/>
                </a:ext>
              </a:extLst>
            </p:cNvPr>
            <p:cNvCxnSpPr/>
            <p:nvPr/>
          </p:nvCxnSpPr>
          <p:spPr>
            <a:xfrm>
              <a:off x="1055440" y="899328"/>
              <a:ext cx="5616624" cy="0"/>
            </a:xfrm>
            <a:prstGeom prst="line">
              <a:avLst/>
            </a:prstGeom>
            <a:ln w="28575">
              <a:solidFill>
                <a:srgbClr val="7E0C6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36">
              <a:extLst>
                <a:ext uri="{FF2B5EF4-FFF2-40B4-BE49-F238E27FC236}">
                  <a16:creationId xmlns:a16="http://schemas.microsoft.com/office/drawing/2014/main" id="{6796164C-1800-ED0F-27B7-81A1411C6A7C}"/>
                </a:ext>
              </a:extLst>
            </p:cNvPr>
            <p:cNvSpPr txBox="1"/>
            <p:nvPr/>
          </p:nvSpPr>
          <p:spPr>
            <a:xfrm>
              <a:off x="1163452" y="260648"/>
              <a:ext cx="3424079" cy="500137"/>
            </a:xfrm>
            <a:prstGeom prst="rect">
              <a:avLst/>
            </a:prstGeom>
            <a:noFill/>
          </p:spPr>
          <p:txBody>
            <a:bodyPr wrap="none" lIns="68580" tIns="34290" rIns="68580" bIns="34290" rtlCol="0">
              <a:spAutoFit/>
            </a:bodyPr>
            <a:lstStyle/>
            <a:p>
              <a:pPr lvl="0"/>
              <a:r>
                <a:rPr lang="en-US" altLang="zh-CN" sz="2800" b="1" dirty="0">
                  <a:solidFill>
                    <a:srgbClr val="7E0C6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Experiment Result</a:t>
              </a:r>
            </a:p>
          </p:txBody>
        </p:sp>
      </p:grpSp>
      <p:graphicFrame>
        <p:nvGraphicFramePr>
          <p:cNvPr id="10" name="table 482">
            <a:extLst>
              <a:ext uri="{FF2B5EF4-FFF2-40B4-BE49-F238E27FC236}">
                <a16:creationId xmlns:a16="http://schemas.microsoft.com/office/drawing/2014/main" id="{15048A00-F5CA-4C5D-2B5B-FEA02CDA9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4096039"/>
              </p:ext>
            </p:extLst>
          </p:nvPr>
        </p:nvGraphicFramePr>
        <p:xfrm>
          <a:off x="0" y="0"/>
          <a:ext cx="1963560" cy="6858000"/>
        </p:xfrm>
        <a:graphic>
          <a:graphicData uri="http://schemas.openxmlformats.org/drawingml/2006/table">
            <a:tbl>
              <a:tblPr>
                <a:solidFill>
                  <a:srgbClr val="1F4E79"/>
                </a:solidFill>
              </a:tblPr>
              <a:tblGrid>
                <a:gridCol w="1963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858000">
                <a:tc>
                  <a:txBody>
                    <a:bodyPr/>
                    <a:lstStyle/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1000" b="0" kern="1200" spc="0" dirty="0">
                          <a:solidFill>
                            <a:srgbClr val="7030A0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</a:t>
                      </a: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1000" b="0" kern="1200" spc="0" dirty="0">
                          <a:solidFill>
                            <a:srgbClr val="7030A0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 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1. 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I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ntroduction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solidFill>
                          <a:srgbClr val="7030A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2. 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M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otivation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3. O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verview</a:t>
                      </a: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endParaRPr lang="en-US"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endParaRPr lang="en-US"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4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M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ethod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</a:t>
                      </a:r>
                      <a:r>
                        <a:rPr lang="en-US"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5</a:t>
                      </a:r>
                      <a:r>
                        <a:rPr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</a:t>
                      </a:r>
                      <a:r>
                        <a:rPr lang="en-US"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E</a:t>
                      </a:r>
                      <a:r>
                        <a:rPr lang="en-US" altLang="zh-CN"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valuation</a:t>
                      </a:r>
                      <a:endParaRPr sz="2000" b="1" kern="0" spc="-30" dirty="0">
                        <a:solidFill>
                          <a:schemeClr val="bg1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7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18000"/>
                        </a:lnSpc>
                      </a:pPr>
                      <a:endParaRPr sz="3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6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 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C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onclusion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22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C17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11" name="图片 10">
            <a:extLst>
              <a:ext uri="{FF2B5EF4-FFF2-40B4-BE49-F238E27FC236}">
                <a16:creationId xmlns:a16="http://schemas.microsoft.com/office/drawing/2014/main" id="{3D552C32-1121-B3B3-06A4-DBCED755C9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2312" y="1237214"/>
            <a:ext cx="4543682" cy="2034818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B792B7C2-B0E2-38F9-BE0C-586CBB69C4FB}"/>
              </a:ext>
            </a:extLst>
          </p:cNvPr>
          <p:cNvSpPr txBox="1"/>
          <p:nvPr/>
        </p:nvSpPr>
        <p:spPr>
          <a:xfrm>
            <a:off x="7515994" y="1474618"/>
            <a:ext cx="459213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zh-CN" altLang="en-US" b="1" i="0" dirty="0">
                <a:solidFill>
                  <a:srgbClr val="000000"/>
                </a:solidFill>
                <a:effectLst/>
                <a:latin typeface="Inter"/>
              </a:rPr>
              <a:t>迁移停机时间几乎恒定，不随序列长度增长</a:t>
            </a:r>
            <a:r>
              <a:rPr lang="zh-CN" altLang="en-US" b="1" dirty="0">
                <a:solidFill>
                  <a:srgbClr val="000000"/>
                </a:solidFill>
                <a:latin typeface="Inter"/>
              </a:rPr>
              <a:t>；</a:t>
            </a:r>
            <a:r>
              <a:rPr lang="en-US" altLang="zh-CN" b="1" dirty="0">
                <a:solidFill>
                  <a:srgbClr val="000000"/>
                </a:solidFill>
                <a:latin typeface="Inter"/>
              </a:rPr>
              <a:t>Blocking copy</a:t>
            </a:r>
            <a:r>
              <a:rPr lang="zh-CN" altLang="en-US" b="1" dirty="0">
                <a:solidFill>
                  <a:srgbClr val="000000"/>
                </a:solidFill>
                <a:latin typeface="Inter"/>
              </a:rPr>
              <a:t>、</a:t>
            </a:r>
            <a:r>
              <a:rPr lang="en-US" altLang="zh-CN" b="1" dirty="0">
                <a:solidFill>
                  <a:srgbClr val="000000"/>
                </a:solidFill>
                <a:latin typeface="Inter"/>
              </a:rPr>
              <a:t>Recompute</a:t>
            </a:r>
            <a:r>
              <a:rPr lang="zh-CN" altLang="en-US" b="1" dirty="0">
                <a:solidFill>
                  <a:srgbClr val="000000"/>
                </a:solidFill>
                <a:latin typeface="Inter"/>
              </a:rPr>
              <a:t>策略的停机时间随序列长度激增</a:t>
            </a:r>
            <a:endParaRPr lang="zh-CN" altLang="en-US" b="1" i="0" dirty="0">
              <a:solidFill>
                <a:srgbClr val="000000"/>
              </a:solidFill>
              <a:effectLst/>
              <a:latin typeface="Inter"/>
            </a:endParaRPr>
          </a:p>
          <a:p>
            <a:pPr algn="l" rtl="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CN" b="1" i="0" dirty="0">
                <a:solidFill>
                  <a:srgbClr val="000000"/>
                </a:solidFill>
                <a:effectLst/>
                <a:latin typeface="Inter"/>
              </a:rPr>
              <a:t>2.</a:t>
            </a:r>
            <a:r>
              <a:rPr lang="zh-CN" altLang="en-US" b="1" i="0" dirty="0">
                <a:solidFill>
                  <a:srgbClr val="000000"/>
                </a:solidFill>
                <a:effectLst/>
                <a:latin typeface="Inter"/>
              </a:rPr>
              <a:t>迁移时与正常执行的解码延迟差异极小，体现迁移机制的低开销优势。</a:t>
            </a:r>
          </a:p>
          <a:p>
            <a:pPr>
              <a:buNone/>
            </a:pPr>
            <a:br>
              <a:rPr lang="zh-CN" altLang="en-US" b="0" i="0" dirty="0">
                <a:solidFill>
                  <a:srgbClr val="1F2329"/>
                </a:solidFill>
                <a:effectLst/>
                <a:latin typeface="ui-sans-serif"/>
              </a:rPr>
            </a:b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C2DE587-8758-B8DE-2B1A-68C5D105CF5F}"/>
              </a:ext>
            </a:extLst>
          </p:cNvPr>
          <p:cNvSpPr txBox="1"/>
          <p:nvPr/>
        </p:nvSpPr>
        <p:spPr>
          <a:xfrm>
            <a:off x="3076470" y="1003303"/>
            <a:ext cx="33266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7030A0"/>
                </a:solidFill>
              </a:rPr>
              <a:t>Migration Efficiency</a:t>
            </a:r>
            <a:endParaRPr lang="zh-CN" altLang="en-US" b="1" dirty="0">
              <a:solidFill>
                <a:srgbClr val="7030A0"/>
              </a:solidFill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FED88A5-F049-98DE-60D5-101158981DA2}"/>
              </a:ext>
            </a:extLst>
          </p:cNvPr>
          <p:cNvSpPr txBox="1"/>
          <p:nvPr/>
        </p:nvSpPr>
        <p:spPr>
          <a:xfrm>
            <a:off x="2720284" y="1003303"/>
            <a:ext cx="5040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7030A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●</a:t>
            </a:r>
            <a:endParaRPr lang="zh-CN" altLang="en-US" dirty="0"/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1B100667-7547-78FD-9086-537EC7951D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6470" y="3601557"/>
            <a:ext cx="8816698" cy="1382279"/>
          </a:xfrm>
          <a:prstGeom prst="rect">
            <a:avLst/>
          </a:prstGeom>
        </p:spPr>
      </p:pic>
      <p:sp>
        <p:nvSpPr>
          <p:cNvPr id="18" name="文本框 17">
            <a:extLst>
              <a:ext uri="{FF2B5EF4-FFF2-40B4-BE49-F238E27FC236}">
                <a16:creationId xmlns:a16="http://schemas.microsoft.com/office/drawing/2014/main" id="{4A2FDA50-6D84-2DA2-57BF-FA96E01B7221}"/>
              </a:ext>
            </a:extLst>
          </p:cNvPr>
          <p:cNvSpPr txBox="1"/>
          <p:nvPr/>
        </p:nvSpPr>
        <p:spPr>
          <a:xfrm>
            <a:off x="3076469" y="3416891"/>
            <a:ext cx="33266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7030A0"/>
                </a:solidFill>
              </a:rPr>
              <a:t>Main Result</a:t>
            </a:r>
            <a:endParaRPr lang="zh-CN" altLang="en-US" b="1" dirty="0">
              <a:solidFill>
                <a:srgbClr val="7030A0"/>
              </a:solidFill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00E73FA-1834-4AAB-3A8D-1AEFB0250BC6}"/>
              </a:ext>
            </a:extLst>
          </p:cNvPr>
          <p:cNvSpPr txBox="1"/>
          <p:nvPr/>
        </p:nvSpPr>
        <p:spPr>
          <a:xfrm>
            <a:off x="2722745" y="3432150"/>
            <a:ext cx="5040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7030A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●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8CCFC4E-FE84-779F-3799-37DE4510FFB6}"/>
              </a:ext>
            </a:extLst>
          </p:cNvPr>
          <p:cNvSpPr txBox="1"/>
          <p:nvPr/>
        </p:nvSpPr>
        <p:spPr>
          <a:xfrm>
            <a:off x="3121367" y="5251454"/>
            <a:ext cx="73727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effectLst/>
                <a:latin typeface="Inter"/>
              </a:rPr>
              <a:t>以上是</a:t>
            </a:r>
            <a:r>
              <a:rPr lang="zh-CN" altLang="en-US" b="1" i="0" dirty="0">
                <a:solidFill>
                  <a:srgbClr val="FF0000"/>
                </a:solidFill>
                <a:effectLst/>
                <a:latin typeface="Inter"/>
              </a:rPr>
              <a:t>请求端到端</a:t>
            </a:r>
            <a:r>
              <a:rPr lang="zh-CN" altLang="en-US" b="1" i="0" dirty="0">
                <a:effectLst/>
                <a:latin typeface="Inter"/>
              </a:rPr>
              <a:t>、</a:t>
            </a:r>
            <a:r>
              <a:rPr lang="zh-CN" altLang="en-US" b="1" i="0" dirty="0">
                <a:solidFill>
                  <a:schemeClr val="accent1">
                    <a:lumMod val="75000"/>
                  </a:schemeClr>
                </a:solidFill>
                <a:effectLst/>
                <a:latin typeface="Inter"/>
              </a:rPr>
              <a:t>预填充</a:t>
            </a:r>
            <a:r>
              <a:rPr lang="zh-CN" altLang="en-US" b="1" i="0" dirty="0">
                <a:effectLst/>
                <a:latin typeface="Inter"/>
              </a:rPr>
              <a:t>、</a:t>
            </a:r>
            <a:r>
              <a:rPr lang="zh-CN" altLang="en-US" b="1" i="0" dirty="0">
                <a:solidFill>
                  <a:schemeClr val="accent4"/>
                </a:solidFill>
                <a:effectLst/>
                <a:latin typeface="Inter"/>
              </a:rPr>
              <a:t>解码延迟</a:t>
            </a:r>
            <a:r>
              <a:rPr lang="zh-CN" altLang="en-US" b="1" i="0" dirty="0">
                <a:effectLst/>
                <a:latin typeface="Inter"/>
              </a:rPr>
              <a:t>及</a:t>
            </a:r>
            <a:r>
              <a:rPr lang="zh-CN" altLang="en-US" b="1" i="0" dirty="0">
                <a:solidFill>
                  <a:srgbClr val="00B050"/>
                </a:solidFill>
                <a:effectLst/>
                <a:latin typeface="Inter"/>
              </a:rPr>
              <a:t>抢占损失</a:t>
            </a:r>
            <a:r>
              <a:rPr lang="zh-CN" altLang="en-US" b="1" i="0" dirty="0">
                <a:effectLst/>
                <a:latin typeface="Inter"/>
              </a:rPr>
              <a:t>对比图，</a:t>
            </a:r>
            <a:endParaRPr lang="en-US" altLang="zh-CN" b="1" i="0" dirty="0">
              <a:effectLst/>
              <a:latin typeface="Inter"/>
            </a:endParaRPr>
          </a:p>
          <a:p>
            <a:r>
              <a:rPr lang="zh-CN" altLang="en-US" b="1" dirty="0"/>
              <a:t>预填充</a:t>
            </a:r>
            <a:r>
              <a:rPr lang="en-US" altLang="zh-CN" b="1" dirty="0"/>
              <a:t>Prefill Latency</a:t>
            </a:r>
            <a:r>
              <a:rPr lang="zh-CN" altLang="en-US" b="1" dirty="0"/>
              <a:t>显然有巨大优势，因为请求调度减少了排队延迟；</a:t>
            </a:r>
            <a:endParaRPr lang="en-US" altLang="zh-CN" b="1" dirty="0"/>
          </a:p>
          <a:p>
            <a:r>
              <a:rPr lang="zh-CN" altLang="en-US" b="1" dirty="0"/>
              <a:t>解码延迟也并没有因迁移出现剧增；</a:t>
            </a:r>
            <a:endParaRPr lang="en-US" altLang="zh-CN" b="1" dirty="0"/>
          </a:p>
          <a:p>
            <a:r>
              <a:rPr lang="zh-CN" altLang="en-US" b="1" i="0" dirty="0">
                <a:effectLst/>
                <a:latin typeface="Inter"/>
              </a:rPr>
              <a:t>突出了</a:t>
            </a:r>
            <a:r>
              <a:rPr lang="en-US" altLang="zh-CN" b="1" i="0" dirty="0">
                <a:effectLst/>
                <a:latin typeface="Inter"/>
              </a:rPr>
              <a:t>Llumnix</a:t>
            </a:r>
            <a:r>
              <a:rPr lang="zh-CN" altLang="en-US" b="1" i="0" dirty="0">
                <a:effectLst/>
                <a:latin typeface="Inter"/>
              </a:rPr>
              <a:t>在</a:t>
            </a:r>
            <a:r>
              <a:rPr lang="en-US" altLang="zh-CN" b="1" i="0" dirty="0">
                <a:effectLst/>
                <a:latin typeface="Inter"/>
              </a:rPr>
              <a:t>LLM</a:t>
            </a:r>
            <a:r>
              <a:rPr lang="zh-CN" altLang="en-US" b="1" i="0" dirty="0">
                <a:effectLst/>
                <a:latin typeface="Inter"/>
              </a:rPr>
              <a:t>推理服务上的优势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33781511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DF65E-496E-1580-7FE0-E519F83DB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D:\360MoveData\Users\xiaoxiao\Desktop\logo2.pnglogo2">
            <a:extLst>
              <a:ext uri="{FF2B5EF4-FFF2-40B4-BE49-F238E27FC236}">
                <a16:creationId xmlns:a16="http://schemas.microsoft.com/office/drawing/2014/main" id="{4E7FC07C-3A06-F349-C0D5-2AE97FA647A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>
          <a:xfrm>
            <a:off x="7439661" y="2687003"/>
            <a:ext cx="5551170" cy="5515610"/>
          </a:xfrm>
          <a:prstGeom prst="rect">
            <a:avLst/>
          </a:prstGeom>
        </p:spPr>
      </p:pic>
      <p:pic>
        <p:nvPicPr>
          <p:cNvPr id="3" name="图片 2" descr="D:\360MoveData\Users\xiaoxiao\Desktop\logo2.pnglogo2">
            <a:extLst>
              <a:ext uri="{FF2B5EF4-FFF2-40B4-BE49-F238E27FC236}">
                <a16:creationId xmlns:a16="http://schemas.microsoft.com/office/drawing/2014/main" id="{F3398D08-65E7-A89D-E547-7E1917113F3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>
          <a:xfrm>
            <a:off x="-1129347" y="-918527"/>
            <a:ext cx="5375275" cy="534098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A6995F25-B252-34CB-158F-AC8B24E1F812}"/>
              </a:ext>
            </a:extLst>
          </p:cNvPr>
          <p:cNvSpPr/>
          <p:nvPr/>
        </p:nvSpPr>
        <p:spPr>
          <a:xfrm>
            <a:off x="-7152640" y="-211031"/>
            <a:ext cx="20522565" cy="10232390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60431B5E-BFC7-5503-10D9-3DFE854FC2CB}"/>
              </a:ext>
            </a:extLst>
          </p:cNvPr>
          <p:cNvSpPr/>
          <p:nvPr/>
        </p:nvSpPr>
        <p:spPr>
          <a:xfrm>
            <a:off x="0" y="1952835"/>
            <a:ext cx="10647949" cy="2952329"/>
          </a:xfrm>
          <a:custGeom>
            <a:avLst/>
            <a:gdLst>
              <a:gd name="connsiteX0" fmla="*/ 9181169 w 10647949"/>
              <a:gd name="connsiteY0" fmla="*/ 0 h 2952329"/>
              <a:gd name="connsiteX1" fmla="*/ 9181188 w 10647949"/>
              <a:gd name="connsiteY1" fmla="*/ 1 h 2952329"/>
              <a:gd name="connsiteX2" fmla="*/ 9223648 w 10647949"/>
              <a:gd name="connsiteY2" fmla="*/ 1 h 2952329"/>
              <a:gd name="connsiteX3" fmla="*/ 9223648 w 10647949"/>
              <a:gd name="connsiteY3" fmla="*/ 2159 h 2952329"/>
              <a:gd name="connsiteX4" fmla="*/ 9331139 w 10647949"/>
              <a:gd name="connsiteY4" fmla="*/ 7621 h 2952329"/>
              <a:gd name="connsiteX5" fmla="*/ 10647949 w 10647949"/>
              <a:gd name="connsiteY5" fmla="*/ 1476164 h 2952329"/>
              <a:gd name="connsiteX6" fmla="*/ 9331139 w 10647949"/>
              <a:gd name="connsiteY6" fmla="*/ 2944707 h 2952329"/>
              <a:gd name="connsiteX7" fmla="*/ 9223648 w 10647949"/>
              <a:gd name="connsiteY7" fmla="*/ 2950170 h 2952329"/>
              <a:gd name="connsiteX8" fmla="*/ 9223648 w 10647949"/>
              <a:gd name="connsiteY8" fmla="*/ 2952329 h 2952329"/>
              <a:gd name="connsiteX9" fmla="*/ 0 w 10647949"/>
              <a:gd name="connsiteY9" fmla="*/ 2952329 h 2952329"/>
              <a:gd name="connsiteX10" fmla="*/ 0 w 10647949"/>
              <a:gd name="connsiteY10" fmla="*/ 1 h 2952329"/>
              <a:gd name="connsiteX11" fmla="*/ 9181150 w 10647949"/>
              <a:gd name="connsiteY11" fmla="*/ 1 h 2952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647949" h="2952329">
                <a:moveTo>
                  <a:pt x="9181169" y="0"/>
                </a:moveTo>
                <a:lnTo>
                  <a:pt x="9181188" y="1"/>
                </a:lnTo>
                <a:lnTo>
                  <a:pt x="9223648" y="1"/>
                </a:lnTo>
                <a:lnTo>
                  <a:pt x="9223648" y="2159"/>
                </a:lnTo>
                <a:lnTo>
                  <a:pt x="9331139" y="7621"/>
                </a:lnTo>
                <a:cubicBezTo>
                  <a:pt x="10070771" y="83216"/>
                  <a:pt x="10647949" y="711855"/>
                  <a:pt x="10647949" y="1476164"/>
                </a:cubicBezTo>
                <a:cubicBezTo>
                  <a:pt x="10647949" y="2240473"/>
                  <a:pt x="10070771" y="2869113"/>
                  <a:pt x="9331139" y="2944707"/>
                </a:cubicBezTo>
                <a:lnTo>
                  <a:pt x="9223648" y="2950170"/>
                </a:lnTo>
                <a:lnTo>
                  <a:pt x="9223648" y="2952329"/>
                </a:lnTo>
                <a:lnTo>
                  <a:pt x="0" y="2952329"/>
                </a:lnTo>
                <a:lnTo>
                  <a:pt x="0" y="1"/>
                </a:lnTo>
                <a:lnTo>
                  <a:pt x="9181150" y="1"/>
                </a:lnTo>
                <a:close/>
              </a:path>
            </a:pathLst>
          </a:custGeom>
          <a:solidFill>
            <a:srgbClr val="7E0C6E"/>
          </a:solidFill>
          <a:ln>
            <a:solidFill>
              <a:srgbClr val="7E0C6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4F853CDD-0B62-9CAF-E6A6-BF7EEC4B8D98}"/>
              </a:ext>
            </a:extLst>
          </p:cNvPr>
          <p:cNvGrpSpPr/>
          <p:nvPr/>
        </p:nvGrpSpPr>
        <p:grpSpPr>
          <a:xfrm>
            <a:off x="7612481" y="2061490"/>
            <a:ext cx="3168995" cy="2664296"/>
            <a:chOff x="5878074" y="2244876"/>
            <a:chExt cx="2826401" cy="2376264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7A600934-E0C9-410D-D223-DDD10F899FE6}"/>
                </a:ext>
              </a:extLst>
            </p:cNvPr>
            <p:cNvSpPr/>
            <p:nvPr/>
          </p:nvSpPr>
          <p:spPr>
            <a:xfrm>
              <a:off x="6103143" y="2244876"/>
              <a:ext cx="2376264" cy="2376264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9" name="TextBox 21">
              <a:extLst>
                <a:ext uri="{FF2B5EF4-FFF2-40B4-BE49-F238E27FC236}">
                  <a16:creationId xmlns:a16="http://schemas.microsoft.com/office/drawing/2014/main" id="{05E56BE2-BA94-3925-9265-B19D0A45F8E6}"/>
                </a:ext>
              </a:extLst>
            </p:cNvPr>
            <p:cNvSpPr txBox="1"/>
            <p:nvPr/>
          </p:nvSpPr>
          <p:spPr>
            <a:xfrm>
              <a:off x="5878074" y="2743319"/>
              <a:ext cx="2826401" cy="1379379"/>
            </a:xfrm>
            <a:prstGeom prst="rect">
              <a:avLst/>
            </a:prstGeom>
            <a:noFill/>
          </p:spPr>
          <p:txBody>
            <a:bodyPr wrap="square" lIns="68580" tIns="34290" rIns="68580" bIns="34290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600" b="1" i="0" u="none" strike="noStrike" kern="1200" cap="none" spc="0" normalizeH="0" baseline="0" noProof="0" dirty="0">
                  <a:ln>
                    <a:noFill/>
                  </a:ln>
                  <a:solidFill>
                    <a:srgbClr val="750909"/>
                  </a:solidFill>
                  <a:effectLst/>
                  <a:uLnTx/>
                  <a:uFillTx/>
                  <a:latin typeface="AvantGarde Md BT" pitchFamily="34" charset="0"/>
                  <a:ea typeface="微软雅黑" panose="020B0503020204020204" pitchFamily="34" charset="-122"/>
                  <a:cs typeface="+mn-cs"/>
                </a:rPr>
                <a:t>06</a:t>
              </a:r>
            </a:p>
          </p:txBody>
        </p:sp>
      </p:grpSp>
      <p:sp>
        <p:nvSpPr>
          <p:cNvPr id="11" name="TextBox 4">
            <a:extLst>
              <a:ext uri="{FF2B5EF4-FFF2-40B4-BE49-F238E27FC236}">
                <a16:creationId xmlns:a16="http://schemas.microsoft.com/office/drawing/2014/main" id="{3DE3C4A4-8CAD-59A1-D153-ACA536ECF044}"/>
              </a:ext>
            </a:extLst>
          </p:cNvPr>
          <p:cNvSpPr txBox="1"/>
          <p:nvPr/>
        </p:nvSpPr>
        <p:spPr>
          <a:xfrm>
            <a:off x="2330019" y="2805015"/>
            <a:ext cx="4314323" cy="1177245"/>
          </a:xfrm>
          <a:prstGeom prst="rect">
            <a:avLst/>
          </a:prstGeom>
          <a:noFill/>
        </p:spPr>
        <p:txBody>
          <a:bodyPr wrap="none" lIns="68580" tIns="34290" rIns="68580" bIns="3429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7200" b="1" dirty="0">
                <a:solidFill>
                  <a:prstClr val="white"/>
                </a:solidFill>
                <a:latin typeface="AvantGarde Md BT" pitchFamily="34" charset="0"/>
                <a:ea typeface="微软雅黑" panose="020B0503020204020204" pitchFamily="34" charset="-122"/>
              </a:rPr>
              <a:t>Conclusion</a:t>
            </a:r>
            <a:endParaRPr kumimoji="0" lang="en-US" altLang="zh-CN" sz="7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antGarde Md BT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0361D4C-A108-A40F-DB4D-DEA196A5E63C}"/>
              </a:ext>
            </a:extLst>
          </p:cNvPr>
          <p:cNvSpPr txBox="1"/>
          <p:nvPr/>
        </p:nvSpPr>
        <p:spPr>
          <a:xfrm>
            <a:off x="104140" y="6316345"/>
            <a:ext cx="310832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7E0C6E"/>
                </a:solidFill>
                <a:effectLst/>
                <a:uLnTx/>
                <a:uFillTx/>
                <a:latin typeface="华文行楷" panose="02010800040101010101" pitchFamily="2" charset="-122"/>
                <a:ea typeface="华文行楷" panose="02010800040101010101" pitchFamily="2" charset="-122"/>
                <a:cs typeface="+mn-cs"/>
              </a:rPr>
              <a:t>允公允能 日新月异</a:t>
            </a:r>
          </a:p>
        </p:txBody>
      </p:sp>
      <p:pic>
        <p:nvPicPr>
          <p:cNvPr id="12" name="图片 11" descr="D:\360MoveData\Users\xiaoxiao\Desktop\微信图片_20230609200656.png微信图片_20230609200656">
            <a:extLst>
              <a:ext uri="{FF2B5EF4-FFF2-40B4-BE49-F238E27FC236}">
                <a16:creationId xmlns:a16="http://schemas.microsoft.com/office/drawing/2014/main" id="{3958BA2A-AEF2-6295-719D-C23B13CB2EC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580438" y="99235"/>
            <a:ext cx="3269615" cy="1199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85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74791-7EB1-9EF5-75C2-6E48FE089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南开大学·校训">
            <a:extLst>
              <a:ext uri="{FF2B5EF4-FFF2-40B4-BE49-F238E27FC236}">
                <a16:creationId xmlns:a16="http://schemas.microsoft.com/office/drawing/2014/main" id="{0A9DA915-1BD1-06B2-88DF-815735387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3168" y="6541075"/>
            <a:ext cx="2188832" cy="316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组合 3">
            <a:extLst>
              <a:ext uri="{FF2B5EF4-FFF2-40B4-BE49-F238E27FC236}">
                <a16:creationId xmlns:a16="http://schemas.microsoft.com/office/drawing/2014/main" id="{AF1036F3-155B-9E9E-1904-62D3939C2176}"/>
              </a:ext>
            </a:extLst>
          </p:cNvPr>
          <p:cNvGrpSpPr/>
          <p:nvPr/>
        </p:nvGrpSpPr>
        <p:grpSpPr>
          <a:xfrm>
            <a:off x="2216228" y="269008"/>
            <a:ext cx="6372708" cy="682262"/>
            <a:chOff x="299356" y="260648"/>
            <a:chExt cx="6372708" cy="682262"/>
          </a:xfrm>
        </p:grpSpPr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90FF407C-6520-96EF-85F3-0393C2CB2C09}"/>
                </a:ext>
              </a:extLst>
            </p:cNvPr>
            <p:cNvGrpSpPr/>
            <p:nvPr/>
          </p:nvGrpSpPr>
          <p:grpSpPr>
            <a:xfrm>
              <a:off x="299356" y="260648"/>
              <a:ext cx="684076" cy="682262"/>
              <a:chOff x="637139" y="467280"/>
              <a:chExt cx="684076" cy="682262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011C45EB-6C5D-8AD8-DE32-5889820BDD6D}"/>
                  </a:ext>
                </a:extLst>
              </p:cNvPr>
              <p:cNvSpPr/>
              <p:nvPr/>
            </p:nvSpPr>
            <p:spPr>
              <a:xfrm>
                <a:off x="637139" y="467280"/>
                <a:ext cx="432048" cy="432048"/>
              </a:xfrm>
              <a:prstGeom prst="rect">
                <a:avLst/>
              </a:prstGeom>
              <a:solidFill>
                <a:srgbClr val="7E0C6E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BDDC26C4-E170-4ED8-D07A-9AD060964819}"/>
                  </a:ext>
                </a:extLst>
              </p:cNvPr>
              <p:cNvSpPr/>
              <p:nvPr/>
            </p:nvSpPr>
            <p:spPr>
              <a:xfrm>
                <a:off x="817159" y="645486"/>
                <a:ext cx="504056" cy="504056"/>
              </a:xfrm>
              <a:prstGeom prst="rect">
                <a:avLst/>
              </a:prstGeom>
              <a:solidFill>
                <a:srgbClr val="7E0C6E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6EA80FF8-27A3-8EC3-E267-D5DB81C54215}"/>
                </a:ext>
              </a:extLst>
            </p:cNvPr>
            <p:cNvCxnSpPr/>
            <p:nvPr/>
          </p:nvCxnSpPr>
          <p:spPr>
            <a:xfrm>
              <a:off x="1055440" y="899328"/>
              <a:ext cx="5616624" cy="0"/>
            </a:xfrm>
            <a:prstGeom prst="line">
              <a:avLst/>
            </a:prstGeom>
            <a:ln w="28575">
              <a:solidFill>
                <a:srgbClr val="7E0C6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36">
              <a:extLst>
                <a:ext uri="{FF2B5EF4-FFF2-40B4-BE49-F238E27FC236}">
                  <a16:creationId xmlns:a16="http://schemas.microsoft.com/office/drawing/2014/main" id="{96B5FB12-34D9-8787-5390-0D72F7EDC703}"/>
                </a:ext>
              </a:extLst>
            </p:cNvPr>
            <p:cNvSpPr txBox="1"/>
            <p:nvPr/>
          </p:nvSpPr>
          <p:spPr>
            <a:xfrm>
              <a:off x="1163452" y="260648"/>
              <a:ext cx="4979184" cy="500137"/>
            </a:xfrm>
            <a:prstGeom prst="rect">
              <a:avLst/>
            </a:prstGeom>
            <a:noFill/>
          </p:spPr>
          <p:txBody>
            <a:bodyPr wrap="none" lIns="68580" tIns="34290" rIns="68580" bIns="34290" rtlCol="0">
              <a:spAutoFit/>
            </a:bodyPr>
            <a:lstStyle/>
            <a:p>
              <a:pPr lvl="0"/>
              <a:r>
                <a:rPr lang="en-US" altLang="zh-CN" sz="2800" b="1" dirty="0">
                  <a:solidFill>
                    <a:srgbClr val="7E0C6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Contribution &amp; Conclusion</a:t>
              </a:r>
            </a:p>
          </p:txBody>
        </p:sp>
      </p:grpSp>
      <p:graphicFrame>
        <p:nvGraphicFramePr>
          <p:cNvPr id="10" name="table 482">
            <a:extLst>
              <a:ext uri="{FF2B5EF4-FFF2-40B4-BE49-F238E27FC236}">
                <a16:creationId xmlns:a16="http://schemas.microsoft.com/office/drawing/2014/main" id="{04A6A955-F93A-39D1-1906-AE25E8281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8204923"/>
              </p:ext>
            </p:extLst>
          </p:nvPr>
        </p:nvGraphicFramePr>
        <p:xfrm>
          <a:off x="0" y="0"/>
          <a:ext cx="1963560" cy="6858000"/>
        </p:xfrm>
        <a:graphic>
          <a:graphicData uri="http://schemas.openxmlformats.org/drawingml/2006/table">
            <a:tbl>
              <a:tblPr>
                <a:solidFill>
                  <a:srgbClr val="1F4E79"/>
                </a:solidFill>
              </a:tblPr>
              <a:tblGrid>
                <a:gridCol w="1963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858000">
                <a:tc>
                  <a:txBody>
                    <a:bodyPr/>
                    <a:lstStyle/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0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1000" b="0" kern="1200" spc="0" dirty="0">
                          <a:solidFill>
                            <a:srgbClr val="7030A0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</a:t>
                      </a: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1000" b="0" kern="1200" spc="0" dirty="0">
                          <a:solidFill>
                            <a:srgbClr val="7030A0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 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1. 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I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ntroduction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solidFill>
                          <a:srgbClr val="7030A0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2. 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M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otivation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3. O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verview</a:t>
                      </a: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endParaRPr lang="en-US"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endParaRPr lang="en-US"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4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M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ethod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5</a:t>
                      </a:r>
                      <a:r>
                        <a:rPr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</a:t>
                      </a: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E</a:t>
                      </a:r>
                      <a:r>
                        <a:rPr lang="en-US" altLang="zh-CN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valuation</a:t>
                      </a:r>
                      <a:endParaRPr sz="2000" b="1" kern="0" spc="-30" dirty="0">
                        <a:solidFill>
                          <a:schemeClr val="bg2">
                            <a:lumMod val="90000"/>
                          </a:scheme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lang="en-US"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6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37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18000"/>
                        </a:lnSpc>
                      </a:pPr>
                      <a:endParaRPr sz="3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40640" algn="l" defTabSz="914400" rtl="0" eaLnBrk="0" latinLnBrk="0" hangingPunct="1">
                        <a:lnSpc>
                          <a:spcPct val="81000"/>
                        </a:lnSpc>
                        <a:spcBef>
                          <a:spcPts val="430"/>
                        </a:spcBef>
                      </a:pPr>
                      <a:r>
                        <a:rPr lang="en-US" sz="2000" b="1" kern="0" spc="-30" dirty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</a:t>
                      </a:r>
                      <a:r>
                        <a:rPr lang="en-US"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6</a:t>
                      </a:r>
                      <a:r>
                        <a:rPr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. </a:t>
                      </a:r>
                      <a:r>
                        <a:rPr lang="en-US"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C</a:t>
                      </a:r>
                      <a:r>
                        <a:rPr lang="en-US" altLang="zh-CN" sz="2000" b="1" kern="0" spc="-30" dirty="0">
                          <a:solidFill>
                            <a:schemeClr val="bg1"/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onclusion</a:t>
                      </a:r>
                      <a:endParaRPr sz="2000" b="1" kern="0" spc="-30" dirty="0">
                        <a:solidFill>
                          <a:schemeClr val="bg1"/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22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C17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5C3680A8-33B9-07E1-A90E-660F2851DBEE}"/>
              </a:ext>
            </a:extLst>
          </p:cNvPr>
          <p:cNvSpPr txBox="1"/>
          <p:nvPr/>
        </p:nvSpPr>
        <p:spPr>
          <a:xfrm>
            <a:off x="2824856" y="1020541"/>
            <a:ext cx="33266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solidFill>
                  <a:srgbClr val="7030A0"/>
                </a:solidFill>
              </a:rPr>
              <a:t>Contribution</a:t>
            </a:r>
            <a:endParaRPr lang="zh-CN" altLang="en-US" sz="2400" b="1" dirty="0">
              <a:solidFill>
                <a:srgbClr val="7030A0"/>
              </a:solidFill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B001285-A823-5DE7-158B-D4984C724A1D}"/>
              </a:ext>
            </a:extLst>
          </p:cNvPr>
          <p:cNvSpPr txBox="1"/>
          <p:nvPr/>
        </p:nvSpPr>
        <p:spPr>
          <a:xfrm>
            <a:off x="3080324" y="1507897"/>
            <a:ext cx="756476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rgbClr val="000000"/>
                </a:solidFill>
                <a:latin typeface="Inter"/>
              </a:rPr>
              <a:t>指明了</a:t>
            </a:r>
            <a:r>
              <a:rPr lang="en-US" altLang="zh-CN" b="1" dirty="0">
                <a:solidFill>
                  <a:srgbClr val="000000"/>
                </a:solidFill>
                <a:latin typeface="Inter"/>
              </a:rPr>
              <a:t>LLM</a:t>
            </a:r>
            <a:r>
              <a:rPr lang="zh-CN" altLang="en-US" b="1" dirty="0">
                <a:solidFill>
                  <a:srgbClr val="000000"/>
                </a:solidFill>
                <a:latin typeface="Inter"/>
              </a:rPr>
              <a:t>服务的调度目标，即</a:t>
            </a:r>
            <a:r>
              <a:rPr lang="en-US" altLang="zh-CN" b="1" dirty="0">
                <a:solidFill>
                  <a:srgbClr val="FF0000"/>
                </a:solidFill>
                <a:latin typeface="Inter"/>
              </a:rPr>
              <a:t>isolation, de-fragmentation, and priorities</a:t>
            </a:r>
            <a:r>
              <a:rPr lang="zh-CN" altLang="en-US" b="1" dirty="0">
                <a:solidFill>
                  <a:srgbClr val="000000"/>
                </a:solidFill>
                <a:latin typeface="Inter"/>
              </a:rPr>
              <a:t>；</a:t>
            </a:r>
            <a:endParaRPr lang="en-US" altLang="zh-CN" b="1" dirty="0">
              <a:solidFill>
                <a:srgbClr val="000000"/>
              </a:solidFill>
              <a:latin typeface="Inter"/>
            </a:endParaRPr>
          </a:p>
          <a:p>
            <a:endParaRPr lang="en-US" altLang="zh-CN" b="1" dirty="0">
              <a:solidFill>
                <a:srgbClr val="000000"/>
              </a:solidFill>
              <a:latin typeface="Inter"/>
            </a:endParaRPr>
          </a:p>
          <a:p>
            <a:r>
              <a:rPr lang="zh-CN" altLang="en-US" b="1" dirty="0">
                <a:solidFill>
                  <a:srgbClr val="000000"/>
                </a:solidFill>
                <a:latin typeface="Inter"/>
              </a:rPr>
              <a:t>提出使用</a:t>
            </a:r>
            <a:r>
              <a:rPr lang="en-US" altLang="zh-CN" b="1" dirty="0">
                <a:solidFill>
                  <a:srgbClr val="000000"/>
                </a:solidFill>
                <a:latin typeface="Inter"/>
              </a:rPr>
              <a:t>GPU</a:t>
            </a:r>
            <a:r>
              <a:rPr lang="zh-CN" altLang="en-US" b="1" dirty="0">
                <a:solidFill>
                  <a:srgbClr val="000000"/>
                </a:solidFill>
                <a:latin typeface="Inter"/>
              </a:rPr>
              <a:t>内存状态迁移机制来指导请求</a:t>
            </a:r>
            <a:r>
              <a:rPr lang="zh-CN" altLang="en-US" b="1" dirty="0">
                <a:solidFill>
                  <a:srgbClr val="FF0000"/>
                </a:solidFill>
                <a:latin typeface="Inter"/>
              </a:rPr>
              <a:t>重调度</a:t>
            </a:r>
            <a:r>
              <a:rPr lang="zh-CN" altLang="en-US" b="1" dirty="0">
                <a:solidFill>
                  <a:srgbClr val="000000"/>
                </a:solidFill>
                <a:latin typeface="Inter"/>
              </a:rPr>
              <a:t>；</a:t>
            </a:r>
            <a:endParaRPr lang="en-US" altLang="zh-CN" b="1" dirty="0">
              <a:solidFill>
                <a:srgbClr val="000000"/>
              </a:solidFill>
              <a:latin typeface="Inter"/>
            </a:endParaRPr>
          </a:p>
          <a:p>
            <a:endParaRPr lang="en-US" altLang="zh-CN" b="1" dirty="0">
              <a:solidFill>
                <a:srgbClr val="000000"/>
              </a:solidFill>
              <a:latin typeface="Inter"/>
            </a:endParaRPr>
          </a:p>
          <a:p>
            <a:r>
              <a:rPr lang="zh-CN" altLang="en-US" b="1" dirty="0">
                <a:solidFill>
                  <a:srgbClr val="000000"/>
                </a:solidFill>
                <a:latin typeface="Inter"/>
              </a:rPr>
              <a:t>设计</a:t>
            </a:r>
            <a:r>
              <a:rPr lang="zh-CN" altLang="en-US" b="1" dirty="0">
                <a:solidFill>
                  <a:srgbClr val="FF0000"/>
                </a:solidFill>
                <a:latin typeface="Inter"/>
              </a:rPr>
              <a:t>分布式调度结构</a:t>
            </a:r>
            <a:r>
              <a:rPr lang="zh-CN" altLang="en-US" b="1" dirty="0">
                <a:solidFill>
                  <a:srgbClr val="000000"/>
                </a:solidFill>
                <a:latin typeface="Inter"/>
              </a:rPr>
              <a:t>和</a:t>
            </a:r>
            <a:r>
              <a:rPr lang="zh-CN" altLang="en-US" b="1" dirty="0">
                <a:solidFill>
                  <a:srgbClr val="FF0000"/>
                </a:solidFill>
                <a:latin typeface="Inter"/>
              </a:rPr>
              <a:t>调度策略</a:t>
            </a:r>
            <a:r>
              <a:rPr lang="zh-CN" altLang="en-US" b="1" dirty="0">
                <a:solidFill>
                  <a:srgbClr val="000000"/>
                </a:solidFill>
                <a:latin typeface="Inter"/>
              </a:rPr>
              <a:t>，利用</a:t>
            </a:r>
            <a:r>
              <a:rPr lang="zh-CN" altLang="en-US" b="1" dirty="0">
                <a:solidFill>
                  <a:srgbClr val="FF0000"/>
                </a:solidFill>
                <a:latin typeface="Inter"/>
              </a:rPr>
              <a:t>请求迁移</a:t>
            </a:r>
            <a:r>
              <a:rPr lang="zh-CN" altLang="en-US" b="1" dirty="0">
                <a:solidFill>
                  <a:srgbClr val="000000"/>
                </a:solidFill>
                <a:latin typeface="Inter"/>
              </a:rPr>
              <a:t>来实现目标；</a:t>
            </a:r>
            <a:endParaRPr lang="en-US" altLang="zh-CN" b="1" dirty="0">
              <a:solidFill>
                <a:srgbClr val="000000"/>
              </a:solidFill>
              <a:latin typeface="Inter"/>
            </a:endParaRPr>
          </a:p>
          <a:p>
            <a:endParaRPr lang="en-US" altLang="zh-CN" b="1" dirty="0">
              <a:solidFill>
                <a:srgbClr val="000000"/>
              </a:solidFill>
              <a:latin typeface="Inter"/>
            </a:endParaRPr>
          </a:p>
          <a:p>
            <a:r>
              <a:rPr lang="zh-CN" altLang="en-US" b="1" dirty="0">
                <a:solidFill>
                  <a:srgbClr val="000000"/>
                </a:solidFill>
                <a:latin typeface="Inter"/>
              </a:rPr>
              <a:t>实现并评估了</a:t>
            </a:r>
            <a:r>
              <a:rPr lang="en-US" altLang="zh-CN" b="1" dirty="0">
                <a:solidFill>
                  <a:srgbClr val="FF0000"/>
                </a:solidFill>
                <a:latin typeface="Inter"/>
              </a:rPr>
              <a:t>Llumnix</a:t>
            </a:r>
            <a:r>
              <a:rPr lang="zh-CN" altLang="en-US" b="1" dirty="0">
                <a:solidFill>
                  <a:srgbClr val="000000"/>
                </a:solidFill>
                <a:latin typeface="Inter"/>
              </a:rPr>
              <a:t>，展现出了最先进的性能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CCBD001-836B-B56B-D79E-33A76B5B2F37}"/>
              </a:ext>
            </a:extLst>
          </p:cNvPr>
          <p:cNvSpPr txBox="1"/>
          <p:nvPr/>
        </p:nvSpPr>
        <p:spPr>
          <a:xfrm>
            <a:off x="2821867" y="1482206"/>
            <a:ext cx="5040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7030A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●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EF6C4C3-EFA2-18E0-583A-BC6BF1AA31C0}"/>
              </a:ext>
            </a:extLst>
          </p:cNvPr>
          <p:cNvSpPr txBox="1"/>
          <p:nvPr/>
        </p:nvSpPr>
        <p:spPr>
          <a:xfrm>
            <a:off x="2821867" y="2044767"/>
            <a:ext cx="5040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7030A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●</a:t>
            </a:r>
            <a:endParaRPr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98CB822D-FA61-4038-36E7-586463226096}"/>
              </a:ext>
            </a:extLst>
          </p:cNvPr>
          <p:cNvSpPr txBox="1"/>
          <p:nvPr/>
        </p:nvSpPr>
        <p:spPr>
          <a:xfrm>
            <a:off x="2821867" y="2607328"/>
            <a:ext cx="5040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7030A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●</a:t>
            </a:r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79FF7AA-4D45-363A-CC84-1AB0A56F5670}"/>
              </a:ext>
            </a:extLst>
          </p:cNvPr>
          <p:cNvSpPr txBox="1"/>
          <p:nvPr/>
        </p:nvSpPr>
        <p:spPr>
          <a:xfrm>
            <a:off x="2821867" y="3169890"/>
            <a:ext cx="5040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7030A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●</a:t>
            </a:r>
            <a:endParaRPr lang="zh-CN" altLang="en-US" dirty="0"/>
          </a:p>
        </p:txBody>
      </p: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B382E9CC-D126-B7FD-CD46-BB9C88F6C6B5}"/>
              </a:ext>
            </a:extLst>
          </p:cNvPr>
          <p:cNvGrpSpPr/>
          <p:nvPr/>
        </p:nvGrpSpPr>
        <p:grpSpPr>
          <a:xfrm>
            <a:off x="2821867" y="4068587"/>
            <a:ext cx="8035675" cy="1530333"/>
            <a:chOff x="2821867" y="4068587"/>
            <a:chExt cx="8035675" cy="1530333"/>
          </a:xfrm>
        </p:grpSpPr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AFF44AD4-1E46-8EB5-99B3-8C16F6403F91}"/>
                </a:ext>
              </a:extLst>
            </p:cNvPr>
            <p:cNvSpPr txBox="1"/>
            <p:nvPr/>
          </p:nvSpPr>
          <p:spPr>
            <a:xfrm>
              <a:off x="2821867" y="4649558"/>
              <a:ext cx="8035675" cy="94936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ts val="18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zh-CN" altLang="en-US" sz="2000" b="1" i="0" dirty="0">
                  <a:solidFill>
                    <a:srgbClr val="000000"/>
                  </a:solidFill>
                  <a:effectLst/>
                  <a:latin typeface="Inter"/>
                </a:rPr>
                <a:t>动态工作负载需要动态调度，大语言模型也不例外。</a:t>
              </a:r>
              <a:endParaRPr lang="en-US" altLang="zh-CN" sz="2000" b="1" i="0" dirty="0">
                <a:solidFill>
                  <a:srgbClr val="000000"/>
                </a:solidFill>
                <a:effectLst/>
                <a:latin typeface="Inter"/>
              </a:endParaRPr>
            </a:p>
            <a:p>
              <a:pPr algn="l">
                <a:lnSpc>
                  <a:spcPts val="18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zh-CN" altLang="en-US" sz="2000" b="1" i="0" dirty="0">
                  <a:solidFill>
                    <a:srgbClr val="000000"/>
                  </a:solidFill>
                  <a:effectLst/>
                  <a:latin typeface="Inter"/>
                </a:rPr>
                <a:t>本文的</a:t>
              </a:r>
              <a:r>
                <a:rPr lang="en-US" altLang="zh-CN" sz="2000" b="1" i="0" dirty="0">
                  <a:solidFill>
                    <a:srgbClr val="000000"/>
                  </a:solidFill>
                  <a:effectLst/>
                  <a:latin typeface="Inter"/>
                </a:rPr>
                <a:t>Llumnix </a:t>
              </a:r>
              <a:r>
                <a:rPr lang="zh-CN" altLang="en-US" sz="2000" b="1" i="0" dirty="0">
                  <a:solidFill>
                    <a:srgbClr val="000000"/>
                  </a:solidFill>
                  <a:effectLst/>
                  <a:latin typeface="Inter"/>
                </a:rPr>
                <a:t>借鉴了传统系统的经验，在当下最热门的场景下实现了创新性的突破。</a:t>
              </a:r>
              <a:endParaRPr lang="en-US" altLang="zh-CN" sz="2000" b="1" i="0" dirty="0">
                <a:solidFill>
                  <a:srgbClr val="000000"/>
                </a:solidFill>
                <a:effectLst/>
                <a:latin typeface="Inter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6225D159-3F7E-211C-EF7C-60DAC9006C41}"/>
                </a:ext>
              </a:extLst>
            </p:cNvPr>
            <p:cNvSpPr txBox="1"/>
            <p:nvPr/>
          </p:nvSpPr>
          <p:spPr>
            <a:xfrm>
              <a:off x="2821867" y="4068587"/>
              <a:ext cx="33266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400" b="1" dirty="0">
                  <a:solidFill>
                    <a:srgbClr val="7030A0"/>
                  </a:solidFill>
                </a:rPr>
                <a:t>Conclusion</a:t>
              </a:r>
              <a:endParaRPr lang="zh-CN" altLang="en-US" sz="2400" b="1" dirty="0">
                <a:solidFill>
                  <a:srgbClr val="7030A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6290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F12AF61F-08DC-A6D9-5551-EA0A504B8A37}"/>
              </a:ext>
            </a:extLst>
          </p:cNvPr>
          <p:cNvGraphicFramePr>
            <a:graphicFrameLocks noGrp="1"/>
          </p:cNvGraphicFramePr>
          <p:nvPr/>
        </p:nvGraphicFramePr>
        <p:xfrm>
          <a:off x="0" y="1963287"/>
          <a:ext cx="12192000" cy="1958201"/>
        </p:xfrm>
        <a:graphic>
          <a:graphicData uri="http://schemas.openxmlformats.org/drawingml/2006/table">
            <a:tbl>
              <a:tblPr>
                <a:solidFill>
                  <a:srgbClr val="1F4E79"/>
                </a:solidFill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58201">
                <a:tc>
                  <a:txBody>
                    <a:bodyPr/>
                    <a:lstStyle/>
                    <a:p>
                      <a:pPr algn="l" rtl="0" eaLnBrk="0">
                        <a:lnSpc>
                          <a:spcPct val="180000"/>
                        </a:lnSpc>
                      </a:pPr>
                      <a:r>
                        <a:rPr lang="en-US" sz="3900" b="1" kern="0" spc="-10" dirty="0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                           </a:t>
                      </a:r>
                      <a:r>
                        <a:rPr lang="en-US" sz="6600" b="1" kern="0" spc="-10" dirty="0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T</a:t>
                      </a:r>
                      <a:r>
                        <a:rPr lang="en-US" altLang="zh-CN" sz="6600" b="1" kern="0" spc="-10" dirty="0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hank You !</a:t>
                      </a:r>
                      <a:endParaRPr sz="6600" b="1" kern="0" spc="-10" dirty="0">
                        <a:solidFill>
                          <a:srgbClr val="FFFFFF">
                            <a:alpha val="100000"/>
                          </a:srgbClr>
                        </a:solidFill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22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22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C17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3" name="Picture 4" descr="南开大学·校训">
            <a:extLst>
              <a:ext uri="{FF2B5EF4-FFF2-40B4-BE49-F238E27FC236}">
                <a16:creationId xmlns:a16="http://schemas.microsoft.com/office/drawing/2014/main" id="{17A0F459-A22F-2508-6493-FEAD6F648B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3168" y="6541075"/>
            <a:ext cx="2188832" cy="316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南开大学_中外合作办学网">
            <a:extLst>
              <a:ext uri="{FF2B5EF4-FFF2-40B4-BE49-F238E27FC236}">
                <a16:creationId xmlns:a16="http://schemas.microsoft.com/office/drawing/2014/main" id="{A7536F0A-8B3A-D213-045F-0ED156C6A1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6698"/>
            <a:ext cx="2700242" cy="771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0751715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</TotalTime>
  <Words>1245</Words>
  <Application>Microsoft Office PowerPoint</Application>
  <PresentationFormat>宽屏</PresentationFormat>
  <Paragraphs>406</Paragraphs>
  <Slides>17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30" baseType="lpstr">
      <vt:lpstr>-apple-system</vt:lpstr>
      <vt:lpstr>AvantGarde Md BT</vt:lpstr>
      <vt:lpstr>Inter</vt:lpstr>
      <vt:lpstr>ui-sans-serif</vt:lpstr>
      <vt:lpstr>等线</vt:lpstr>
      <vt:lpstr>等线 Light</vt:lpstr>
      <vt:lpstr>黑体</vt:lpstr>
      <vt:lpstr>华文行楷</vt:lpstr>
      <vt:lpstr>宋体</vt:lpstr>
      <vt:lpstr>微软雅黑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轩麟 刘</dc:creator>
  <cp:lastModifiedBy>zi'heng</cp:lastModifiedBy>
  <cp:revision>7</cp:revision>
  <dcterms:created xsi:type="dcterms:W3CDTF">2025-12-03T07:50:29Z</dcterms:created>
  <dcterms:modified xsi:type="dcterms:W3CDTF">2026-06-03T07:16:26Z</dcterms:modified>
</cp:coreProperties>
</file>